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7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8.xml" ContentType="application/vnd.openxmlformats-officedocument.drawingml.chart+xml"/>
  <Override PartName="/ppt/charts/chart9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10.xml" ContentType="application/vnd.openxmlformats-officedocument.drawingml.chart+xml"/>
  <Override PartName="/ppt/charts/chart11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12.xml" ContentType="application/vnd.openxmlformats-officedocument.drawingml.chart+xml"/>
  <Override PartName="/ppt/charts/chart13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charts/chart14.xml" ContentType="application/vnd.openxmlformats-officedocument.drawingml.chart+xml"/>
  <Override PartName="/ppt/charts/chart15.xml" ContentType="application/vnd.openxmlformats-officedocument.drawingml.chart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charts/chart16.xml" ContentType="application/vnd.openxmlformats-officedocument.drawingml.chart+xml"/>
  <Override PartName="/ppt/charts/chart17.xml" ContentType="application/vnd.openxmlformats-officedocument.drawingml.chart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charts/chart18.xml" ContentType="application/vnd.openxmlformats-officedocument.drawingml.chart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charts/chart19.xml" ContentType="application/vnd.openxmlformats-officedocument.drawingml.chart+xml"/>
  <Override PartName="/ppt/charts/chart20.xml" ContentType="application/vnd.openxmlformats-officedocument.drawingml.chart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charts/chart21.xml" ContentType="application/vnd.openxmlformats-officedocument.drawingml.chart+xml"/>
  <Override PartName="/ppt/charts/chart22.xml" ContentType="application/vnd.openxmlformats-officedocument.drawingml.chart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charts/chart23.xml" ContentType="application/vnd.openxmlformats-officedocument.drawingml.chart+xml"/>
  <Override PartName="/ppt/charts/chart24.xml" ContentType="application/vnd.openxmlformats-officedocument.drawingml.chart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charts/chart25.xml" ContentType="application/vnd.openxmlformats-officedocument.drawingml.chart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charts/chart26.xml" ContentType="application/vnd.openxmlformats-officedocument.drawingml.chart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charts/chart27.xml" ContentType="application/vnd.openxmlformats-officedocument.drawingml.chart+xml"/>
  <Override PartName="/ppt/charts/chart28.xml" ContentType="application/vnd.openxmlformats-officedocument.drawingml.chart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7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_rels/chart8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8.xlsx"/></Relationships>
</file>

<file path=ppt/charts/_rels/chart9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9.xlsx"/></Relationships>
</file>

<file path=ppt/charts/_rels/chart10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0.xlsx"/></Relationships>
</file>

<file path=ppt/charts/_rels/chart1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1.xlsx"/></Relationships>
</file>

<file path=ppt/charts/_rels/chart1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2.xlsx"/></Relationships>
</file>

<file path=ppt/charts/_rels/chart1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3.xlsx"/></Relationships>
</file>

<file path=ppt/charts/_rels/chart1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4.xlsx"/></Relationships>
</file>

<file path=ppt/charts/_rels/chart1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5.xlsx"/></Relationships>
</file>

<file path=ppt/charts/_rels/chart1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6.xlsx"/></Relationships>
</file>

<file path=ppt/charts/_rels/chart17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7.xlsx"/></Relationships>
</file>

<file path=ppt/charts/_rels/chart18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8.xlsx"/></Relationships>
</file>

<file path=ppt/charts/_rels/chart19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9.xlsx"/></Relationships>
</file>

<file path=ppt/charts/_rels/chart20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0.xlsx"/></Relationships>
</file>

<file path=ppt/charts/_rels/chart2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1.xlsx"/></Relationships>
</file>

<file path=ppt/charts/_rels/chart2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2.xlsx"/></Relationships>
</file>

<file path=ppt/charts/_rels/chart2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3.xlsx"/></Relationships>
</file>

<file path=ppt/charts/_rels/chart2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4.xlsx"/></Relationships>
</file>

<file path=ppt/charts/_rels/chart2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5.xlsx"/></Relationships>
</file>

<file path=ppt/charts/_rels/chart2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6.xlsx"/></Relationships>
</file>

<file path=ppt/charts/_rels/chart27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7.xlsx"/></Relationships>
</file>

<file path=ppt/charts/_rels/chart28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8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Créditos</c:v>
                </c:pt>
              </c:strCache>
            </c:strRef>
          </c:tx>
          <c:spPr>
            <a:solidFill>
              <a:srgbClr val="1F4592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16203A"/>
                    </a:solidFill>
                    <a:latin typeface="Poppins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Sheet1!$A$2:$A$14</c:f>
              <c:multiLvlStrCache>
                <c:ptCount val="13"/>
                <c:lvl>
                  <c:pt idx="0">
                    <c:v>Feb-25</c:v>
                  </c:pt>
                  <c:pt idx="1">
                    <c:v>Mar-25</c:v>
                  </c:pt>
                  <c:pt idx="2">
                    <c:v>Abr-25</c:v>
                  </c:pt>
                  <c:pt idx="3">
                    <c:v>May-25</c:v>
                  </c:pt>
                  <c:pt idx="4">
                    <c:v>Jun-25</c:v>
                  </c:pt>
                  <c:pt idx="5">
                    <c:v>Jul-25</c:v>
                  </c:pt>
                  <c:pt idx="6">
                    <c:v>Ago-25</c:v>
                  </c:pt>
                  <c:pt idx="7">
                    <c:v>Sep-25</c:v>
                  </c:pt>
                  <c:pt idx="8">
                    <c:v>Oct-25</c:v>
                  </c:pt>
                  <c:pt idx="9">
                    <c:v>Nov-25</c:v>
                  </c:pt>
                  <c:pt idx="10">
                    <c:v>Dic-25</c:v>
                  </c:pt>
                  <c:pt idx="11">
                    <c:v>Ene-26</c:v>
                  </c:pt>
                  <c:pt idx="12">
                    <c:v>Feb-26</c:v>
                  </c:pt>
                </c:lvl>
              </c:multiLvlStrCache>
            </c:multiLvlStrRef>
          </c:cat>
          <c:val>
            <c:numRef>
              <c:f>Sheet1!$B$2:$B$14</c:f>
              <c:numCache>
                <c:formatCode>General</c:formatCode>
                <c:ptCount val="13"/>
                <c:pt idx="0">
                  <c:v>57</c:v>
                </c:pt>
                <c:pt idx="1">
                  <c:v>56</c:v>
                </c:pt>
                <c:pt idx="2">
                  <c:v>57</c:v>
                </c:pt>
                <c:pt idx="3">
                  <c:v>71</c:v>
                </c:pt>
                <c:pt idx="4">
                  <c:v>84</c:v>
                </c:pt>
                <c:pt idx="5">
                  <c:v>101</c:v>
                </c:pt>
                <c:pt idx="6">
                  <c:v>99</c:v>
                </c:pt>
                <c:pt idx="7">
                  <c:v>146</c:v>
                </c:pt>
                <c:pt idx="8">
                  <c:v>141</c:v>
                </c:pt>
                <c:pt idx="9">
                  <c:v>121</c:v>
                </c:pt>
                <c:pt idx="10">
                  <c:v>127</c:v>
                </c:pt>
                <c:pt idx="11">
                  <c:v>146</c:v>
                </c:pt>
                <c:pt idx="12">
                  <c:v>151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800" u="none">
                  <a:solidFill>
                    <a:srgbClr val="16203A"/>
                  </a:solidFill>
                  <a:latin typeface="Poppins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850" b="0" i="0" u="none" strike="noStrike">
                <a:solidFill>
                  <a:srgbClr val="737D92"/>
                </a:solidFill>
                <a:latin typeface="Poppins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Saldo</c:v>
                </c:pt>
              </c:strCache>
            </c:strRef>
          </c:tx>
          <c:spPr>
            <a:solidFill>
              <a:srgbClr val="00BE50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16203A"/>
                    </a:solidFill>
                    <a:latin typeface="Poppins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Sheet1!$A$2:$A$14</c:f>
              <c:multiLvlStrCache>
                <c:ptCount val="13"/>
                <c:lvl>
                  <c:pt idx="0">
                    <c:v>Feb-25</c:v>
                  </c:pt>
                  <c:pt idx="1">
                    <c:v>Mar-25</c:v>
                  </c:pt>
                  <c:pt idx="2">
                    <c:v>Abr-25</c:v>
                  </c:pt>
                  <c:pt idx="3">
                    <c:v>May-25</c:v>
                  </c:pt>
                  <c:pt idx="4">
                    <c:v>Jun-25</c:v>
                  </c:pt>
                  <c:pt idx="5">
                    <c:v>Jul-25</c:v>
                  </c:pt>
                  <c:pt idx="6">
                    <c:v>Ago-25</c:v>
                  </c:pt>
                  <c:pt idx="7">
                    <c:v>Sep-25</c:v>
                  </c:pt>
                  <c:pt idx="8">
                    <c:v>Oct-25</c:v>
                  </c:pt>
                  <c:pt idx="9">
                    <c:v>Nov-25</c:v>
                  </c:pt>
                  <c:pt idx="10">
                    <c:v>Dic-25</c:v>
                  </c:pt>
                  <c:pt idx="11">
                    <c:v>Ene-26</c:v>
                  </c:pt>
                  <c:pt idx="12">
                    <c:v>Feb-26</c:v>
                  </c:pt>
                </c:lvl>
              </c:multiLvlStrCache>
            </c:multiLvlStrRef>
          </c:cat>
          <c:val>
            <c:numRef>
              <c:f>Sheet1!$B$2:$B$14</c:f>
              <c:numCache>
                <c:formatCode>General</c:formatCode>
                <c:ptCount val="13"/>
                <c:pt idx="0">
                  <c:v>4.22</c:v>
                </c:pt>
                <c:pt idx="1">
                  <c:v>4.18</c:v>
                </c:pt>
                <c:pt idx="2">
                  <c:v>4.29</c:v>
                </c:pt>
                <c:pt idx="3">
                  <c:v>5.78</c:v>
                </c:pt>
                <c:pt idx="4">
                  <c:v>6.83</c:v>
                </c:pt>
                <c:pt idx="5">
                  <c:v>9.51</c:v>
                </c:pt>
                <c:pt idx="6">
                  <c:v>7.8</c:v>
                </c:pt>
                <c:pt idx="7">
                  <c:v>12.85</c:v>
                </c:pt>
                <c:pt idx="8">
                  <c:v>12.47</c:v>
                </c:pt>
                <c:pt idx="9">
                  <c:v>11.53</c:v>
                </c:pt>
                <c:pt idx="10">
                  <c:v>11.07</c:v>
                </c:pt>
                <c:pt idx="11">
                  <c:v>11.89</c:v>
                </c:pt>
                <c:pt idx="12">
                  <c:v>14.42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0" i="0" strike="noStrike" sz="800" u="none">
                  <a:solidFill>
                    <a:srgbClr val="16203A"/>
                  </a:solidFill>
                  <a:latin typeface="Poppins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850" b="0" i="0" u="none" strike="noStrike">
                <a:solidFill>
                  <a:srgbClr val="737D92"/>
                </a:solidFill>
                <a:latin typeface="Poppins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Canal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1F4592"/>
              </a:solidFill>
              <a:effectLst/>
            </c:spPr>
          </c:dPt>
          <c:dPt>
            <c:idx val="1"/>
            <c:bubble3D val="0"/>
            <c:spPr>
              <a:solidFill>
                <a:srgbClr val="00BE50"/>
              </a:solidFill>
              <a:effectLst/>
            </c:spPr>
          </c:dPt>
          <c:dPt>
            <c:idx val="2"/>
            <c:bubble3D val="0"/>
            <c:spPr>
              <a:solidFill>
                <a:srgbClr val="005F1E"/>
              </a:solidFill>
              <a:effectLst/>
            </c:spPr>
          </c:dPt>
          <c:dPt>
            <c:idx val="3"/>
            <c:bubble3D val="0"/>
            <c:spPr>
              <a:solidFill>
                <a:srgbClr val="5B8DEF"/>
              </a:solidFill>
              <a:effectLst/>
            </c:spPr>
          </c:dPt>
          <c:dPt>
            <c:idx val="4"/>
            <c:bubble3D val="0"/>
            <c:spPr>
              <a:solidFill>
                <a:srgbClr val="A0AEC0"/>
              </a:solidFill>
              <a:effectLst/>
            </c:spPr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FFFFFF"/>
                      </a:solidFill>
                      <a:latin typeface="Poppins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numFmt formatCode="General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FFFFFF"/>
                      </a:solidFill>
                      <a:latin typeface="Poppins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numFmt formatCode="General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FFFFFF"/>
                      </a:solidFill>
                      <a:latin typeface="Poppins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numFmt formatCode="General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FFFFFF"/>
                      </a:solidFill>
                      <a:latin typeface="Poppins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4"/>
              <c:numFmt formatCode="General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FFFFFF"/>
                      </a:solidFill>
                      <a:latin typeface="Poppins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General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Sheet1!$A$2:$A$6</c:f>
              <c:strCache>
                <c:ptCount val="5"/>
                <c:pt idx="0">
                  <c:v>TLV</c:v>
                </c:pt>
                <c:pt idx="1">
                  <c:v>TIENDAS</c:v>
                </c:pt>
                <c:pt idx="2">
                  <c:v>VENDORS</c:v>
                </c:pt>
                <c:pt idx="3">
                  <c:v>TIENDAS VIRTUALES</c:v>
                </c:pt>
                <c:pt idx="4">
                  <c:v>ECOSISTEMAS</c:v>
                </c:pt>
              </c:strCache>
            </c:strRef>
          </c:cat>
          <c:val>
            <c:numRef>
              <c:f>Sheet1!$B$2:$B$6</c:f>
              <c:numCache>
                <c:ptCount val="5"/>
                <c:pt idx="0">
                  <c:v>612</c:v>
                </c:pt>
                <c:pt idx="1">
                  <c:v>553</c:v>
                </c:pt>
                <c:pt idx="2">
                  <c:v>101</c:v>
                </c:pt>
                <c:pt idx="3">
                  <c:v>52</c:v>
                </c:pt>
                <c:pt idx="4">
                  <c:v>1</c:v>
                </c:pt>
              </c:numCache>
            </c:numRef>
          </c:val>
        </c:ser>
        <c:firstSliceAng val="0"/>
        <c:holeSize val="58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850">
              <a:solidFill>
                <a:srgbClr val="16203A"/>
              </a:solidFill>
              <a:latin typeface="Poppins"/>
              <a:cs typeface="Poppins"/>
      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Saldo</c:v>
                </c:pt>
              </c:strCache>
            </c:strRef>
          </c:tx>
          <c:spPr>
            <a:solidFill>
              <a:srgbClr val="00BE50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850" u="none">
                    <a:solidFill>
                      <a:srgbClr val="16203A"/>
                    </a:solidFill>
                    <a:latin typeface="Poppins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TIENDAS</c:v>
                  </c:pt>
                  <c:pt idx="1">
                    <c:v>TLV</c:v>
                  </c:pt>
                  <c:pt idx="2">
                    <c:v>VENDORS</c:v>
                  </c:pt>
                  <c:pt idx="3">
                    <c:v>TIENDAS VIRTUALES</c:v>
                  </c:pt>
                  <c:pt idx="4">
                    <c:v>ECOSISTEMAS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58.1</c:v>
                </c:pt>
                <c:pt idx="1">
                  <c:v>39.5</c:v>
                </c:pt>
                <c:pt idx="2">
                  <c:v>11.6</c:v>
                </c:pt>
                <c:pt idx="3">
                  <c:v>6.3</c:v>
                </c:pt>
                <c:pt idx="4">
                  <c:v>0.1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0" i="0" strike="noStrike" sz="850" u="none">
                  <a:solidFill>
                    <a:srgbClr val="16203A"/>
                  </a:solidFill>
                  <a:latin typeface="Poppins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850" b="0" i="0" u="none" strike="noStrike">
                <a:solidFill>
                  <a:srgbClr val="737D92"/>
                </a:solidFill>
                <a:latin typeface="Poppins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Antigüedad</c:v>
                </c:pt>
              </c:strCache>
            </c:strRef>
          </c:tx>
          <c:spPr>
            <a:solidFill>
              <a:srgbClr val="005F1E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6203A"/>
                    </a:solidFill>
                    <a:latin typeface="Poppins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ECOSISTEMAS</c:v>
                  </c:pt>
                  <c:pt idx="1">
                    <c:v>TIENDAS</c:v>
                  </c:pt>
                  <c:pt idx="2">
                    <c:v>TIENDAS VIRTUALES</c:v>
                  </c:pt>
                  <c:pt idx="3">
                    <c:v>TLV</c:v>
                  </c:pt>
                  <c:pt idx="4">
                    <c:v>VENDORS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</c:v>
                </c:pt>
                <c:pt idx="1">
                  <c:v>8.9</c:v>
                </c:pt>
                <c:pt idx="2">
                  <c:v>2.2</c:v>
                </c:pt>
                <c:pt idx="3">
                  <c:v>8.5</c:v>
                </c:pt>
                <c:pt idx="4">
                  <c:v>4.8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0" i="0" strike="noStrike" sz="900" u="none">
                  <a:solidFill>
                    <a:srgbClr val="16203A"/>
                  </a:solidFill>
                  <a:latin typeface="Poppins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850" b="0" i="0" u="none" strike="noStrike">
                <a:solidFill>
                  <a:srgbClr val="737D92"/>
                </a:solidFill>
                <a:latin typeface="Poppins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Créditos</c:v>
                </c:pt>
              </c:strCache>
            </c:strRef>
          </c:tx>
          <c:spPr>
            <a:solidFill>
              <a:srgbClr val="1F4592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50" u="none">
                    <a:solidFill>
                      <a:srgbClr val="16203A"/>
                    </a:solidFill>
                    <a:latin typeface="Poppins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Sheet1!$A$2:$A$9</c:f>
              <c:multiLvlStrCache>
                <c:ptCount val="8"/>
                <c:lvl>
                  <c:pt idx="0">
                    <c:v>Impulso Mixto</c:v>
                  </c:pt>
                  <c:pt idx="1">
                    <c:v>Nuevo Aprobado</c:v>
                  </c:pt>
                  <c:pt idx="2">
                    <c:v>CDD APROBADO</c:v>
                  </c:pt>
                  <c:pt idx="3">
                    <c:v>GIRO DE LINEA</c:v>
                  </c:pt>
                  <c:pt idx="4">
                    <c:v>Ágil Recurrente CEM</c:v>
                  </c:pt>
                  <c:pt idx="5">
                    <c:v>Impulso Solo</c:v>
                  </c:pt>
                  <c:pt idx="6">
                    <c:v>Nuevo Aprobado Ágil</c:v>
                  </c:pt>
                  <c:pt idx="7">
                    <c:v>Nuevo pre Aprobado</c:v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178</c:v>
                </c:pt>
                <c:pt idx="1">
                  <c:v>172</c:v>
                </c:pt>
                <c:pt idx="2">
                  <c:v>157</c:v>
                </c:pt>
                <c:pt idx="3">
                  <c:v>148</c:v>
                </c:pt>
                <c:pt idx="4">
                  <c:v>127</c:v>
                </c:pt>
                <c:pt idx="5">
                  <c:v>116</c:v>
                </c:pt>
                <c:pt idx="6">
                  <c:v>93</c:v>
                </c:pt>
                <c:pt idx="7">
                  <c:v>74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850" u="none">
                  <a:solidFill>
                    <a:srgbClr val="16203A"/>
                  </a:solidFill>
                  <a:latin typeface="Poppins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737D92"/>
                </a:solidFill>
                <a:latin typeface="Poppins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Créditos</c:v>
                </c:pt>
              </c:strCache>
            </c:strRef>
          </c:tx>
          <c:spPr>
            <a:solidFill>
              <a:srgbClr val="1F4592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16203A"/>
                    </a:solidFill>
                    <a:latin typeface="Poppins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≤0</c:v>
                  </c:pt>
                  <c:pt idx="1">
                    <c:v>1-3</c:v>
                  </c:pt>
                  <c:pt idx="2">
                    <c:v>4-6</c:v>
                  </c:pt>
                  <c:pt idx="3">
                    <c:v>7-12</c:v>
                  </c:pt>
                  <c:pt idx="4">
                    <c:v>13-18</c:v>
                  </c:pt>
                  <c:pt idx="5">
                    <c:v>19-24</c:v>
                  </c:pt>
                  <c:pt idx="6">
                    <c:v>&gt;24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76</c:v>
                </c:pt>
                <c:pt idx="1">
                  <c:v>302</c:v>
                </c:pt>
                <c:pt idx="2">
                  <c:v>278</c:v>
                </c:pt>
                <c:pt idx="3">
                  <c:v>320</c:v>
                </c:pt>
                <c:pt idx="4">
                  <c:v>242</c:v>
                </c:pt>
                <c:pt idx="5">
                  <c:v>93</c:v>
                </c:pt>
                <c:pt idx="6">
                  <c:v>8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800" u="none">
                  <a:solidFill>
                    <a:srgbClr val="16203A"/>
                  </a:solidFill>
                  <a:latin typeface="Poppins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lineChart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Saldo (S/ MM)</c:v>
                </c:pt>
              </c:strCache>
            </c:strRef>
          </c:tx>
          <c:spPr>
            <a:solidFill>
              <a:srgbClr val="C4314B"/>
            </a:solidFill>
            <a:ln w="38100" cap="flat">
              <a:solidFill>
                <a:srgbClr val="C4314B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16203A"/>
                    </a:solidFill>
                    <a:latin typeface="Poppins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C4314B"/>
              </a:solidFill>
              <a:ln w="9525" cap="flat">
                <a:solidFill>
                  <a:srgbClr val="C4314B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Sheet1!$A$2:$A$8</c:f>
              <c:multiLvlStrCache>
                <c:ptCount val="7"/>
                <c:lvl>
                  <c:pt idx="0">
                    <c:v>≤0</c:v>
                  </c:pt>
                  <c:pt idx="1">
                    <c:v>1-3</c:v>
                  </c:pt>
                  <c:pt idx="2">
                    <c:v>4-6</c:v>
                  </c:pt>
                  <c:pt idx="3">
                    <c:v>7-12</c:v>
                  </c:pt>
                  <c:pt idx="4">
                    <c:v>13-18</c:v>
                  </c:pt>
                  <c:pt idx="5">
                    <c:v>19-24</c:v>
                  </c:pt>
                  <c:pt idx="6">
                    <c:v>&gt;24</c:v>
                  </c:pt>
                </c:lvl>
              </c:multiLvlStrCache>
            </c:multiLvlStrRef>
          </c:cat>
          <c:val>
            <c:numRef>
              <c:f>Sheet1!$C$2:$C$8</c:f>
              <c:numCache>
                <c:formatCode>General</c:formatCode>
                <c:ptCount val="7"/>
                <c:pt idx="0">
                  <c:v>9.8</c:v>
                </c:pt>
                <c:pt idx="1">
                  <c:v>37.3</c:v>
                </c:pt>
                <c:pt idx="2">
                  <c:v>26.4</c:v>
                </c:pt>
                <c:pt idx="3">
                  <c:v>26.7</c:v>
                </c:pt>
                <c:pt idx="4">
                  <c:v>12.3</c:v>
                </c:pt>
                <c:pt idx="5">
                  <c:v>3</c:v>
                </c:pt>
                <c:pt idx="6">
                  <c:v>0.1</c:v>
                </c:pt>
              </c:numCache>
            </c:numRef>
          </c:val>
          <c:smooth val="1"/>
        </c:ser>
        <c:dLbls>
          <c:numFmt formatCode="#,##0" sourceLinked="0"/>
          <c:txPr>
            <a:bodyPr/>
            <a:lstStyle/>
            <a:p>
              <a:pPr>
                <a:defRPr b="0" i="0" strike="noStrike" sz="800" u="none">
                  <a:solidFill>
                    <a:srgbClr val="16203A"/>
                  </a:solidFill>
                  <a:latin typeface="Poppins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marker val="1"/>
        <c:axId val="2094734555"/>
        <c:axId val="2094734553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737D92"/>
                </a:solidFill>
                <a:latin typeface="Poppins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valAx>
        <c:axId val="2094734553"/>
        <c:scaling>
          <c:orientation val="minMax"/>
        </c:scaling>
        <c:delete val="1"/>
        <c:axPos val="r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5"/>
        <c:crosses val="max"/>
        <c:crossBetween val="between"/>
      </c:valAx>
      <c:catAx>
        <c:axId val="2094734555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3"/>
        <c:crosses val="autoZero"/>
        <c:auto val="1"/>
        <c:lblAlgn val="ctr"/>
        <c:noMultiLvlLbl val="1"/>
      </c:cat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850">
              <a:solidFill>
                <a:srgbClr val="16203A"/>
              </a:solidFill>
              <a:latin typeface="Poppins"/>
              <a:cs typeface="Poppins"/>
      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Créditos</c:v>
                </c:pt>
              </c:strCache>
            </c:strRef>
          </c:tx>
          <c:spPr>
            <a:solidFill>
              <a:srgbClr val="1F4592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16203A"/>
                    </a:solidFill>
                    <a:latin typeface="Poppins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≤25k</c:v>
                  </c:pt>
                  <c:pt idx="1">
                    <c:v>25-50k</c:v>
                  </c:pt>
                  <c:pt idx="2">
                    <c:v>50-100k</c:v>
                  </c:pt>
                  <c:pt idx="3">
                    <c:v>100-200k</c:v>
                  </c:pt>
                  <c:pt idx="4">
                    <c:v>200-500k</c:v>
                  </c:pt>
                  <c:pt idx="5">
                    <c:v>&gt;500k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29</c:v>
                </c:pt>
                <c:pt idx="1">
                  <c:v>113</c:v>
                </c:pt>
                <c:pt idx="2">
                  <c:v>531</c:v>
                </c:pt>
                <c:pt idx="3">
                  <c:v>434</c:v>
                </c:pt>
                <c:pt idx="4">
                  <c:v>206</c:v>
                </c:pt>
                <c:pt idx="5">
                  <c:v>6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800" u="none">
                  <a:solidFill>
                    <a:srgbClr val="16203A"/>
                  </a:solidFill>
                  <a:latin typeface="Poppins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lineChart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Saldo (S/ MM)</c:v>
                </c:pt>
              </c:strCache>
            </c:strRef>
          </c:tx>
          <c:spPr>
            <a:solidFill>
              <a:srgbClr val="C4314B"/>
            </a:solidFill>
            <a:ln w="38100" cap="flat">
              <a:solidFill>
                <a:srgbClr val="C4314B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16203A"/>
                    </a:solidFill>
                    <a:latin typeface="Poppins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C4314B"/>
              </a:solidFill>
              <a:ln w="9525" cap="flat">
                <a:solidFill>
                  <a:srgbClr val="C4314B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Sheet1!$A$2:$A$7</c:f>
              <c:multiLvlStrCache>
                <c:ptCount val="6"/>
                <c:lvl>
                  <c:pt idx="0">
                    <c:v>≤25k</c:v>
                  </c:pt>
                  <c:pt idx="1">
                    <c:v>25-50k</c:v>
                  </c:pt>
                  <c:pt idx="2">
                    <c:v>50-100k</c:v>
                  </c:pt>
                  <c:pt idx="3">
                    <c:v>100-200k</c:v>
                  </c:pt>
                  <c:pt idx="4">
                    <c:v>200-500k</c:v>
                  </c:pt>
                  <c:pt idx="5">
                    <c:v>&gt;500k</c:v>
                  </c:pt>
                </c:lvl>
              </c:multiLvlStrCache>
            </c:multiLvl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0.4</c:v>
                </c:pt>
                <c:pt idx="1">
                  <c:v>2.9</c:v>
                </c:pt>
                <c:pt idx="2">
                  <c:v>26.2</c:v>
                </c:pt>
                <c:pt idx="3">
                  <c:v>42.7</c:v>
                </c:pt>
                <c:pt idx="4">
                  <c:v>39.4</c:v>
                </c:pt>
                <c:pt idx="5">
                  <c:v>3.9</c:v>
                </c:pt>
              </c:numCache>
            </c:numRef>
          </c:val>
          <c:smooth val="1"/>
        </c:ser>
        <c:dLbls>
          <c:numFmt formatCode="#,##0" sourceLinked="0"/>
          <c:txPr>
            <a:bodyPr/>
            <a:lstStyle/>
            <a:p>
              <a:pPr>
                <a:defRPr b="0" i="0" strike="noStrike" sz="800" u="none">
                  <a:solidFill>
                    <a:srgbClr val="16203A"/>
                  </a:solidFill>
                  <a:latin typeface="Poppins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marker val="1"/>
        <c:axId val="2094734555"/>
        <c:axId val="2094734553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737D92"/>
                </a:solidFill>
                <a:latin typeface="Poppins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valAx>
        <c:axId val="2094734553"/>
        <c:scaling>
          <c:orientation val="minMax"/>
        </c:scaling>
        <c:delete val="1"/>
        <c:axPos val="r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5"/>
        <c:crosses val="max"/>
        <c:crossBetween val="between"/>
      </c:valAx>
      <c:catAx>
        <c:axId val="2094734555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3"/>
        <c:crosses val="autoZero"/>
        <c:auto val="1"/>
        <c:lblAlgn val="ctr"/>
        <c:noMultiLvlLbl val="1"/>
      </c:cat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850">
              <a:solidFill>
                <a:srgbClr val="16203A"/>
              </a:solidFill>
              <a:latin typeface="Poppins"/>
              <a:cs typeface="Poppins"/>
      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Créditos</c:v>
                </c:pt>
              </c:strCache>
            </c:strRef>
          </c:tx>
          <c:spPr>
            <a:solidFill>
              <a:srgbClr val="1F4592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16203A"/>
                    </a:solidFill>
                    <a:latin typeface="Poppins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&lt;14%</c:v>
                  </c:pt>
                  <c:pt idx="1">
                    <c:v>14-16%</c:v>
                  </c:pt>
                  <c:pt idx="2">
                    <c:v>16-18%</c:v>
                  </c:pt>
                  <c:pt idx="3">
                    <c:v>18-20%</c:v>
                  </c:pt>
                  <c:pt idx="4">
                    <c:v>20-25%</c:v>
                  </c:pt>
                  <c:pt idx="5">
                    <c:v>≥25%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62</c:v>
                </c:pt>
                <c:pt idx="1">
                  <c:v>384</c:v>
                </c:pt>
                <c:pt idx="2">
                  <c:v>345</c:v>
                </c:pt>
                <c:pt idx="3">
                  <c:v>291</c:v>
                </c:pt>
                <c:pt idx="4">
                  <c:v>208</c:v>
                </c:pt>
                <c:pt idx="5">
                  <c:v>29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800" u="none">
                  <a:solidFill>
                    <a:srgbClr val="16203A"/>
                  </a:solidFill>
                  <a:latin typeface="Poppins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lineChart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Saldo (S/ MM)</c:v>
                </c:pt>
              </c:strCache>
            </c:strRef>
          </c:tx>
          <c:spPr>
            <a:solidFill>
              <a:srgbClr val="C4314B"/>
            </a:solidFill>
            <a:ln w="38100" cap="flat">
              <a:solidFill>
                <a:srgbClr val="C4314B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16203A"/>
                    </a:solidFill>
                    <a:latin typeface="Poppins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C4314B"/>
              </a:solidFill>
              <a:ln w="9525" cap="flat">
                <a:solidFill>
                  <a:srgbClr val="C4314B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Sheet1!$A$2:$A$7</c:f>
              <c:multiLvlStrCache>
                <c:ptCount val="6"/>
                <c:lvl>
                  <c:pt idx="0">
                    <c:v>&lt;14%</c:v>
                  </c:pt>
                  <c:pt idx="1">
                    <c:v>14-16%</c:v>
                  </c:pt>
                  <c:pt idx="2">
                    <c:v>16-18%</c:v>
                  </c:pt>
                  <c:pt idx="3">
                    <c:v>18-20%</c:v>
                  </c:pt>
                  <c:pt idx="4">
                    <c:v>20-25%</c:v>
                  </c:pt>
                  <c:pt idx="5">
                    <c:v>≥25%</c:v>
                  </c:pt>
                </c:lvl>
              </c:multiLvlStrCache>
            </c:multiLvl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12.7</c:v>
                </c:pt>
                <c:pt idx="1">
                  <c:v>29.2</c:v>
                </c:pt>
                <c:pt idx="2">
                  <c:v>38.8</c:v>
                </c:pt>
                <c:pt idx="3">
                  <c:v>23</c:v>
                </c:pt>
                <c:pt idx="4">
                  <c:v>10.8</c:v>
                </c:pt>
                <c:pt idx="5">
                  <c:v>1.2</c:v>
                </c:pt>
              </c:numCache>
            </c:numRef>
          </c:val>
          <c:smooth val="1"/>
        </c:ser>
        <c:dLbls>
          <c:numFmt formatCode="#,##0" sourceLinked="0"/>
          <c:txPr>
            <a:bodyPr/>
            <a:lstStyle/>
            <a:p>
              <a:pPr>
                <a:defRPr b="0" i="0" strike="noStrike" sz="800" u="none">
                  <a:solidFill>
                    <a:srgbClr val="16203A"/>
                  </a:solidFill>
                  <a:latin typeface="Poppins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marker val="1"/>
        <c:axId val="2094734555"/>
        <c:axId val="2094734553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737D92"/>
                </a:solidFill>
                <a:latin typeface="Poppins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valAx>
        <c:axId val="2094734553"/>
        <c:scaling>
          <c:orientation val="minMax"/>
        </c:scaling>
        <c:delete val="1"/>
        <c:axPos val="r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5"/>
        <c:crosses val="max"/>
        <c:crossBetween val="between"/>
      </c:valAx>
      <c:catAx>
        <c:axId val="2094734555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3"/>
        <c:crosses val="autoZero"/>
        <c:auto val="1"/>
        <c:lblAlgn val="ctr"/>
        <c:noMultiLvlLbl val="1"/>
      </c:cat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850">
              <a:solidFill>
                <a:srgbClr val="16203A"/>
              </a:solidFill>
              <a:latin typeface="Poppins"/>
              <a:cs typeface="Poppins"/>
      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% en funnel</c:v>
                </c:pt>
              </c:strCache>
            </c:strRef>
          </c:tx>
          <c:spPr>
            <a:solidFill>
              <a:srgbClr val="1F4592"/>
            </a:solidFill>
            <a:ln w="38100" cap="flat">
              <a:solidFill>
                <a:srgbClr val="1F4592"/>
              </a:solidFill>
              <a:prstDash val="solid"/>
              <a:round/>
            </a:ln>
            <a:effectLst/>
          </c:spPr>
          <c:invertIfNegative val="0"/>
          <c:dLbls>
            <c:numFmt formatCode="0" sourceLinked="0"/>
            <c:txPr>
              <a:bodyPr/>
              <a:lstStyle/>
              <a:p>
                <a:pPr>
                  <a:defRPr b="0" i="0" strike="noStrike" sz="750" u="none">
                    <a:solidFill>
                      <a:srgbClr val="16203A"/>
                    </a:solidFill>
                    <a:latin typeface="Poppins"/>
                  </a:defRPr>
                </a:pPr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1F4592"/>
              </a:solidFill>
              <a:ln w="9525" cap="flat">
                <a:solidFill>
                  <a:srgbClr val="1F4592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Sheet1!$A$2:$A$14</c:f>
              <c:multiLvlStrCache>
                <c:ptCount val="13"/>
                <c:lvl>
                  <c:pt idx="0">
                    <c:v>Feb-25</c:v>
                  </c:pt>
                  <c:pt idx="1">
                    <c:v>Mar-25</c:v>
                  </c:pt>
                  <c:pt idx="2">
                    <c:v>Abr-25</c:v>
                  </c:pt>
                  <c:pt idx="3">
                    <c:v>May-25</c:v>
                  </c:pt>
                  <c:pt idx="4">
                    <c:v>Jun-25</c:v>
                  </c:pt>
                  <c:pt idx="5">
                    <c:v>Jul-25</c:v>
                  </c:pt>
                  <c:pt idx="6">
                    <c:v>Ago-25</c:v>
                  </c:pt>
                  <c:pt idx="7">
                    <c:v>Sep-25</c:v>
                  </c:pt>
                  <c:pt idx="8">
                    <c:v>Oct-25</c:v>
                  </c:pt>
                  <c:pt idx="9">
                    <c:v>Nov-25</c:v>
                  </c:pt>
                  <c:pt idx="10">
                    <c:v>Dic-25</c:v>
                  </c:pt>
                  <c:pt idx="11">
                    <c:v>Ene-26</c:v>
                  </c:pt>
                  <c:pt idx="12">
                    <c:v>Feb-26</c:v>
                  </c:pt>
                </c:lvl>
              </c:multiLvlStrCache>
            </c:multiLvlStrRef>
          </c:cat>
          <c:val>
            <c:numRef>
              <c:f>Sheet1!$B$2:$B$14</c:f>
              <c:numCache>
                <c:formatCode>General</c:formatCode>
                <c:ptCount val="13"/>
                <c:pt idx="0">
                  <c:v>54.4</c:v>
                </c:pt>
                <c:pt idx="1">
                  <c:v>48.2</c:v>
                </c:pt>
                <c:pt idx="2">
                  <c:v>40.4</c:v>
                </c:pt>
                <c:pt idx="3">
                  <c:v>60.6</c:v>
                </c:pt>
                <c:pt idx="4">
                  <c:v>59.5</c:v>
                </c:pt>
                <c:pt idx="5">
                  <c:v>64.4</c:v>
                </c:pt>
                <c:pt idx="6">
                  <c:v>72.7</c:v>
                </c:pt>
                <c:pt idx="7">
                  <c:v>69.2</c:v>
                </c:pt>
                <c:pt idx="8">
                  <c:v>77.3</c:v>
                </c:pt>
                <c:pt idx="9">
                  <c:v>85.1</c:v>
                </c:pt>
                <c:pt idx="10">
                  <c:v>88.2</c:v>
                </c:pt>
                <c:pt idx="11">
                  <c:v>80.8</c:v>
                </c:pt>
                <c:pt idx="12">
                  <c:v>82.8</c:v>
                </c:pt>
              </c:numCache>
            </c:numRef>
          </c:val>
          <c:smooth val="1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% gestionado</c:v>
                </c:pt>
              </c:strCache>
            </c:strRef>
          </c:tx>
          <c:spPr>
            <a:solidFill>
              <a:srgbClr val="C4314B"/>
            </a:solidFill>
            <a:ln w="38100" cap="flat">
              <a:solidFill>
                <a:srgbClr val="C4314B"/>
              </a:solidFill>
              <a:prstDash val="solid"/>
              <a:round/>
            </a:ln>
            <a:effectLst/>
          </c:spPr>
          <c:invertIfNegative val="0"/>
          <c:dLbls>
            <c:numFmt formatCode="0" sourceLinked="0"/>
            <c:txPr>
              <a:bodyPr/>
              <a:lstStyle/>
              <a:p>
                <a:pPr>
                  <a:defRPr b="0" i="0" strike="noStrike" sz="750" u="none">
                    <a:solidFill>
                      <a:srgbClr val="16203A"/>
                    </a:solidFill>
                    <a:latin typeface="Poppins"/>
                  </a:defRPr>
                </a:pPr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C4314B"/>
              </a:solidFill>
              <a:ln w="9525" cap="flat">
                <a:solidFill>
                  <a:srgbClr val="C4314B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Sheet1!$A$2:$A$14</c:f>
              <c:multiLvlStrCache>
                <c:ptCount val="13"/>
                <c:lvl>
                  <c:pt idx="0">
                    <c:v>Feb-25</c:v>
                  </c:pt>
                  <c:pt idx="1">
                    <c:v>Mar-25</c:v>
                  </c:pt>
                  <c:pt idx="2">
                    <c:v>Abr-25</c:v>
                  </c:pt>
                  <c:pt idx="3">
                    <c:v>May-25</c:v>
                  </c:pt>
                  <c:pt idx="4">
                    <c:v>Jun-25</c:v>
                  </c:pt>
                  <c:pt idx="5">
                    <c:v>Jul-25</c:v>
                  </c:pt>
                  <c:pt idx="6">
                    <c:v>Ago-25</c:v>
                  </c:pt>
                  <c:pt idx="7">
                    <c:v>Sep-25</c:v>
                  </c:pt>
                  <c:pt idx="8">
                    <c:v>Oct-25</c:v>
                  </c:pt>
                  <c:pt idx="9">
                    <c:v>Nov-25</c:v>
                  </c:pt>
                  <c:pt idx="10">
                    <c:v>Dic-25</c:v>
                  </c:pt>
                  <c:pt idx="11">
                    <c:v>Ene-26</c:v>
                  </c:pt>
                  <c:pt idx="12">
                    <c:v>Feb-26</c:v>
                  </c:pt>
                </c:lvl>
              </c:multiLvlStrCache>
            </c:multiLvlStrRef>
          </c:cat>
          <c:val>
            <c:numRef>
              <c:f>Sheet1!$C$2:$C$14</c:f>
              <c:numCache>
                <c:formatCode>General</c:formatCode>
                <c:ptCount val="13"/>
                <c:pt idx="0">
                  <c:v>38.7</c:v>
                </c:pt>
                <c:pt idx="1">
                  <c:v>44.4</c:v>
                </c:pt>
                <c:pt idx="2">
                  <c:v>34.8</c:v>
                </c:pt>
                <c:pt idx="3">
                  <c:v>23.3</c:v>
                </c:pt>
                <c:pt idx="4">
                  <c:v>36</c:v>
                </c:pt>
                <c:pt idx="5">
                  <c:v>43.1</c:v>
                </c:pt>
                <c:pt idx="6">
                  <c:v>38.9</c:v>
                </c:pt>
                <c:pt idx="7">
                  <c:v>43.6</c:v>
                </c:pt>
                <c:pt idx="8">
                  <c:v>47.7</c:v>
                </c:pt>
                <c:pt idx="9">
                  <c:v>43.7</c:v>
                </c:pt>
                <c:pt idx="10">
                  <c:v>42.9</c:v>
                </c:pt>
                <c:pt idx="11">
                  <c:v>55.1</c:v>
                </c:pt>
                <c:pt idx="12">
                  <c:v>42.4</c:v>
                </c:pt>
              </c:numCache>
            </c:numRef>
          </c:val>
          <c:smooth val="1"/>
        </c:ser>
        <c:dLbls>
          <c:numFmt formatCode="0" sourceLinked="0"/>
          <c:txPr>
            <a:bodyPr/>
            <a:lstStyle/>
            <a:p>
              <a:pPr>
                <a:defRPr b="0" i="0" strike="noStrike" sz="750" u="none">
                  <a:solidFill>
                    <a:srgbClr val="16203A"/>
                  </a:solidFill>
                  <a:latin typeface="Poppins"/>
                </a:defRPr>
              </a:pPr>
            </a:p>
          </c:txPr>
          <c:dLblPos val="t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850" b="0" i="0" u="none" strike="noStrike">
                <a:solidFill>
                  <a:srgbClr val="737D92"/>
                </a:solidFill>
                <a:latin typeface="Poppins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850">
              <a:solidFill>
                <a:srgbClr val="16203A"/>
              </a:solidFill>
              <a:latin typeface="Poppins"/>
              <a:cs typeface="Poppins"/>
      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Clientes</c:v>
                </c:pt>
              </c:strCache>
            </c:strRef>
          </c:tx>
          <c:spPr>
            <a:solidFill>
              <a:srgbClr val="1F4592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6203A"/>
                    </a:solidFill>
                    <a:latin typeface="Poppins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Fugados</c:v>
                  </c:pt>
                  <c:pt idx="1">
                    <c:v>En funnel</c:v>
                  </c:pt>
                  <c:pt idx="2">
                    <c:v>Carterizados</c:v>
                  </c:pt>
                  <c:pt idx="3">
                    <c:v>Gestionados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1357</c:v>
                </c:pt>
                <c:pt idx="1">
                  <c:v>979</c:v>
                </c:pt>
                <c:pt idx="2">
                  <c:v>736</c:v>
                </c:pt>
                <c:pt idx="3">
                  <c:v>423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16203A"/>
                  </a:solidFill>
                  <a:latin typeface="Poppins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850" b="0" i="0" u="none" strike="noStrike">
                <a:solidFill>
                  <a:srgbClr val="737D92"/>
                </a:solidFill>
                <a:latin typeface="Poppins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Prioridad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1F4592"/>
              </a:solidFill>
              <a:effectLst/>
            </c:spPr>
          </c:dPt>
          <c:dPt>
            <c:idx val="1"/>
            <c:bubble3D val="0"/>
            <c:spPr>
              <a:solidFill>
                <a:srgbClr val="00BE50"/>
              </a:solidFill>
              <a:effectLst/>
            </c:spPr>
          </c:dPt>
          <c:dPt>
            <c:idx val="2"/>
            <c:bubble3D val="0"/>
            <c:spPr>
              <a:solidFill>
                <a:srgbClr val="005F1E"/>
              </a:solidFill>
              <a:effectLst/>
            </c:spPr>
          </c:dPt>
          <c:dPt>
            <c:idx val="3"/>
            <c:bubble3D val="0"/>
            <c:spPr>
              <a:solidFill>
                <a:srgbClr val="5B8DEF"/>
              </a:solidFill>
              <a:effectLst/>
            </c:spPr>
          </c:dPt>
          <c:dPt>
            <c:idx val="4"/>
            <c:bubble3D val="0"/>
            <c:spPr>
              <a:solidFill>
                <a:srgbClr val="A0AEC0"/>
              </a:solidFill>
              <a:effectLst/>
            </c:spPr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FFFFFF"/>
                      </a:solidFill>
                      <a:latin typeface="Poppins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numFmt formatCode="General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FFFFFF"/>
                      </a:solidFill>
                      <a:latin typeface="Poppins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numFmt formatCode="General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FFFFFF"/>
                      </a:solidFill>
                      <a:latin typeface="Poppins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numFmt formatCode="General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FFFFFF"/>
                      </a:solidFill>
                      <a:latin typeface="Poppins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4"/>
              <c:numFmt formatCode="General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FFFFFF"/>
                      </a:solidFill>
                      <a:latin typeface="Poppins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General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Sheet1!$A$2:$A$6</c:f>
              <c:strCache>
                <c:ptCount val="5"/>
                <c:pt idx="0">
                  <c:v>P1</c:v>
                </c:pt>
                <c:pt idx="1">
                  <c:v>P2</c:v>
                </c:pt>
                <c:pt idx="2">
                  <c:v>P5</c:v>
                </c:pt>
                <c:pt idx="3">
                  <c:v>P3</c:v>
                </c:pt>
                <c:pt idx="4">
                  <c:v>P4</c:v>
                </c:pt>
              </c:strCache>
            </c:strRef>
          </c:cat>
          <c:val>
            <c:numRef>
              <c:f>Sheet1!$B$2:$B$6</c:f>
              <c:numCache>
                <c:ptCount val="5"/>
                <c:pt idx="0">
                  <c:v>768</c:v>
                </c:pt>
                <c:pt idx="1">
                  <c:v>107</c:v>
                </c:pt>
                <c:pt idx="2">
                  <c:v>88</c:v>
                </c:pt>
                <c:pt idx="3">
                  <c:v>14</c:v>
                </c:pt>
                <c:pt idx="4">
                  <c:v>2</c:v>
                </c:pt>
              </c:numCache>
            </c:numRef>
          </c:val>
        </c:ser>
        <c:firstSliceAng val="0"/>
        <c:holeSize val="58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850">
              <a:solidFill>
                <a:srgbClr val="16203A"/>
              </a:solidFill>
              <a:latin typeface="Poppins"/>
              <a:cs typeface="Poppins"/>
      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1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Canal funnel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1F4592"/>
              </a:solidFill>
              <a:effectLst/>
            </c:spPr>
          </c:dPt>
          <c:dPt>
            <c:idx val="1"/>
            <c:bubble3D val="0"/>
            <c:spPr>
              <a:solidFill>
                <a:srgbClr val="00BE50"/>
              </a:solidFill>
              <a:effectLst/>
            </c:spPr>
          </c:dPt>
          <c:dPt>
            <c:idx val="2"/>
            <c:bubble3D val="0"/>
            <c:spPr>
              <a:solidFill>
                <a:srgbClr val="005F1E"/>
              </a:solidFill>
              <a:effectLst/>
            </c:spPr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FFFFFF"/>
                      </a:solidFill>
                      <a:latin typeface="Poppins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numFmt formatCode="General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FFFFFF"/>
                      </a:solidFill>
                      <a:latin typeface="Poppins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numFmt formatCode="General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FFFFFF"/>
                      </a:solidFill>
                      <a:latin typeface="Poppins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General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Sheet1!$A$2:$A$4</c:f>
              <c:strCache>
                <c:ptCount val="3"/>
                <c:pt idx="0">
                  <c:v>Tiendas</c:v>
                </c:pt>
                <c:pt idx="1">
                  <c:v>Tiendas Virtuales</c:v>
                </c:pt>
                <c:pt idx="2">
                  <c:v>Televentas</c:v>
                </c:pt>
              </c:strCache>
            </c:strRef>
          </c:cat>
          <c:val>
            <c:numRef>
              <c:f>Sheet1!$B$2:$B$4</c:f>
              <c:numCache>
                <c:ptCount val="3"/>
                <c:pt idx="0">
                  <c:v>625</c:v>
                </c:pt>
                <c:pt idx="1">
                  <c:v>309</c:v>
                </c:pt>
                <c:pt idx="2">
                  <c:v>45</c:v>
                </c:pt>
              </c:numCache>
            </c:numRef>
          </c:val>
        </c:ser>
        <c:firstSliceAng val="0"/>
        <c:holeSize val="58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850">
              <a:solidFill>
                <a:srgbClr val="16203A"/>
              </a:solidFill>
              <a:latin typeface="Poppins"/>
              <a:cs typeface="Poppins"/>
      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1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Créditos</c:v>
                </c:pt>
              </c:strCache>
            </c:strRef>
          </c:tx>
          <c:spPr>
            <a:solidFill>
              <a:srgbClr val="005F1E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50" u="none">
                    <a:solidFill>
                      <a:srgbClr val="16203A"/>
                    </a:solidFill>
                    <a:latin typeface="Poppins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Sheet1!$A$2:$A$9</c:f>
              <c:multiLvlStrCache>
                <c:ptCount val="8"/>
                <c:lvl>
                  <c:pt idx="0">
                    <c:v>Bolivar Chapilliquen</c:v>
                  </c:pt>
                  <c:pt idx="1">
                    <c:v>Figueroa Gastello</c:v>
                  </c:pt>
                  <c:pt idx="2">
                    <c:v>Nuñez Amado</c:v>
                  </c:pt>
                  <c:pt idx="3">
                    <c:v>Galvez Vela</c:v>
                  </c:pt>
                  <c:pt idx="4">
                    <c:v>Macedo Masias</c:v>
                  </c:pt>
                  <c:pt idx="5">
                    <c:v>Torres Rimapa</c:v>
                  </c:pt>
                  <c:pt idx="6">
                    <c:v>Carmona Farfan</c:v>
                  </c:pt>
                  <c:pt idx="7">
                    <c:v>Quispe Ledesma</c:v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36</c:v>
                </c:pt>
                <c:pt idx="1">
                  <c:v>30</c:v>
                </c:pt>
                <c:pt idx="2">
                  <c:v>26</c:v>
                </c:pt>
                <c:pt idx="3">
                  <c:v>21</c:v>
                </c:pt>
                <c:pt idx="4">
                  <c:v>21</c:v>
                </c:pt>
                <c:pt idx="5">
                  <c:v>21</c:v>
                </c:pt>
                <c:pt idx="6">
                  <c:v>20</c:v>
                </c:pt>
                <c:pt idx="7">
                  <c:v>19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850" u="none">
                  <a:solidFill>
                    <a:srgbClr val="16203A"/>
                  </a:solidFill>
                  <a:latin typeface="Poppins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737D92"/>
                </a:solidFill>
                <a:latin typeface="Poppins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1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Créditos</c:v>
                </c:pt>
              </c:strCache>
            </c:strRef>
          </c:tx>
          <c:spPr>
            <a:solidFill>
              <a:srgbClr val="1F4592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50" u="none">
                    <a:solidFill>
                      <a:srgbClr val="16203A"/>
                    </a:solidFill>
                    <a:latin typeface="Poppins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Pecho Llacta</c:v>
                  </c:pt>
                  <c:pt idx="1">
                    <c:v>Palpa Ramos Luis Carlos</c:v>
                  </c:pt>
                  <c:pt idx="2">
                    <c:v>Loayza Rivas</c:v>
                  </c:pt>
                  <c:pt idx="3">
                    <c:v>Caceda Vertiz</c:v>
                  </c:pt>
                  <c:pt idx="4">
                    <c:v>Ugaz Vasquez Maria Susana</c:v>
                  </c:pt>
                  <c:pt idx="5">
                    <c:v>Casimiro Fernandez Edith Doris</c:v>
                  </c:pt>
                  <c:pt idx="6">
                    <c:v>Roca Ramos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171</c:v>
                </c:pt>
                <c:pt idx="1">
                  <c:v>123</c:v>
                </c:pt>
                <c:pt idx="2">
                  <c:v>110</c:v>
                </c:pt>
                <c:pt idx="3">
                  <c:v>108</c:v>
                </c:pt>
                <c:pt idx="4">
                  <c:v>108</c:v>
                </c:pt>
                <c:pt idx="5">
                  <c:v>89</c:v>
                </c:pt>
                <c:pt idx="6">
                  <c:v>85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850" u="none">
                  <a:solidFill>
                    <a:srgbClr val="16203A"/>
                  </a:solidFill>
                  <a:latin typeface="Poppins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737D92"/>
                </a:solidFill>
                <a:latin typeface="Poppins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1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Créditos</c:v>
                </c:pt>
              </c:strCache>
            </c:strRef>
          </c:tx>
          <c:spPr>
            <a:solidFill>
              <a:srgbClr val="1F4592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50" u="none">
                    <a:solidFill>
                      <a:srgbClr val="16203A"/>
                    </a:solidFill>
                    <a:latin typeface="Poppins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Sheet1!$A$2:$A$10</c:f>
              <c:multiLvlStrCache>
                <c:ptCount val="9"/>
                <c:lvl>
                  <c:pt idx="0">
                    <c:v>Otras (13 campañas)</c:v>
                  </c:pt>
                  <c:pt idx="1">
                    <c:v>Garantias</c:v>
                  </c:pt>
                  <c:pt idx="2">
                    <c:v>SIN CAMPAÑA</c:v>
                  </c:pt>
                  <c:pt idx="3">
                    <c:v>Giro de Línea</c:v>
                  </c:pt>
                  <c:pt idx="4">
                    <c:v>Recurrente Aprobado CD</c:v>
                  </c:pt>
                  <c:pt idx="5">
                    <c:v>Oportunidad Garantías</c:v>
                  </c:pt>
                  <c:pt idx="6">
                    <c:v>Recurrente Agil Estacional</c:v>
                  </c:pt>
                  <c:pt idx="7">
                    <c:v>Recurrente Ágil CEM</c:v>
                  </c:pt>
                  <c:pt idx="8">
                    <c:v>Gestion Cartera</c:v>
                  </c:pt>
                </c:lvl>
              </c:multiLvlStrCache>
            </c:multiLvl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74</c:v>
                </c:pt>
                <c:pt idx="1">
                  <c:v>11</c:v>
                </c:pt>
                <c:pt idx="2">
                  <c:v>20</c:v>
                </c:pt>
                <c:pt idx="3">
                  <c:v>22</c:v>
                </c:pt>
                <c:pt idx="4">
                  <c:v>39</c:v>
                </c:pt>
                <c:pt idx="5">
                  <c:v>49</c:v>
                </c:pt>
                <c:pt idx="6">
                  <c:v>73</c:v>
                </c:pt>
                <c:pt idx="7">
                  <c:v>301</c:v>
                </c:pt>
                <c:pt idx="8">
                  <c:v>390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850" u="none">
                  <a:solidFill>
                    <a:srgbClr val="16203A"/>
                  </a:solidFill>
                  <a:latin typeface="Poppins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750" b="0" i="0" u="none" strike="noStrike">
                <a:solidFill>
                  <a:srgbClr val="737D92"/>
                </a:solidFill>
                <a:latin typeface="Poppins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1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% gestionado</c:v>
                </c:pt>
              </c:strCache>
            </c:strRef>
          </c:tx>
          <c:spPr>
            <a:solidFill>
              <a:srgbClr val="C4314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50" u="none">
                    <a:solidFill>
                      <a:srgbClr val="16203A"/>
                    </a:solidFill>
                    <a:latin typeface="Poppins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Sheet1!$A$2:$A$10</c:f>
              <c:multiLvlStrCache>
                <c:ptCount val="9"/>
                <c:lvl>
                  <c:pt idx="0">
                    <c:v>Otras (13 campañas)</c:v>
                  </c:pt>
                  <c:pt idx="1">
                    <c:v>Garantias</c:v>
                  </c:pt>
                  <c:pt idx="2">
                    <c:v>SIN CAMPAÑA</c:v>
                  </c:pt>
                  <c:pt idx="3">
                    <c:v>Giro de Línea</c:v>
                  </c:pt>
                  <c:pt idx="4">
                    <c:v>Recurrente Aprobado CD</c:v>
                  </c:pt>
                  <c:pt idx="5">
                    <c:v>Oportunidad Garantías</c:v>
                  </c:pt>
                  <c:pt idx="6">
                    <c:v>Recurrente Agil Estacional</c:v>
                  </c:pt>
                  <c:pt idx="7">
                    <c:v>Recurrente Ágil CEM</c:v>
                  </c:pt>
                  <c:pt idx="8">
                    <c:v>Gestion Cartera</c:v>
                  </c:pt>
                </c:lvl>
              </c:multiLvlStrCache>
            </c:multiLvl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73</c:v>
                </c:pt>
                <c:pt idx="1">
                  <c:v>0</c:v>
                </c:pt>
                <c:pt idx="2">
                  <c:v>95</c:v>
                </c:pt>
                <c:pt idx="3">
                  <c:v>100</c:v>
                </c:pt>
                <c:pt idx="4">
                  <c:v>64</c:v>
                </c:pt>
                <c:pt idx="5">
                  <c:v>31</c:v>
                </c:pt>
                <c:pt idx="6">
                  <c:v>45</c:v>
                </c:pt>
                <c:pt idx="7">
                  <c:v>69</c:v>
                </c:pt>
                <c:pt idx="8">
                  <c:v>12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850" u="none">
                  <a:solidFill>
                    <a:srgbClr val="16203A"/>
                  </a:solidFill>
                  <a:latin typeface="Poppins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750" b="0" i="0" u="none" strike="noStrike">
                <a:solidFill>
                  <a:srgbClr val="737D92"/>
                </a:solidFill>
                <a:latin typeface="Poppins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1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Gestión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00BE50"/>
              </a:solidFill>
              <a:effectLst/>
            </c:spPr>
          </c:dPt>
          <c:dPt>
            <c:idx val="1"/>
            <c:bubble3D val="0"/>
            <c:spPr>
              <a:solidFill>
                <a:srgbClr val="C4314B"/>
              </a:solidFill>
              <a:effectLst/>
            </c:spPr>
          </c:dPt>
          <c:dPt>
            <c:idx val="2"/>
            <c:bubble3D val="0"/>
            <c:spPr>
              <a:solidFill>
                <a:srgbClr val="A0AEC0"/>
              </a:solidFill>
              <a:effectLst/>
            </c:spPr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FFFFFF"/>
                      </a:solidFill>
                      <a:latin typeface="Poppins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numFmt formatCode="General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FFFFFF"/>
                      </a:solidFill>
                      <a:latin typeface="Poppins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numFmt formatCode="General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FFFFFF"/>
                      </a:solidFill>
                      <a:latin typeface="Poppins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General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Sheet1!$A$2:$A$4</c:f>
              <c:strCache>
                <c:ptCount val="3"/>
                <c:pt idx="0">
                  <c:v>En funnel · gestionado</c:v>
                </c:pt>
                <c:pt idx="1">
                  <c:v>En funnel · no gestionado</c:v>
                </c:pt>
                <c:pt idx="2">
                  <c:v>Fuera de funnel</c:v>
                </c:pt>
              </c:strCache>
            </c:strRef>
          </c:cat>
          <c:val>
            <c:numRef>
              <c:f>Sheet1!$B$2:$B$4</c:f>
              <c:numCache>
                <c:ptCount val="3"/>
                <c:pt idx="0">
                  <c:v>423</c:v>
                </c:pt>
                <c:pt idx="1">
                  <c:v>556</c:v>
                </c:pt>
                <c:pt idx="2">
                  <c:v>378</c:v>
                </c:pt>
              </c:numCache>
            </c:numRef>
          </c:val>
        </c:ser>
        <c:firstSliceAng val="0"/>
        <c:holeSize val="58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850">
              <a:solidFill>
                <a:srgbClr val="16203A"/>
              </a:solidFill>
              <a:latin typeface="Poppins"/>
              <a:cs typeface="Poppins"/>
      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1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TIENDAS</c:v>
                </c:pt>
              </c:strCache>
            </c:strRef>
          </c:tx>
          <c:spPr>
            <a:solidFill>
              <a:srgbClr val="1F4592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650" u="none">
                    <a:solidFill>
                      <a:srgbClr val="FFFFFF"/>
                    </a:solidFill>
                    <a:latin typeface="Poppins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Sheet1!$A$2:$A$14</c:f>
              <c:multiLvlStrCache>
                <c:ptCount val="13"/>
                <c:lvl>
                  <c:pt idx="0">
                    <c:v>Feb-25</c:v>
                  </c:pt>
                  <c:pt idx="1">
                    <c:v>Mar-25</c:v>
                  </c:pt>
                  <c:pt idx="2">
                    <c:v>Abr-25</c:v>
                  </c:pt>
                  <c:pt idx="3">
                    <c:v>May-25</c:v>
                  </c:pt>
                  <c:pt idx="4">
                    <c:v>Jun-25</c:v>
                  </c:pt>
                  <c:pt idx="5">
                    <c:v>Jul-25</c:v>
                  </c:pt>
                  <c:pt idx="6">
                    <c:v>Ago-25</c:v>
                  </c:pt>
                  <c:pt idx="7">
                    <c:v>Sep-25</c:v>
                  </c:pt>
                  <c:pt idx="8">
                    <c:v>Oct-25</c:v>
                  </c:pt>
                  <c:pt idx="9">
                    <c:v>Nov-25</c:v>
                  </c:pt>
                  <c:pt idx="10">
                    <c:v>Dic-25</c:v>
                  </c:pt>
                  <c:pt idx="11">
                    <c:v>Ene-26</c:v>
                  </c:pt>
                  <c:pt idx="12">
                    <c:v>Feb-26</c:v>
                  </c:pt>
                </c:lvl>
              </c:multiLvlStrCache>
            </c:multiLvlStrRef>
          </c:cat>
          <c:val>
            <c:numRef>
              <c:f>Sheet1!$B$2:$B$14</c:f>
              <c:numCache>
                <c:formatCode>General</c:formatCode>
                <c:ptCount val="13"/>
                <c:pt idx="0">
                  <c:v>35</c:v>
                </c:pt>
                <c:pt idx="1">
                  <c:v>24</c:v>
                </c:pt>
                <c:pt idx="2">
                  <c:v>24</c:v>
                </c:pt>
                <c:pt idx="3">
                  <c:v>29</c:v>
                </c:pt>
                <c:pt idx="4">
                  <c:v>35</c:v>
                </c:pt>
                <c:pt idx="5">
                  <c:v>45</c:v>
                </c:pt>
                <c:pt idx="6">
                  <c:v>36</c:v>
                </c:pt>
                <c:pt idx="7">
                  <c:v>54</c:v>
                </c:pt>
                <c:pt idx="8">
                  <c:v>54</c:v>
                </c:pt>
                <c:pt idx="9">
                  <c:v>38</c:v>
                </c:pt>
                <c:pt idx="10">
                  <c:v>46</c:v>
                </c:pt>
                <c:pt idx="11">
                  <c:v>68</c:v>
                </c:pt>
                <c:pt idx="12">
                  <c:v>65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TLV</c:v>
                </c:pt>
              </c:strCache>
            </c:strRef>
          </c:tx>
          <c:spPr>
            <a:solidFill>
              <a:srgbClr val="00BE5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650" u="none">
                    <a:solidFill>
                      <a:srgbClr val="FFFFFF"/>
                    </a:solidFill>
                    <a:latin typeface="Poppins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Sheet1!$A$2:$A$14</c:f>
              <c:multiLvlStrCache>
                <c:ptCount val="13"/>
                <c:lvl>
                  <c:pt idx="0">
                    <c:v>Feb-25</c:v>
                  </c:pt>
                  <c:pt idx="1">
                    <c:v>Mar-25</c:v>
                  </c:pt>
                  <c:pt idx="2">
                    <c:v>Abr-25</c:v>
                  </c:pt>
                  <c:pt idx="3">
                    <c:v>May-25</c:v>
                  </c:pt>
                  <c:pt idx="4">
                    <c:v>Jun-25</c:v>
                  </c:pt>
                  <c:pt idx="5">
                    <c:v>Jul-25</c:v>
                  </c:pt>
                  <c:pt idx="6">
                    <c:v>Ago-25</c:v>
                  </c:pt>
                  <c:pt idx="7">
                    <c:v>Sep-25</c:v>
                  </c:pt>
                  <c:pt idx="8">
                    <c:v>Oct-25</c:v>
                  </c:pt>
                  <c:pt idx="9">
                    <c:v>Nov-25</c:v>
                  </c:pt>
                  <c:pt idx="10">
                    <c:v>Dic-25</c:v>
                  </c:pt>
                  <c:pt idx="11">
                    <c:v>Ene-26</c:v>
                  </c:pt>
                  <c:pt idx="12">
                    <c:v>Feb-26</c:v>
                  </c:pt>
                </c:lvl>
              </c:multiLvlStrCache>
            </c:multiLvlStrRef>
          </c:cat>
          <c:val>
            <c:numRef>
              <c:f>Sheet1!$C$2:$C$14</c:f>
              <c:numCache>
                <c:formatCode>General</c:formatCode>
                <c:ptCount val="13"/>
                <c:pt idx="0">
                  <c:v>18</c:v>
                </c:pt>
                <c:pt idx="1">
                  <c:v>22</c:v>
                </c:pt>
                <c:pt idx="2">
                  <c:v>25</c:v>
                </c:pt>
                <c:pt idx="3">
                  <c:v>33</c:v>
                </c:pt>
                <c:pt idx="4">
                  <c:v>37</c:v>
                </c:pt>
                <c:pt idx="5">
                  <c:v>45</c:v>
                </c:pt>
                <c:pt idx="6">
                  <c:v>54</c:v>
                </c:pt>
                <c:pt idx="7">
                  <c:v>66</c:v>
                </c:pt>
                <c:pt idx="8">
                  <c:v>67</c:v>
                </c:pt>
                <c:pt idx="9">
                  <c:v>59</c:v>
                </c:pt>
                <c:pt idx="10">
                  <c:v>62</c:v>
                </c:pt>
                <c:pt idx="11">
                  <c:v>57</c:v>
                </c:pt>
                <c:pt idx="12">
                  <c:v>67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TIENDAS VIRTUALES</c:v>
                </c:pt>
              </c:strCache>
            </c:strRef>
          </c:tx>
          <c:spPr>
            <a:solidFill>
              <a:srgbClr val="005F1E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650" u="none">
                    <a:solidFill>
                      <a:srgbClr val="FFFFFF"/>
                    </a:solidFill>
                    <a:latin typeface="Poppins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Sheet1!$A$2:$A$14</c:f>
              <c:multiLvlStrCache>
                <c:ptCount val="13"/>
                <c:lvl>
                  <c:pt idx="0">
                    <c:v>Feb-25</c:v>
                  </c:pt>
                  <c:pt idx="1">
                    <c:v>Mar-25</c:v>
                  </c:pt>
                  <c:pt idx="2">
                    <c:v>Abr-25</c:v>
                  </c:pt>
                  <c:pt idx="3">
                    <c:v>May-25</c:v>
                  </c:pt>
                  <c:pt idx="4">
                    <c:v>Jun-25</c:v>
                  </c:pt>
                  <c:pt idx="5">
                    <c:v>Jul-25</c:v>
                  </c:pt>
                  <c:pt idx="6">
                    <c:v>Ago-25</c:v>
                  </c:pt>
                  <c:pt idx="7">
                    <c:v>Sep-25</c:v>
                  </c:pt>
                  <c:pt idx="8">
                    <c:v>Oct-25</c:v>
                  </c:pt>
                  <c:pt idx="9">
                    <c:v>Nov-25</c:v>
                  </c:pt>
                  <c:pt idx="10">
                    <c:v>Dic-25</c:v>
                  </c:pt>
                  <c:pt idx="11">
                    <c:v>Ene-26</c:v>
                  </c:pt>
                  <c:pt idx="12">
                    <c:v>Feb-26</c:v>
                  </c:pt>
                </c:lvl>
              </c:multiLvlStrCache>
            </c:multiLvlStrRef>
          </c:cat>
          <c:val>
            <c:numRef>
              <c:f>Sheet1!$D$2:$D$14</c:f>
              <c:numCache>
                <c:formatCode>General</c:formatCode>
                <c:ptCount val="13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4</c:v>
                </c:pt>
                <c:pt idx="5">
                  <c:v>3</c:v>
                </c:pt>
                <c:pt idx="6">
                  <c:v>3</c:v>
                </c:pt>
                <c:pt idx="7">
                  <c:v>6</c:v>
                </c:pt>
                <c:pt idx="8">
                  <c:v>7</c:v>
                </c:pt>
                <c:pt idx="9">
                  <c:v>6</c:v>
                </c:pt>
                <c:pt idx="10">
                  <c:v>9</c:v>
                </c:pt>
                <c:pt idx="11">
                  <c:v>10</c:v>
                </c:pt>
                <c:pt idx="12">
                  <c:v>4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VENDORS</c:v>
                </c:pt>
              </c:strCache>
            </c:strRef>
          </c:tx>
          <c:spPr>
            <a:solidFill>
              <a:srgbClr val="5B8DE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650" u="none">
                    <a:solidFill>
                      <a:srgbClr val="FFFFFF"/>
                    </a:solidFill>
                    <a:latin typeface="Poppins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Sheet1!$A$2:$A$14</c:f>
              <c:multiLvlStrCache>
                <c:ptCount val="13"/>
                <c:lvl>
                  <c:pt idx="0">
                    <c:v>Feb-25</c:v>
                  </c:pt>
                  <c:pt idx="1">
                    <c:v>Mar-25</c:v>
                  </c:pt>
                  <c:pt idx="2">
                    <c:v>Abr-25</c:v>
                  </c:pt>
                  <c:pt idx="3">
                    <c:v>May-25</c:v>
                  </c:pt>
                  <c:pt idx="4">
                    <c:v>Jun-25</c:v>
                  </c:pt>
                  <c:pt idx="5">
                    <c:v>Jul-25</c:v>
                  </c:pt>
                  <c:pt idx="6">
                    <c:v>Ago-25</c:v>
                  </c:pt>
                  <c:pt idx="7">
                    <c:v>Sep-25</c:v>
                  </c:pt>
                  <c:pt idx="8">
                    <c:v>Oct-25</c:v>
                  </c:pt>
                  <c:pt idx="9">
                    <c:v>Nov-25</c:v>
                  </c:pt>
                  <c:pt idx="10">
                    <c:v>Dic-25</c:v>
                  </c:pt>
                  <c:pt idx="11">
                    <c:v>Ene-26</c:v>
                  </c:pt>
                  <c:pt idx="12">
                    <c:v>Feb-26</c:v>
                  </c:pt>
                </c:lvl>
              </c:multiLvlStrCache>
            </c:multiLvlStrRef>
          </c:cat>
          <c:val>
            <c:numRef>
              <c:f>Sheet1!$E$2:$E$14</c:f>
              <c:numCache>
                <c:formatCode>General</c:formatCode>
                <c:ptCount val="13"/>
                <c:pt idx="0">
                  <c:v>0</c:v>
                </c:pt>
                <c:pt idx="1">
                  <c:v>6</c:v>
                </c:pt>
                <c:pt idx="2">
                  <c:v>3</c:v>
                </c:pt>
                <c:pt idx="3">
                  <c:v>6</c:v>
                </c:pt>
                <c:pt idx="4">
                  <c:v>3</c:v>
                </c:pt>
                <c:pt idx="5">
                  <c:v>5</c:v>
                </c:pt>
                <c:pt idx="6">
                  <c:v>4</c:v>
                </c:pt>
                <c:pt idx="7">
                  <c:v>12</c:v>
                </c:pt>
                <c:pt idx="8">
                  <c:v>10</c:v>
                </c:pt>
                <c:pt idx="9">
                  <c:v>18</c:v>
                </c:pt>
                <c:pt idx="10">
                  <c:v>10</c:v>
                </c:pt>
                <c:pt idx="11">
                  <c:v>11</c:v>
                </c:pt>
                <c:pt idx="12">
                  <c:v>13</c:v>
                </c:pt>
              </c:numCache>
            </c:numRef>
          </c:val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ECOSISTEMAS</c:v>
                </c:pt>
              </c:strCache>
            </c:strRef>
          </c:tx>
          <c:spPr>
            <a:solidFill>
              <a:srgbClr val="A0AEC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650" u="none">
                    <a:solidFill>
                      <a:srgbClr val="FFFFFF"/>
                    </a:solidFill>
                    <a:latin typeface="Poppins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Sheet1!$A$2:$A$14</c:f>
              <c:multiLvlStrCache>
                <c:ptCount val="13"/>
                <c:lvl>
                  <c:pt idx="0">
                    <c:v>Feb-25</c:v>
                  </c:pt>
                  <c:pt idx="1">
                    <c:v>Mar-25</c:v>
                  </c:pt>
                  <c:pt idx="2">
                    <c:v>Abr-25</c:v>
                  </c:pt>
                  <c:pt idx="3">
                    <c:v>May-25</c:v>
                  </c:pt>
                  <c:pt idx="4">
                    <c:v>Jun-25</c:v>
                  </c:pt>
                  <c:pt idx="5">
                    <c:v>Jul-25</c:v>
                  </c:pt>
                  <c:pt idx="6">
                    <c:v>Ago-25</c:v>
                  </c:pt>
                  <c:pt idx="7">
                    <c:v>Sep-25</c:v>
                  </c:pt>
                  <c:pt idx="8">
                    <c:v>Oct-25</c:v>
                  </c:pt>
                  <c:pt idx="9">
                    <c:v>Nov-25</c:v>
                  </c:pt>
                  <c:pt idx="10">
                    <c:v>Dic-25</c:v>
                  </c:pt>
                  <c:pt idx="11">
                    <c:v>Ene-26</c:v>
                  </c:pt>
                  <c:pt idx="12">
                    <c:v>Feb-26</c:v>
                  </c:pt>
                </c:lvl>
              </c:multiLvlStrCache>
            </c:multiLvlStrRef>
          </c:cat>
          <c:val>
            <c:numRef>
              <c:f>Sheet1!$F$2:$F$14</c:f>
              <c:numCache>
                <c:formatCode>General</c:formatCode>
                <c:ptCount val="13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1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650" u="none">
                  <a:solidFill>
                    <a:srgbClr val="FFFFFF"/>
                  </a:solidFill>
                  <a:latin typeface="Poppins"/>
                </a:defRPr>
              </a:pPr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0"/>
        <c:overlap val="10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850" b="0" i="0" u="none" strike="noStrike">
                <a:solidFill>
                  <a:srgbClr val="737D92"/>
                </a:solidFill>
                <a:latin typeface="Poppins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850">
              <a:solidFill>
                <a:srgbClr val="16203A"/>
              </a:solidFill>
              <a:latin typeface="Poppins"/>
              <a:cs typeface="Poppins"/>
      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TIENDAS</c:v>
                </c:pt>
              </c:strCache>
            </c:strRef>
          </c:tx>
          <c:spPr>
            <a:solidFill>
              <a:srgbClr val="1F4592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650" u="none">
                    <a:solidFill>
                      <a:srgbClr val="FFFFFF"/>
                    </a:solidFill>
                    <a:latin typeface="Poppins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Sheet1!$A$2:$A$14</c:f>
              <c:multiLvlStrCache>
                <c:ptCount val="13"/>
                <c:lvl>
                  <c:pt idx="0">
                    <c:v>Feb-25</c:v>
                  </c:pt>
                  <c:pt idx="1">
                    <c:v>Mar-25</c:v>
                  </c:pt>
                  <c:pt idx="2">
                    <c:v>Abr-25</c:v>
                  </c:pt>
                  <c:pt idx="3">
                    <c:v>May-25</c:v>
                  </c:pt>
                  <c:pt idx="4">
                    <c:v>Jun-25</c:v>
                  </c:pt>
                  <c:pt idx="5">
                    <c:v>Jul-25</c:v>
                  </c:pt>
                  <c:pt idx="6">
                    <c:v>Ago-25</c:v>
                  </c:pt>
                  <c:pt idx="7">
                    <c:v>Sep-25</c:v>
                  </c:pt>
                  <c:pt idx="8">
                    <c:v>Oct-25</c:v>
                  </c:pt>
                  <c:pt idx="9">
                    <c:v>Nov-25</c:v>
                  </c:pt>
                  <c:pt idx="10">
                    <c:v>Dic-25</c:v>
                  </c:pt>
                  <c:pt idx="11">
                    <c:v>Ene-26</c:v>
                  </c:pt>
                  <c:pt idx="12">
                    <c:v>Feb-26</c:v>
                  </c:pt>
                </c:lvl>
              </c:multiLvlStrCache>
            </c:multiLvlStrRef>
          </c:cat>
          <c:val>
            <c:numRef>
              <c:f>Sheet1!$B$2:$B$14</c:f>
              <c:numCache>
                <c:formatCode>General</c:formatCode>
                <c:ptCount val="13"/>
                <c:pt idx="0">
                  <c:v>3.42</c:v>
                </c:pt>
                <c:pt idx="1">
                  <c:v>2.43</c:v>
                </c:pt>
                <c:pt idx="2">
                  <c:v>1.94</c:v>
                </c:pt>
                <c:pt idx="3">
                  <c:v>3.03</c:v>
                </c:pt>
                <c:pt idx="4">
                  <c:v>3.65</c:v>
                </c:pt>
                <c:pt idx="5">
                  <c:v>5.45</c:v>
                </c:pt>
                <c:pt idx="6">
                  <c:v>3.12</c:v>
                </c:pt>
                <c:pt idx="7">
                  <c:v>6.66</c:v>
                </c:pt>
                <c:pt idx="8">
                  <c:v>5.04</c:v>
                </c:pt>
                <c:pt idx="9">
                  <c:v>3.58</c:v>
                </c:pt>
                <c:pt idx="10">
                  <c:v>5.53</c:v>
                </c:pt>
                <c:pt idx="11">
                  <c:v>6.27</c:v>
                </c:pt>
                <c:pt idx="12">
                  <c:v>7.96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TLV</c:v>
                </c:pt>
              </c:strCache>
            </c:strRef>
          </c:tx>
          <c:spPr>
            <a:solidFill>
              <a:srgbClr val="00BE50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650" u="none">
                    <a:solidFill>
                      <a:srgbClr val="FFFFFF"/>
                    </a:solidFill>
                    <a:latin typeface="Poppins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Sheet1!$A$2:$A$14</c:f>
              <c:multiLvlStrCache>
                <c:ptCount val="13"/>
                <c:lvl>
                  <c:pt idx="0">
                    <c:v>Feb-25</c:v>
                  </c:pt>
                  <c:pt idx="1">
                    <c:v>Mar-25</c:v>
                  </c:pt>
                  <c:pt idx="2">
                    <c:v>Abr-25</c:v>
                  </c:pt>
                  <c:pt idx="3">
                    <c:v>May-25</c:v>
                  </c:pt>
                  <c:pt idx="4">
                    <c:v>Jun-25</c:v>
                  </c:pt>
                  <c:pt idx="5">
                    <c:v>Jul-25</c:v>
                  </c:pt>
                  <c:pt idx="6">
                    <c:v>Ago-25</c:v>
                  </c:pt>
                  <c:pt idx="7">
                    <c:v>Sep-25</c:v>
                  </c:pt>
                  <c:pt idx="8">
                    <c:v>Oct-25</c:v>
                  </c:pt>
                  <c:pt idx="9">
                    <c:v>Nov-25</c:v>
                  </c:pt>
                  <c:pt idx="10">
                    <c:v>Dic-25</c:v>
                  </c:pt>
                  <c:pt idx="11">
                    <c:v>Ene-26</c:v>
                  </c:pt>
                  <c:pt idx="12">
                    <c:v>Feb-26</c:v>
                  </c:pt>
                </c:lvl>
              </c:multiLvlStrCache>
            </c:multiLvlStrRef>
          </c:cat>
          <c:val>
            <c:numRef>
              <c:f>Sheet1!$C$2:$C$14</c:f>
              <c:numCache>
                <c:formatCode>General</c:formatCode>
                <c:ptCount val="13"/>
                <c:pt idx="0">
                  <c:v>0.68</c:v>
                </c:pt>
                <c:pt idx="1">
                  <c:v>1.2</c:v>
                </c:pt>
                <c:pt idx="2">
                  <c:v>1.88</c:v>
                </c:pt>
                <c:pt idx="3">
                  <c:v>1.96</c:v>
                </c:pt>
                <c:pt idx="4">
                  <c:v>2.35</c:v>
                </c:pt>
                <c:pt idx="5">
                  <c:v>3.47</c:v>
                </c:pt>
                <c:pt idx="6">
                  <c:v>4.13</c:v>
                </c:pt>
                <c:pt idx="7">
                  <c:v>3.82</c:v>
                </c:pt>
                <c:pt idx="8">
                  <c:v>5</c:v>
                </c:pt>
                <c:pt idx="9">
                  <c:v>4.12</c:v>
                </c:pt>
                <c:pt idx="10">
                  <c:v>3.39</c:v>
                </c:pt>
                <c:pt idx="11">
                  <c:v>3.47</c:v>
                </c:pt>
                <c:pt idx="12">
                  <c:v>4.04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TIENDAS VIRTUALES</c:v>
                </c:pt>
              </c:strCache>
            </c:strRef>
          </c:tx>
          <c:spPr>
            <a:solidFill>
              <a:srgbClr val="005F1E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650" u="none">
                    <a:solidFill>
                      <a:srgbClr val="FFFFFF"/>
                    </a:solidFill>
                    <a:latin typeface="Poppins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Sheet1!$A$2:$A$14</c:f>
              <c:multiLvlStrCache>
                <c:ptCount val="13"/>
                <c:lvl>
                  <c:pt idx="0">
                    <c:v>Feb-25</c:v>
                  </c:pt>
                  <c:pt idx="1">
                    <c:v>Mar-25</c:v>
                  </c:pt>
                  <c:pt idx="2">
                    <c:v>Abr-25</c:v>
                  </c:pt>
                  <c:pt idx="3">
                    <c:v>May-25</c:v>
                  </c:pt>
                  <c:pt idx="4">
                    <c:v>Jun-25</c:v>
                  </c:pt>
                  <c:pt idx="5">
                    <c:v>Jul-25</c:v>
                  </c:pt>
                  <c:pt idx="6">
                    <c:v>Ago-25</c:v>
                  </c:pt>
                  <c:pt idx="7">
                    <c:v>Sep-25</c:v>
                  </c:pt>
                  <c:pt idx="8">
                    <c:v>Oct-25</c:v>
                  </c:pt>
                  <c:pt idx="9">
                    <c:v>Nov-25</c:v>
                  </c:pt>
                  <c:pt idx="10">
                    <c:v>Dic-25</c:v>
                  </c:pt>
                  <c:pt idx="11">
                    <c:v>Ene-26</c:v>
                  </c:pt>
                  <c:pt idx="12">
                    <c:v>Feb-26</c:v>
                  </c:pt>
                </c:lvl>
              </c:multiLvlStrCache>
            </c:multiLvlStrRef>
          </c:cat>
          <c:val>
            <c:numRef>
              <c:f>Sheet1!$D$2:$D$14</c:f>
              <c:numCache>
                <c:formatCode>General</c:formatCode>
                <c:ptCount val="13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0.45</c:v>
                </c:pt>
                <c:pt idx="5">
                  <c:v>0.24</c:v>
                </c:pt>
                <c:pt idx="6">
                  <c:v>0.23</c:v>
                </c:pt>
                <c:pt idx="7">
                  <c:v>0.94</c:v>
                </c:pt>
                <c:pt idx="8">
                  <c:v>1.38</c:v>
                </c:pt>
                <c:pt idx="9">
                  <c:v>0.85</c:v>
                </c:pt>
                <c:pt idx="10">
                  <c:v>0.84</c:v>
                </c:pt>
                <c:pt idx="11">
                  <c:v>0.97</c:v>
                </c:pt>
                <c:pt idx="12">
                  <c:v>0.45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VENDORS</c:v>
                </c:pt>
              </c:strCache>
            </c:strRef>
          </c:tx>
          <c:spPr>
            <a:solidFill>
              <a:srgbClr val="5B8DEF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650" u="none">
                    <a:solidFill>
                      <a:srgbClr val="FFFFFF"/>
                    </a:solidFill>
                    <a:latin typeface="Poppins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Sheet1!$A$2:$A$14</c:f>
              <c:multiLvlStrCache>
                <c:ptCount val="13"/>
                <c:lvl>
                  <c:pt idx="0">
                    <c:v>Feb-25</c:v>
                  </c:pt>
                  <c:pt idx="1">
                    <c:v>Mar-25</c:v>
                  </c:pt>
                  <c:pt idx="2">
                    <c:v>Abr-25</c:v>
                  </c:pt>
                  <c:pt idx="3">
                    <c:v>May-25</c:v>
                  </c:pt>
                  <c:pt idx="4">
                    <c:v>Jun-25</c:v>
                  </c:pt>
                  <c:pt idx="5">
                    <c:v>Jul-25</c:v>
                  </c:pt>
                  <c:pt idx="6">
                    <c:v>Ago-25</c:v>
                  </c:pt>
                  <c:pt idx="7">
                    <c:v>Sep-25</c:v>
                  </c:pt>
                  <c:pt idx="8">
                    <c:v>Oct-25</c:v>
                  </c:pt>
                  <c:pt idx="9">
                    <c:v>Nov-25</c:v>
                  </c:pt>
                  <c:pt idx="10">
                    <c:v>Dic-25</c:v>
                  </c:pt>
                  <c:pt idx="11">
                    <c:v>Ene-26</c:v>
                  </c:pt>
                  <c:pt idx="12">
                    <c:v>Feb-26</c:v>
                  </c:pt>
                </c:lvl>
              </c:multiLvlStrCache>
            </c:multiLvlStrRef>
          </c:cat>
          <c:val>
            <c:numRef>
              <c:f>Sheet1!$E$2:$E$14</c:f>
              <c:numCache>
                <c:formatCode>General</c:formatCode>
                <c:ptCount val="13"/>
                <c:pt idx="0">
                  <c:v>0</c:v>
                </c:pt>
                <c:pt idx="1">
                  <c:v>0.47</c:v>
                </c:pt>
                <c:pt idx="2">
                  <c:v>0.35</c:v>
                </c:pt>
                <c:pt idx="3">
                  <c:v>0.75</c:v>
                </c:pt>
                <c:pt idx="4">
                  <c:v>0.22</c:v>
                </c:pt>
                <c:pt idx="5">
                  <c:v>0.3</c:v>
                </c:pt>
                <c:pt idx="6">
                  <c:v>0.27</c:v>
                </c:pt>
                <c:pt idx="7">
                  <c:v>1.26</c:v>
                </c:pt>
                <c:pt idx="8">
                  <c:v>0.92</c:v>
                </c:pt>
                <c:pt idx="9">
                  <c:v>2.99</c:v>
                </c:pt>
                <c:pt idx="10">
                  <c:v>1.31</c:v>
                </c:pt>
                <c:pt idx="11">
                  <c:v>1.17</c:v>
                </c:pt>
                <c:pt idx="12">
                  <c:v>1.57</c:v>
                </c:pt>
              </c:numCache>
            </c:numRef>
          </c:val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ECOSISTEMAS</c:v>
                </c:pt>
              </c:strCache>
            </c:strRef>
          </c:tx>
          <c:spPr>
            <a:solidFill>
              <a:srgbClr val="A0AEC0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650" u="none">
                    <a:solidFill>
                      <a:srgbClr val="FFFFFF"/>
                    </a:solidFill>
                    <a:latin typeface="Poppins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Sheet1!$A$2:$A$14</c:f>
              <c:multiLvlStrCache>
                <c:ptCount val="13"/>
                <c:lvl>
                  <c:pt idx="0">
                    <c:v>Feb-25</c:v>
                  </c:pt>
                  <c:pt idx="1">
                    <c:v>Mar-25</c:v>
                  </c:pt>
                  <c:pt idx="2">
                    <c:v>Abr-25</c:v>
                  </c:pt>
                  <c:pt idx="3">
                    <c:v>May-25</c:v>
                  </c:pt>
                  <c:pt idx="4">
                    <c:v>Jun-25</c:v>
                  </c:pt>
                  <c:pt idx="5">
                    <c:v>Jul-25</c:v>
                  </c:pt>
                  <c:pt idx="6">
                    <c:v>Ago-25</c:v>
                  </c:pt>
                  <c:pt idx="7">
                    <c:v>Sep-25</c:v>
                  </c:pt>
                  <c:pt idx="8">
                    <c:v>Oct-25</c:v>
                  </c:pt>
                  <c:pt idx="9">
                    <c:v>Nov-25</c:v>
                  </c:pt>
                  <c:pt idx="10">
                    <c:v>Dic-25</c:v>
                  </c:pt>
                  <c:pt idx="11">
                    <c:v>Ene-26</c:v>
                  </c:pt>
                  <c:pt idx="12">
                    <c:v>Feb-26</c:v>
                  </c:pt>
                </c:lvl>
              </c:multiLvlStrCache>
            </c:multiLvlStrRef>
          </c:cat>
          <c:val>
            <c:numRef>
              <c:f>Sheet1!$F$2:$F$14</c:f>
              <c:numCache>
                <c:formatCode>General</c:formatCode>
                <c:ptCount val="13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0.11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0" i="0" strike="noStrike" sz="650" u="none">
                  <a:solidFill>
                    <a:srgbClr val="FFFFFF"/>
                  </a:solidFill>
                  <a:latin typeface="Poppins"/>
                </a:defRPr>
              </a:pPr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0"/>
        <c:overlap val="10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850" b="0" i="0" u="none" strike="noStrike">
                <a:solidFill>
                  <a:srgbClr val="737D92"/>
                </a:solidFill>
                <a:latin typeface="Poppins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850">
              <a:solidFill>
                <a:srgbClr val="16203A"/>
              </a:solidFill>
              <a:latin typeface="Poppins"/>
              <a:cs typeface="Poppins"/>
      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≤25k</c:v>
                </c:pt>
              </c:strCache>
            </c:strRef>
          </c:tx>
          <c:spPr>
            <a:solidFill>
              <a:srgbClr val="A0AEC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650" u="none">
                    <a:solidFill>
                      <a:srgbClr val="FFFFFF"/>
                    </a:solidFill>
                    <a:latin typeface="Poppins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Sheet1!$A$2:$A$14</c:f>
              <c:multiLvlStrCache>
                <c:ptCount val="13"/>
                <c:lvl>
                  <c:pt idx="0">
                    <c:v>Feb-25</c:v>
                  </c:pt>
                  <c:pt idx="1">
                    <c:v>Mar-25</c:v>
                  </c:pt>
                  <c:pt idx="2">
                    <c:v>Abr-25</c:v>
                  </c:pt>
                  <c:pt idx="3">
                    <c:v>May-25</c:v>
                  </c:pt>
                  <c:pt idx="4">
                    <c:v>Jun-25</c:v>
                  </c:pt>
                  <c:pt idx="5">
                    <c:v>Jul-25</c:v>
                  </c:pt>
                  <c:pt idx="6">
                    <c:v>Ago-25</c:v>
                  </c:pt>
                  <c:pt idx="7">
                    <c:v>Sep-25</c:v>
                  </c:pt>
                  <c:pt idx="8">
                    <c:v>Oct-25</c:v>
                  </c:pt>
                  <c:pt idx="9">
                    <c:v>Nov-25</c:v>
                  </c:pt>
                  <c:pt idx="10">
                    <c:v>Dic-25</c:v>
                  </c:pt>
                  <c:pt idx="11">
                    <c:v>Ene-26</c:v>
                  </c:pt>
                  <c:pt idx="12">
                    <c:v>Feb-26</c:v>
                  </c:pt>
                </c:lvl>
              </c:multiLvlStrCache>
            </c:multiLvlStrRef>
          </c:cat>
          <c:val>
            <c:numRef>
              <c:f>Sheet1!$B$2:$B$14</c:f>
              <c:numCache>
                <c:formatCode>General</c:formatCode>
                <c:ptCount val="13"/>
                <c:pt idx="0">
                  <c:v>4</c:v>
                </c:pt>
                <c:pt idx="1">
                  <c:v>2</c:v>
                </c:pt>
                <c:pt idx="2">
                  <c:v>2</c:v>
                </c:pt>
                <c:pt idx="3">
                  <c:v>1</c:v>
                </c:pt>
                <c:pt idx="4">
                  <c:v>0</c:v>
                </c:pt>
                <c:pt idx="5">
                  <c:v>4</c:v>
                </c:pt>
                <c:pt idx="6">
                  <c:v>3</c:v>
                </c:pt>
                <c:pt idx="7">
                  <c:v>6</c:v>
                </c:pt>
                <c:pt idx="8">
                  <c:v>0</c:v>
                </c:pt>
                <c:pt idx="9">
                  <c:v>1</c:v>
                </c:pt>
                <c:pt idx="10">
                  <c:v>3</c:v>
                </c:pt>
                <c:pt idx="11">
                  <c:v>1</c:v>
                </c:pt>
                <c:pt idx="12">
                  <c:v>2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25-50k</c:v>
                </c:pt>
              </c:strCache>
            </c:strRef>
          </c:tx>
          <c:spPr>
            <a:solidFill>
              <a:srgbClr val="5B8DE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650" u="none">
                    <a:solidFill>
                      <a:srgbClr val="FFFFFF"/>
                    </a:solidFill>
                    <a:latin typeface="Poppins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Sheet1!$A$2:$A$14</c:f>
              <c:multiLvlStrCache>
                <c:ptCount val="13"/>
                <c:lvl>
                  <c:pt idx="0">
                    <c:v>Feb-25</c:v>
                  </c:pt>
                  <c:pt idx="1">
                    <c:v>Mar-25</c:v>
                  </c:pt>
                  <c:pt idx="2">
                    <c:v>Abr-25</c:v>
                  </c:pt>
                  <c:pt idx="3">
                    <c:v>May-25</c:v>
                  </c:pt>
                  <c:pt idx="4">
                    <c:v>Jun-25</c:v>
                  </c:pt>
                  <c:pt idx="5">
                    <c:v>Jul-25</c:v>
                  </c:pt>
                  <c:pt idx="6">
                    <c:v>Ago-25</c:v>
                  </c:pt>
                  <c:pt idx="7">
                    <c:v>Sep-25</c:v>
                  </c:pt>
                  <c:pt idx="8">
                    <c:v>Oct-25</c:v>
                  </c:pt>
                  <c:pt idx="9">
                    <c:v>Nov-25</c:v>
                  </c:pt>
                  <c:pt idx="10">
                    <c:v>Dic-25</c:v>
                  </c:pt>
                  <c:pt idx="11">
                    <c:v>Ene-26</c:v>
                  </c:pt>
                  <c:pt idx="12">
                    <c:v>Feb-26</c:v>
                  </c:pt>
                </c:lvl>
              </c:multiLvlStrCache>
            </c:multiLvlStrRef>
          </c:cat>
          <c:val>
            <c:numRef>
              <c:f>Sheet1!$C$2:$C$14</c:f>
              <c:numCache>
                <c:formatCode>General</c:formatCode>
                <c:ptCount val="13"/>
                <c:pt idx="0">
                  <c:v>9</c:v>
                </c:pt>
                <c:pt idx="1">
                  <c:v>6</c:v>
                </c:pt>
                <c:pt idx="2">
                  <c:v>2</c:v>
                </c:pt>
                <c:pt idx="3">
                  <c:v>14</c:v>
                </c:pt>
                <c:pt idx="4">
                  <c:v>7</c:v>
                </c:pt>
                <c:pt idx="5">
                  <c:v>6</c:v>
                </c:pt>
                <c:pt idx="6">
                  <c:v>9</c:v>
                </c:pt>
                <c:pt idx="7">
                  <c:v>5</c:v>
                </c:pt>
                <c:pt idx="8">
                  <c:v>9</c:v>
                </c:pt>
                <c:pt idx="9">
                  <c:v>12</c:v>
                </c:pt>
                <c:pt idx="10">
                  <c:v>14</c:v>
                </c:pt>
                <c:pt idx="11">
                  <c:v>14</c:v>
                </c:pt>
                <c:pt idx="12">
                  <c:v>6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50-100k</c:v>
                </c:pt>
              </c:strCache>
            </c:strRef>
          </c:tx>
          <c:spPr>
            <a:solidFill>
              <a:srgbClr val="1F4592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650" u="none">
                    <a:solidFill>
                      <a:srgbClr val="FFFFFF"/>
                    </a:solidFill>
                    <a:latin typeface="Poppins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Sheet1!$A$2:$A$14</c:f>
              <c:multiLvlStrCache>
                <c:ptCount val="13"/>
                <c:lvl>
                  <c:pt idx="0">
                    <c:v>Feb-25</c:v>
                  </c:pt>
                  <c:pt idx="1">
                    <c:v>Mar-25</c:v>
                  </c:pt>
                  <c:pt idx="2">
                    <c:v>Abr-25</c:v>
                  </c:pt>
                  <c:pt idx="3">
                    <c:v>May-25</c:v>
                  </c:pt>
                  <c:pt idx="4">
                    <c:v>Jun-25</c:v>
                  </c:pt>
                  <c:pt idx="5">
                    <c:v>Jul-25</c:v>
                  </c:pt>
                  <c:pt idx="6">
                    <c:v>Ago-25</c:v>
                  </c:pt>
                  <c:pt idx="7">
                    <c:v>Sep-25</c:v>
                  </c:pt>
                  <c:pt idx="8">
                    <c:v>Oct-25</c:v>
                  </c:pt>
                  <c:pt idx="9">
                    <c:v>Nov-25</c:v>
                  </c:pt>
                  <c:pt idx="10">
                    <c:v>Dic-25</c:v>
                  </c:pt>
                  <c:pt idx="11">
                    <c:v>Ene-26</c:v>
                  </c:pt>
                  <c:pt idx="12">
                    <c:v>Feb-26</c:v>
                  </c:pt>
                </c:lvl>
              </c:multiLvlStrCache>
            </c:multiLvlStrRef>
          </c:cat>
          <c:val>
            <c:numRef>
              <c:f>Sheet1!$D$2:$D$14</c:f>
              <c:numCache>
                <c:formatCode>General</c:formatCode>
                <c:ptCount val="13"/>
                <c:pt idx="0">
                  <c:v>22</c:v>
                </c:pt>
                <c:pt idx="1">
                  <c:v>20</c:v>
                </c:pt>
                <c:pt idx="2">
                  <c:v>25</c:v>
                </c:pt>
                <c:pt idx="3">
                  <c:v>24</c:v>
                </c:pt>
                <c:pt idx="4">
                  <c:v>33</c:v>
                </c:pt>
                <c:pt idx="5">
                  <c:v>37</c:v>
                </c:pt>
                <c:pt idx="6">
                  <c:v>46</c:v>
                </c:pt>
                <c:pt idx="7">
                  <c:v>60</c:v>
                </c:pt>
                <c:pt idx="8">
                  <c:v>55</c:v>
                </c:pt>
                <c:pt idx="9">
                  <c:v>44</c:v>
                </c:pt>
                <c:pt idx="10">
                  <c:v>53</c:v>
                </c:pt>
                <c:pt idx="11">
                  <c:v>56</c:v>
                </c:pt>
                <c:pt idx="12">
                  <c:v>56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100-200k</c:v>
                </c:pt>
              </c:strCache>
            </c:strRef>
          </c:tx>
          <c:spPr>
            <a:solidFill>
              <a:srgbClr val="005F1E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650" u="none">
                    <a:solidFill>
                      <a:srgbClr val="FFFFFF"/>
                    </a:solidFill>
                    <a:latin typeface="Poppins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Sheet1!$A$2:$A$14</c:f>
              <c:multiLvlStrCache>
                <c:ptCount val="13"/>
                <c:lvl>
                  <c:pt idx="0">
                    <c:v>Feb-25</c:v>
                  </c:pt>
                  <c:pt idx="1">
                    <c:v>Mar-25</c:v>
                  </c:pt>
                  <c:pt idx="2">
                    <c:v>Abr-25</c:v>
                  </c:pt>
                  <c:pt idx="3">
                    <c:v>May-25</c:v>
                  </c:pt>
                  <c:pt idx="4">
                    <c:v>Jun-25</c:v>
                  </c:pt>
                  <c:pt idx="5">
                    <c:v>Jul-25</c:v>
                  </c:pt>
                  <c:pt idx="6">
                    <c:v>Ago-25</c:v>
                  </c:pt>
                  <c:pt idx="7">
                    <c:v>Sep-25</c:v>
                  </c:pt>
                  <c:pt idx="8">
                    <c:v>Oct-25</c:v>
                  </c:pt>
                  <c:pt idx="9">
                    <c:v>Nov-25</c:v>
                  </c:pt>
                  <c:pt idx="10">
                    <c:v>Dic-25</c:v>
                  </c:pt>
                  <c:pt idx="11">
                    <c:v>Ene-26</c:v>
                  </c:pt>
                  <c:pt idx="12">
                    <c:v>Feb-26</c:v>
                  </c:pt>
                </c:lvl>
              </c:multiLvlStrCache>
            </c:multiLvlStrRef>
          </c:cat>
          <c:val>
            <c:numRef>
              <c:f>Sheet1!$E$2:$E$14</c:f>
              <c:numCache>
                <c:formatCode>General</c:formatCode>
                <c:ptCount val="13"/>
                <c:pt idx="0">
                  <c:v>13</c:v>
                </c:pt>
                <c:pt idx="1">
                  <c:v>21</c:v>
                </c:pt>
                <c:pt idx="2">
                  <c:v>18</c:v>
                </c:pt>
                <c:pt idx="3">
                  <c:v>21</c:v>
                </c:pt>
                <c:pt idx="4">
                  <c:v>24</c:v>
                </c:pt>
                <c:pt idx="5">
                  <c:v>30</c:v>
                </c:pt>
                <c:pt idx="6">
                  <c:v>28</c:v>
                </c:pt>
                <c:pt idx="7">
                  <c:v>44</c:v>
                </c:pt>
                <c:pt idx="8">
                  <c:v>54</c:v>
                </c:pt>
                <c:pt idx="9">
                  <c:v>49</c:v>
                </c:pt>
                <c:pt idx="10">
                  <c:v>34</c:v>
                </c:pt>
                <c:pt idx="11">
                  <c:v>45</c:v>
                </c:pt>
                <c:pt idx="12">
                  <c:v>53</c:v>
                </c:pt>
              </c:numCache>
            </c:numRef>
          </c:val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200-500k</c:v>
                </c:pt>
              </c:strCache>
            </c:strRef>
          </c:tx>
          <c:spPr>
            <a:solidFill>
              <a:srgbClr val="00BE5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650" u="none">
                    <a:solidFill>
                      <a:srgbClr val="FFFFFF"/>
                    </a:solidFill>
                    <a:latin typeface="Poppins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Sheet1!$A$2:$A$14</c:f>
              <c:multiLvlStrCache>
                <c:ptCount val="13"/>
                <c:lvl>
                  <c:pt idx="0">
                    <c:v>Feb-25</c:v>
                  </c:pt>
                  <c:pt idx="1">
                    <c:v>Mar-25</c:v>
                  </c:pt>
                  <c:pt idx="2">
                    <c:v>Abr-25</c:v>
                  </c:pt>
                  <c:pt idx="3">
                    <c:v>May-25</c:v>
                  </c:pt>
                  <c:pt idx="4">
                    <c:v>Jun-25</c:v>
                  </c:pt>
                  <c:pt idx="5">
                    <c:v>Jul-25</c:v>
                  </c:pt>
                  <c:pt idx="6">
                    <c:v>Ago-25</c:v>
                  </c:pt>
                  <c:pt idx="7">
                    <c:v>Sep-25</c:v>
                  </c:pt>
                  <c:pt idx="8">
                    <c:v>Oct-25</c:v>
                  </c:pt>
                  <c:pt idx="9">
                    <c:v>Nov-25</c:v>
                  </c:pt>
                  <c:pt idx="10">
                    <c:v>Dic-25</c:v>
                  </c:pt>
                  <c:pt idx="11">
                    <c:v>Ene-26</c:v>
                  </c:pt>
                  <c:pt idx="12">
                    <c:v>Feb-26</c:v>
                  </c:pt>
                </c:lvl>
              </c:multiLvlStrCache>
            </c:multiLvlStrRef>
          </c:cat>
          <c:val>
            <c:numRef>
              <c:f>Sheet1!$F$2:$F$14</c:f>
              <c:numCache>
                <c:formatCode>General</c:formatCode>
                <c:ptCount val="13"/>
                <c:pt idx="0">
                  <c:v>4</c:v>
                </c:pt>
                <c:pt idx="1">
                  <c:v>3</c:v>
                </c:pt>
                <c:pt idx="2">
                  <c:v>5</c:v>
                </c:pt>
                <c:pt idx="3">
                  <c:v>8</c:v>
                </c:pt>
                <c:pt idx="4">
                  <c:v>15</c:v>
                </c:pt>
                <c:pt idx="5">
                  <c:v>21</c:v>
                </c:pt>
                <c:pt idx="6">
                  <c:v>11</c:v>
                </c:pt>
                <c:pt idx="7">
                  <c:v>23</c:v>
                </c:pt>
                <c:pt idx="8">
                  <c:v>19</c:v>
                </c:pt>
                <c:pt idx="9">
                  <c:v>14</c:v>
                </c:pt>
                <c:pt idx="10">
                  <c:v>22</c:v>
                </c:pt>
                <c:pt idx="11">
                  <c:v>30</c:v>
                </c:pt>
                <c:pt idx="12">
                  <c:v>31</c:v>
                </c:pt>
              </c:numCache>
            </c:numRef>
          </c:val>
        </c:ser>
        <c:ser>
          <c:idx val="5"/>
          <c:order val="5"/>
          <c:tx>
            <c:strRef>
              <c:f>Sheet1!$G$1</c:f>
              <c:strCache>
                <c:ptCount val="1"/>
                <c:pt idx="0">
                  <c:v>&gt;500k</c:v>
                </c:pt>
              </c:strCache>
            </c:strRef>
          </c:tx>
          <c:spPr>
            <a:solidFill>
              <a:srgbClr val="7ED957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650" u="none">
                    <a:solidFill>
                      <a:srgbClr val="FFFFFF"/>
                    </a:solidFill>
                    <a:latin typeface="Poppins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Sheet1!$A$2:$A$14</c:f>
              <c:multiLvlStrCache>
                <c:ptCount val="13"/>
                <c:lvl>
                  <c:pt idx="0">
                    <c:v>Feb-25</c:v>
                  </c:pt>
                  <c:pt idx="1">
                    <c:v>Mar-25</c:v>
                  </c:pt>
                  <c:pt idx="2">
                    <c:v>Abr-25</c:v>
                  </c:pt>
                  <c:pt idx="3">
                    <c:v>May-25</c:v>
                  </c:pt>
                  <c:pt idx="4">
                    <c:v>Jun-25</c:v>
                  </c:pt>
                  <c:pt idx="5">
                    <c:v>Jul-25</c:v>
                  </c:pt>
                  <c:pt idx="6">
                    <c:v>Ago-25</c:v>
                  </c:pt>
                  <c:pt idx="7">
                    <c:v>Sep-25</c:v>
                  </c:pt>
                  <c:pt idx="8">
                    <c:v>Oct-25</c:v>
                  </c:pt>
                  <c:pt idx="9">
                    <c:v>Nov-25</c:v>
                  </c:pt>
                  <c:pt idx="10">
                    <c:v>Dic-25</c:v>
                  </c:pt>
                  <c:pt idx="11">
                    <c:v>Ene-26</c:v>
                  </c:pt>
                  <c:pt idx="12">
                    <c:v>Feb-26</c:v>
                  </c:pt>
                </c:lvl>
              </c:multiLvlStrCache>
            </c:multiLvlStrRef>
          </c:cat>
          <c:val>
            <c:numRef>
              <c:f>Sheet1!$G$2:$G$14</c:f>
              <c:numCache>
                <c:formatCode>General</c:formatCode>
                <c:ptCount val="13"/>
                <c:pt idx="0">
                  <c:v>1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1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1</c:v>
                </c:pt>
                <c:pt idx="9">
                  <c:v>1</c:v>
                </c:pt>
                <c:pt idx="10">
                  <c:v>1</c:v>
                </c:pt>
                <c:pt idx="11">
                  <c:v>0</c:v>
                </c:pt>
                <c:pt idx="12">
                  <c:v>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650" u="none">
                  <a:solidFill>
                    <a:srgbClr val="FFFFFF"/>
                  </a:solidFill>
                  <a:latin typeface="Poppins"/>
                </a:defRPr>
              </a:pPr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0"/>
        <c:overlap val="10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850" b="0" i="0" u="none" strike="noStrike">
                <a:solidFill>
                  <a:srgbClr val="737D92"/>
                </a:solidFill>
                <a:latin typeface="Poppins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850">
              <a:solidFill>
                <a:srgbClr val="16203A"/>
              </a:solidFill>
              <a:latin typeface="Poppins"/>
              <a:cs typeface="Poppins"/>
      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&lt;14%</c:v>
                </c:pt>
              </c:strCache>
            </c:strRef>
          </c:tx>
          <c:spPr>
            <a:solidFill>
              <a:srgbClr val="A0AEC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650" u="none">
                    <a:solidFill>
                      <a:srgbClr val="FFFFFF"/>
                    </a:solidFill>
                    <a:latin typeface="Poppins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Sheet1!$A$2:$A$14</c:f>
              <c:multiLvlStrCache>
                <c:ptCount val="13"/>
                <c:lvl>
                  <c:pt idx="0">
                    <c:v>Feb-25</c:v>
                  </c:pt>
                  <c:pt idx="1">
                    <c:v>Mar-25</c:v>
                  </c:pt>
                  <c:pt idx="2">
                    <c:v>Abr-25</c:v>
                  </c:pt>
                  <c:pt idx="3">
                    <c:v>May-25</c:v>
                  </c:pt>
                  <c:pt idx="4">
                    <c:v>Jun-25</c:v>
                  </c:pt>
                  <c:pt idx="5">
                    <c:v>Jul-25</c:v>
                  </c:pt>
                  <c:pt idx="6">
                    <c:v>Ago-25</c:v>
                  </c:pt>
                  <c:pt idx="7">
                    <c:v>Sep-25</c:v>
                  </c:pt>
                  <c:pt idx="8">
                    <c:v>Oct-25</c:v>
                  </c:pt>
                  <c:pt idx="9">
                    <c:v>Nov-25</c:v>
                  </c:pt>
                  <c:pt idx="10">
                    <c:v>Dic-25</c:v>
                  </c:pt>
                  <c:pt idx="11">
                    <c:v>Ene-26</c:v>
                  </c:pt>
                  <c:pt idx="12">
                    <c:v>Feb-26</c:v>
                  </c:pt>
                </c:lvl>
              </c:multiLvlStrCache>
            </c:multiLvlStrRef>
          </c:cat>
          <c:val>
            <c:numRef>
              <c:f>Sheet1!$B$2:$B$14</c:f>
              <c:numCache>
                <c:formatCode>General</c:formatCode>
                <c:ptCount val="13"/>
                <c:pt idx="0">
                  <c:v>3</c:v>
                </c:pt>
                <c:pt idx="1">
                  <c:v>1</c:v>
                </c:pt>
                <c:pt idx="2">
                  <c:v>1</c:v>
                </c:pt>
                <c:pt idx="3">
                  <c:v>4</c:v>
                </c:pt>
                <c:pt idx="4">
                  <c:v>4</c:v>
                </c:pt>
                <c:pt idx="5">
                  <c:v>6</c:v>
                </c:pt>
                <c:pt idx="6">
                  <c:v>5</c:v>
                </c:pt>
                <c:pt idx="7">
                  <c:v>9</c:v>
                </c:pt>
                <c:pt idx="8">
                  <c:v>4</c:v>
                </c:pt>
                <c:pt idx="9">
                  <c:v>6</c:v>
                </c:pt>
                <c:pt idx="10">
                  <c:v>6</c:v>
                </c:pt>
                <c:pt idx="11">
                  <c:v>6</c:v>
                </c:pt>
                <c:pt idx="12">
                  <c:v>7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14-16%</c:v>
                </c:pt>
              </c:strCache>
            </c:strRef>
          </c:tx>
          <c:spPr>
            <a:solidFill>
              <a:srgbClr val="5B8DE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650" u="none">
                    <a:solidFill>
                      <a:srgbClr val="FFFFFF"/>
                    </a:solidFill>
                    <a:latin typeface="Poppins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Sheet1!$A$2:$A$14</c:f>
              <c:multiLvlStrCache>
                <c:ptCount val="13"/>
                <c:lvl>
                  <c:pt idx="0">
                    <c:v>Feb-25</c:v>
                  </c:pt>
                  <c:pt idx="1">
                    <c:v>Mar-25</c:v>
                  </c:pt>
                  <c:pt idx="2">
                    <c:v>Abr-25</c:v>
                  </c:pt>
                  <c:pt idx="3">
                    <c:v>May-25</c:v>
                  </c:pt>
                  <c:pt idx="4">
                    <c:v>Jun-25</c:v>
                  </c:pt>
                  <c:pt idx="5">
                    <c:v>Jul-25</c:v>
                  </c:pt>
                  <c:pt idx="6">
                    <c:v>Ago-25</c:v>
                  </c:pt>
                  <c:pt idx="7">
                    <c:v>Sep-25</c:v>
                  </c:pt>
                  <c:pt idx="8">
                    <c:v>Oct-25</c:v>
                  </c:pt>
                  <c:pt idx="9">
                    <c:v>Nov-25</c:v>
                  </c:pt>
                  <c:pt idx="10">
                    <c:v>Dic-25</c:v>
                  </c:pt>
                  <c:pt idx="11">
                    <c:v>Ene-26</c:v>
                  </c:pt>
                  <c:pt idx="12">
                    <c:v>Feb-26</c:v>
                  </c:pt>
                </c:lvl>
              </c:multiLvlStrCache>
            </c:multiLvlStrRef>
          </c:cat>
          <c:val>
            <c:numRef>
              <c:f>Sheet1!$C$2:$C$14</c:f>
              <c:numCache>
                <c:formatCode>General</c:formatCode>
                <c:ptCount val="13"/>
                <c:pt idx="0">
                  <c:v>16</c:v>
                </c:pt>
                <c:pt idx="1">
                  <c:v>13</c:v>
                </c:pt>
                <c:pt idx="2">
                  <c:v>21</c:v>
                </c:pt>
                <c:pt idx="3">
                  <c:v>14</c:v>
                </c:pt>
                <c:pt idx="4">
                  <c:v>18</c:v>
                </c:pt>
                <c:pt idx="5">
                  <c:v>29</c:v>
                </c:pt>
                <c:pt idx="6">
                  <c:v>36</c:v>
                </c:pt>
                <c:pt idx="7">
                  <c:v>43</c:v>
                </c:pt>
                <c:pt idx="8">
                  <c:v>45</c:v>
                </c:pt>
                <c:pt idx="9">
                  <c:v>27</c:v>
                </c:pt>
                <c:pt idx="10">
                  <c:v>40</c:v>
                </c:pt>
                <c:pt idx="11">
                  <c:v>37</c:v>
                </c:pt>
                <c:pt idx="12">
                  <c:v>45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16-18%</c:v>
                </c:pt>
              </c:strCache>
            </c:strRef>
          </c:tx>
          <c:spPr>
            <a:solidFill>
              <a:srgbClr val="1F4592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650" u="none">
                    <a:solidFill>
                      <a:srgbClr val="FFFFFF"/>
                    </a:solidFill>
                    <a:latin typeface="Poppins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Sheet1!$A$2:$A$14</c:f>
              <c:multiLvlStrCache>
                <c:ptCount val="13"/>
                <c:lvl>
                  <c:pt idx="0">
                    <c:v>Feb-25</c:v>
                  </c:pt>
                  <c:pt idx="1">
                    <c:v>Mar-25</c:v>
                  </c:pt>
                  <c:pt idx="2">
                    <c:v>Abr-25</c:v>
                  </c:pt>
                  <c:pt idx="3">
                    <c:v>May-25</c:v>
                  </c:pt>
                  <c:pt idx="4">
                    <c:v>Jun-25</c:v>
                  </c:pt>
                  <c:pt idx="5">
                    <c:v>Jul-25</c:v>
                  </c:pt>
                  <c:pt idx="6">
                    <c:v>Ago-25</c:v>
                  </c:pt>
                  <c:pt idx="7">
                    <c:v>Sep-25</c:v>
                  </c:pt>
                  <c:pt idx="8">
                    <c:v>Oct-25</c:v>
                  </c:pt>
                  <c:pt idx="9">
                    <c:v>Nov-25</c:v>
                  </c:pt>
                  <c:pt idx="10">
                    <c:v>Dic-25</c:v>
                  </c:pt>
                  <c:pt idx="11">
                    <c:v>Ene-26</c:v>
                  </c:pt>
                  <c:pt idx="12">
                    <c:v>Feb-26</c:v>
                  </c:pt>
                </c:lvl>
              </c:multiLvlStrCache>
            </c:multiLvlStrRef>
          </c:cat>
          <c:val>
            <c:numRef>
              <c:f>Sheet1!$D$2:$D$14</c:f>
              <c:numCache>
                <c:formatCode>General</c:formatCode>
                <c:ptCount val="13"/>
                <c:pt idx="0">
                  <c:v>10</c:v>
                </c:pt>
                <c:pt idx="1">
                  <c:v>7</c:v>
                </c:pt>
                <c:pt idx="2">
                  <c:v>10</c:v>
                </c:pt>
                <c:pt idx="3">
                  <c:v>16</c:v>
                </c:pt>
                <c:pt idx="4">
                  <c:v>15</c:v>
                </c:pt>
                <c:pt idx="5">
                  <c:v>25</c:v>
                </c:pt>
                <c:pt idx="6">
                  <c:v>24</c:v>
                </c:pt>
                <c:pt idx="7">
                  <c:v>33</c:v>
                </c:pt>
                <c:pt idx="8">
                  <c:v>40</c:v>
                </c:pt>
                <c:pt idx="9">
                  <c:v>35</c:v>
                </c:pt>
                <c:pt idx="10">
                  <c:v>30</c:v>
                </c:pt>
                <c:pt idx="11">
                  <c:v>53</c:v>
                </c:pt>
                <c:pt idx="12">
                  <c:v>47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18-20%</c:v>
                </c:pt>
              </c:strCache>
            </c:strRef>
          </c:tx>
          <c:spPr>
            <a:solidFill>
              <a:srgbClr val="005F1E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650" u="none">
                    <a:solidFill>
                      <a:srgbClr val="FFFFFF"/>
                    </a:solidFill>
                    <a:latin typeface="Poppins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Sheet1!$A$2:$A$14</c:f>
              <c:multiLvlStrCache>
                <c:ptCount val="13"/>
                <c:lvl>
                  <c:pt idx="0">
                    <c:v>Feb-25</c:v>
                  </c:pt>
                  <c:pt idx="1">
                    <c:v>Mar-25</c:v>
                  </c:pt>
                  <c:pt idx="2">
                    <c:v>Abr-25</c:v>
                  </c:pt>
                  <c:pt idx="3">
                    <c:v>May-25</c:v>
                  </c:pt>
                  <c:pt idx="4">
                    <c:v>Jun-25</c:v>
                  </c:pt>
                  <c:pt idx="5">
                    <c:v>Jul-25</c:v>
                  </c:pt>
                  <c:pt idx="6">
                    <c:v>Ago-25</c:v>
                  </c:pt>
                  <c:pt idx="7">
                    <c:v>Sep-25</c:v>
                  </c:pt>
                  <c:pt idx="8">
                    <c:v>Oct-25</c:v>
                  </c:pt>
                  <c:pt idx="9">
                    <c:v>Nov-25</c:v>
                  </c:pt>
                  <c:pt idx="10">
                    <c:v>Dic-25</c:v>
                  </c:pt>
                  <c:pt idx="11">
                    <c:v>Ene-26</c:v>
                  </c:pt>
                  <c:pt idx="12">
                    <c:v>Feb-26</c:v>
                  </c:pt>
                </c:lvl>
              </c:multiLvlStrCache>
            </c:multiLvlStrRef>
          </c:cat>
          <c:val>
            <c:numRef>
              <c:f>Sheet1!$E$2:$E$14</c:f>
              <c:numCache>
                <c:formatCode>General</c:formatCode>
                <c:ptCount val="13"/>
                <c:pt idx="0">
                  <c:v>10</c:v>
                </c:pt>
                <c:pt idx="1">
                  <c:v>18</c:v>
                </c:pt>
                <c:pt idx="2">
                  <c:v>6</c:v>
                </c:pt>
                <c:pt idx="3">
                  <c:v>19</c:v>
                </c:pt>
                <c:pt idx="4">
                  <c:v>20</c:v>
                </c:pt>
                <c:pt idx="5">
                  <c:v>26</c:v>
                </c:pt>
                <c:pt idx="6">
                  <c:v>19</c:v>
                </c:pt>
                <c:pt idx="7">
                  <c:v>32</c:v>
                </c:pt>
                <c:pt idx="8">
                  <c:v>31</c:v>
                </c:pt>
                <c:pt idx="9">
                  <c:v>25</c:v>
                </c:pt>
                <c:pt idx="10">
                  <c:v>31</c:v>
                </c:pt>
                <c:pt idx="11">
                  <c:v>26</c:v>
                </c:pt>
                <c:pt idx="12">
                  <c:v>28</c:v>
                </c:pt>
              </c:numCache>
            </c:numRef>
          </c:val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20-25%</c:v>
                </c:pt>
              </c:strCache>
            </c:strRef>
          </c:tx>
          <c:spPr>
            <a:solidFill>
              <a:srgbClr val="00BE5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650" u="none">
                    <a:solidFill>
                      <a:srgbClr val="FFFFFF"/>
                    </a:solidFill>
                    <a:latin typeface="Poppins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Sheet1!$A$2:$A$14</c:f>
              <c:multiLvlStrCache>
                <c:ptCount val="13"/>
                <c:lvl>
                  <c:pt idx="0">
                    <c:v>Feb-25</c:v>
                  </c:pt>
                  <c:pt idx="1">
                    <c:v>Mar-25</c:v>
                  </c:pt>
                  <c:pt idx="2">
                    <c:v>Abr-25</c:v>
                  </c:pt>
                  <c:pt idx="3">
                    <c:v>May-25</c:v>
                  </c:pt>
                  <c:pt idx="4">
                    <c:v>Jun-25</c:v>
                  </c:pt>
                  <c:pt idx="5">
                    <c:v>Jul-25</c:v>
                  </c:pt>
                  <c:pt idx="6">
                    <c:v>Ago-25</c:v>
                  </c:pt>
                  <c:pt idx="7">
                    <c:v>Sep-25</c:v>
                  </c:pt>
                  <c:pt idx="8">
                    <c:v>Oct-25</c:v>
                  </c:pt>
                  <c:pt idx="9">
                    <c:v>Nov-25</c:v>
                  </c:pt>
                  <c:pt idx="10">
                    <c:v>Dic-25</c:v>
                  </c:pt>
                  <c:pt idx="11">
                    <c:v>Ene-26</c:v>
                  </c:pt>
                  <c:pt idx="12">
                    <c:v>Feb-26</c:v>
                  </c:pt>
                </c:lvl>
              </c:multiLvlStrCache>
            </c:multiLvlStrRef>
          </c:cat>
          <c:val>
            <c:numRef>
              <c:f>Sheet1!$F$2:$F$14</c:f>
              <c:numCache>
                <c:formatCode>General</c:formatCode>
                <c:ptCount val="13"/>
                <c:pt idx="0">
                  <c:v>14</c:v>
                </c:pt>
                <c:pt idx="1">
                  <c:v>12</c:v>
                </c:pt>
                <c:pt idx="2">
                  <c:v>14</c:v>
                </c:pt>
                <c:pt idx="3">
                  <c:v>14</c:v>
                </c:pt>
                <c:pt idx="4">
                  <c:v>21</c:v>
                </c:pt>
                <c:pt idx="5">
                  <c:v>11</c:v>
                </c:pt>
                <c:pt idx="6">
                  <c:v>10</c:v>
                </c:pt>
                <c:pt idx="7">
                  <c:v>18</c:v>
                </c:pt>
                <c:pt idx="8">
                  <c:v>14</c:v>
                </c:pt>
                <c:pt idx="9">
                  <c:v>28</c:v>
                </c:pt>
                <c:pt idx="10">
                  <c:v>18</c:v>
                </c:pt>
                <c:pt idx="11">
                  <c:v>17</c:v>
                </c:pt>
                <c:pt idx="12">
                  <c:v>17</c:v>
                </c:pt>
              </c:numCache>
            </c:numRef>
          </c:val>
        </c:ser>
        <c:ser>
          <c:idx val="5"/>
          <c:order val="5"/>
          <c:tx>
            <c:strRef>
              <c:f>Sheet1!$G$1</c:f>
              <c:strCache>
                <c:ptCount val="1"/>
                <c:pt idx="0">
                  <c:v>≥25%</c:v>
                </c:pt>
              </c:strCache>
            </c:strRef>
          </c:tx>
          <c:spPr>
            <a:solidFill>
              <a:srgbClr val="7ED957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650" u="none">
                    <a:solidFill>
                      <a:srgbClr val="FFFFFF"/>
                    </a:solidFill>
                    <a:latin typeface="Poppins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Sheet1!$A$2:$A$14</c:f>
              <c:multiLvlStrCache>
                <c:ptCount val="13"/>
                <c:lvl>
                  <c:pt idx="0">
                    <c:v>Feb-25</c:v>
                  </c:pt>
                  <c:pt idx="1">
                    <c:v>Mar-25</c:v>
                  </c:pt>
                  <c:pt idx="2">
                    <c:v>Abr-25</c:v>
                  </c:pt>
                  <c:pt idx="3">
                    <c:v>May-25</c:v>
                  </c:pt>
                  <c:pt idx="4">
                    <c:v>Jun-25</c:v>
                  </c:pt>
                  <c:pt idx="5">
                    <c:v>Jul-25</c:v>
                  </c:pt>
                  <c:pt idx="6">
                    <c:v>Ago-25</c:v>
                  </c:pt>
                  <c:pt idx="7">
                    <c:v>Sep-25</c:v>
                  </c:pt>
                  <c:pt idx="8">
                    <c:v>Oct-25</c:v>
                  </c:pt>
                  <c:pt idx="9">
                    <c:v>Nov-25</c:v>
                  </c:pt>
                  <c:pt idx="10">
                    <c:v>Dic-25</c:v>
                  </c:pt>
                  <c:pt idx="11">
                    <c:v>Ene-26</c:v>
                  </c:pt>
                  <c:pt idx="12">
                    <c:v>Feb-26</c:v>
                  </c:pt>
                </c:lvl>
              </c:multiLvlStrCache>
            </c:multiLvlStrRef>
          </c:cat>
          <c:val>
            <c:numRef>
              <c:f>Sheet1!$G$2:$G$14</c:f>
              <c:numCache>
                <c:formatCode>General</c:formatCode>
                <c:ptCount val="13"/>
                <c:pt idx="0">
                  <c:v>0</c:v>
                </c:pt>
                <c:pt idx="1">
                  <c:v>1</c:v>
                </c:pt>
                <c:pt idx="2">
                  <c:v>0</c:v>
                </c:pt>
                <c:pt idx="3">
                  <c:v>1</c:v>
                </c:pt>
                <c:pt idx="4">
                  <c:v>2</c:v>
                </c:pt>
                <c:pt idx="5">
                  <c:v>1</c:v>
                </c:pt>
                <c:pt idx="6">
                  <c:v>3</c:v>
                </c:pt>
                <c:pt idx="7">
                  <c:v>3</c:v>
                </c:pt>
                <c:pt idx="8">
                  <c:v>4</c:v>
                </c:pt>
                <c:pt idx="9">
                  <c:v>0</c:v>
                </c:pt>
                <c:pt idx="10">
                  <c:v>2</c:v>
                </c:pt>
                <c:pt idx="11">
                  <c:v>7</c:v>
                </c:pt>
                <c:pt idx="12">
                  <c:v>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650" u="none">
                  <a:solidFill>
                    <a:srgbClr val="FFFFFF"/>
                  </a:solidFill>
                  <a:latin typeface="Poppins"/>
                </a:defRPr>
              </a:pPr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0"/>
        <c:overlap val="10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850" b="0" i="0" u="none" strike="noStrike">
                <a:solidFill>
                  <a:srgbClr val="737D92"/>
                </a:solidFill>
                <a:latin typeface="Poppins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850">
              <a:solidFill>
                <a:srgbClr val="16203A"/>
              </a:solidFill>
              <a:latin typeface="Poppins"/>
              <a:cs typeface="Poppins"/>
      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En funnel · gestionado</c:v>
                </c:pt>
              </c:strCache>
            </c:strRef>
          </c:tx>
          <c:spPr>
            <a:solidFill>
              <a:srgbClr val="00BE5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650" u="none">
                    <a:solidFill>
                      <a:srgbClr val="FFFFFF"/>
                    </a:solidFill>
                    <a:latin typeface="Poppins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Sheet1!$A$2:$A$14</c:f>
              <c:multiLvlStrCache>
                <c:ptCount val="13"/>
                <c:lvl>
                  <c:pt idx="0">
                    <c:v>Feb-25</c:v>
                  </c:pt>
                  <c:pt idx="1">
                    <c:v>Mar-25</c:v>
                  </c:pt>
                  <c:pt idx="2">
                    <c:v>Abr-25</c:v>
                  </c:pt>
                  <c:pt idx="3">
                    <c:v>May-25</c:v>
                  </c:pt>
                  <c:pt idx="4">
                    <c:v>Jun-25</c:v>
                  </c:pt>
                  <c:pt idx="5">
                    <c:v>Jul-25</c:v>
                  </c:pt>
                  <c:pt idx="6">
                    <c:v>Ago-25</c:v>
                  </c:pt>
                  <c:pt idx="7">
                    <c:v>Sep-25</c:v>
                  </c:pt>
                  <c:pt idx="8">
                    <c:v>Oct-25</c:v>
                  </c:pt>
                  <c:pt idx="9">
                    <c:v>Nov-25</c:v>
                  </c:pt>
                  <c:pt idx="10">
                    <c:v>Dic-25</c:v>
                  </c:pt>
                  <c:pt idx="11">
                    <c:v>Ene-26</c:v>
                  </c:pt>
                  <c:pt idx="12">
                    <c:v>Feb-26</c:v>
                  </c:pt>
                </c:lvl>
              </c:multiLvlStrCache>
            </c:multiLvlStrRef>
          </c:cat>
          <c:val>
            <c:numRef>
              <c:f>Sheet1!$B$2:$B$14</c:f>
              <c:numCache>
                <c:formatCode>General</c:formatCode>
                <c:ptCount val="13"/>
                <c:pt idx="0">
                  <c:v>12</c:v>
                </c:pt>
                <c:pt idx="1">
                  <c:v>12</c:v>
                </c:pt>
                <c:pt idx="2">
                  <c:v>8</c:v>
                </c:pt>
                <c:pt idx="3">
                  <c:v>10</c:v>
                </c:pt>
                <c:pt idx="4">
                  <c:v>18</c:v>
                </c:pt>
                <c:pt idx="5">
                  <c:v>28</c:v>
                </c:pt>
                <c:pt idx="6">
                  <c:v>28</c:v>
                </c:pt>
                <c:pt idx="7">
                  <c:v>44</c:v>
                </c:pt>
                <c:pt idx="8">
                  <c:v>52</c:v>
                </c:pt>
                <c:pt idx="9">
                  <c:v>45</c:v>
                </c:pt>
                <c:pt idx="10">
                  <c:v>48</c:v>
                </c:pt>
                <c:pt idx="11">
                  <c:v>65</c:v>
                </c:pt>
                <c:pt idx="12">
                  <c:v>53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En funnel · no gestionado</c:v>
                </c:pt>
              </c:strCache>
            </c:strRef>
          </c:tx>
          <c:spPr>
            <a:solidFill>
              <a:srgbClr val="C4314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650" u="none">
                    <a:solidFill>
                      <a:srgbClr val="FFFFFF"/>
                    </a:solidFill>
                    <a:latin typeface="Poppins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Sheet1!$A$2:$A$14</c:f>
              <c:multiLvlStrCache>
                <c:ptCount val="13"/>
                <c:lvl>
                  <c:pt idx="0">
                    <c:v>Feb-25</c:v>
                  </c:pt>
                  <c:pt idx="1">
                    <c:v>Mar-25</c:v>
                  </c:pt>
                  <c:pt idx="2">
                    <c:v>Abr-25</c:v>
                  </c:pt>
                  <c:pt idx="3">
                    <c:v>May-25</c:v>
                  </c:pt>
                  <c:pt idx="4">
                    <c:v>Jun-25</c:v>
                  </c:pt>
                  <c:pt idx="5">
                    <c:v>Jul-25</c:v>
                  </c:pt>
                  <c:pt idx="6">
                    <c:v>Ago-25</c:v>
                  </c:pt>
                  <c:pt idx="7">
                    <c:v>Sep-25</c:v>
                  </c:pt>
                  <c:pt idx="8">
                    <c:v>Oct-25</c:v>
                  </c:pt>
                  <c:pt idx="9">
                    <c:v>Nov-25</c:v>
                  </c:pt>
                  <c:pt idx="10">
                    <c:v>Dic-25</c:v>
                  </c:pt>
                  <c:pt idx="11">
                    <c:v>Ene-26</c:v>
                  </c:pt>
                  <c:pt idx="12">
                    <c:v>Feb-26</c:v>
                  </c:pt>
                </c:lvl>
              </c:multiLvlStrCache>
            </c:multiLvlStrRef>
          </c:cat>
          <c:val>
            <c:numRef>
              <c:f>Sheet1!$C$2:$C$14</c:f>
              <c:numCache>
                <c:formatCode>General</c:formatCode>
                <c:ptCount val="13"/>
                <c:pt idx="0">
                  <c:v>19</c:v>
                </c:pt>
                <c:pt idx="1">
                  <c:v>15</c:v>
                </c:pt>
                <c:pt idx="2">
                  <c:v>15</c:v>
                </c:pt>
                <c:pt idx="3">
                  <c:v>33</c:v>
                </c:pt>
                <c:pt idx="4">
                  <c:v>32</c:v>
                </c:pt>
                <c:pt idx="5">
                  <c:v>37</c:v>
                </c:pt>
                <c:pt idx="6">
                  <c:v>44</c:v>
                </c:pt>
                <c:pt idx="7">
                  <c:v>57</c:v>
                </c:pt>
                <c:pt idx="8">
                  <c:v>57</c:v>
                </c:pt>
                <c:pt idx="9">
                  <c:v>58</c:v>
                </c:pt>
                <c:pt idx="10">
                  <c:v>64</c:v>
                </c:pt>
                <c:pt idx="11">
                  <c:v>53</c:v>
                </c:pt>
                <c:pt idx="12">
                  <c:v>72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Fuera de funnel</c:v>
                </c:pt>
              </c:strCache>
            </c:strRef>
          </c:tx>
          <c:spPr>
            <a:solidFill>
              <a:srgbClr val="A0AEC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650" u="none">
                    <a:solidFill>
                      <a:srgbClr val="FFFFFF"/>
                    </a:solidFill>
                    <a:latin typeface="Poppins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Sheet1!$A$2:$A$14</c:f>
              <c:multiLvlStrCache>
                <c:ptCount val="13"/>
                <c:lvl>
                  <c:pt idx="0">
                    <c:v>Feb-25</c:v>
                  </c:pt>
                  <c:pt idx="1">
                    <c:v>Mar-25</c:v>
                  </c:pt>
                  <c:pt idx="2">
                    <c:v>Abr-25</c:v>
                  </c:pt>
                  <c:pt idx="3">
                    <c:v>May-25</c:v>
                  </c:pt>
                  <c:pt idx="4">
                    <c:v>Jun-25</c:v>
                  </c:pt>
                  <c:pt idx="5">
                    <c:v>Jul-25</c:v>
                  </c:pt>
                  <c:pt idx="6">
                    <c:v>Ago-25</c:v>
                  </c:pt>
                  <c:pt idx="7">
                    <c:v>Sep-25</c:v>
                  </c:pt>
                  <c:pt idx="8">
                    <c:v>Oct-25</c:v>
                  </c:pt>
                  <c:pt idx="9">
                    <c:v>Nov-25</c:v>
                  </c:pt>
                  <c:pt idx="10">
                    <c:v>Dic-25</c:v>
                  </c:pt>
                  <c:pt idx="11">
                    <c:v>Ene-26</c:v>
                  </c:pt>
                  <c:pt idx="12">
                    <c:v>Feb-26</c:v>
                  </c:pt>
                </c:lvl>
              </c:multiLvlStrCache>
            </c:multiLvlStrRef>
          </c:cat>
          <c:val>
            <c:numRef>
              <c:f>Sheet1!$D$2:$D$14</c:f>
              <c:numCache>
                <c:formatCode>General</c:formatCode>
                <c:ptCount val="13"/>
                <c:pt idx="0">
                  <c:v>26</c:v>
                </c:pt>
                <c:pt idx="1">
                  <c:v>29</c:v>
                </c:pt>
                <c:pt idx="2">
                  <c:v>34</c:v>
                </c:pt>
                <c:pt idx="3">
                  <c:v>28</c:v>
                </c:pt>
                <c:pt idx="4">
                  <c:v>34</c:v>
                </c:pt>
                <c:pt idx="5">
                  <c:v>36</c:v>
                </c:pt>
                <c:pt idx="6">
                  <c:v>27</c:v>
                </c:pt>
                <c:pt idx="7">
                  <c:v>45</c:v>
                </c:pt>
                <c:pt idx="8">
                  <c:v>32</c:v>
                </c:pt>
                <c:pt idx="9">
                  <c:v>18</c:v>
                </c:pt>
                <c:pt idx="10">
                  <c:v>15</c:v>
                </c:pt>
                <c:pt idx="11">
                  <c:v>28</c:v>
                </c:pt>
                <c:pt idx="12">
                  <c:v>26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650" u="none">
                  <a:solidFill>
                    <a:srgbClr val="FFFFFF"/>
                  </a:solidFill>
                  <a:latin typeface="Poppins"/>
                </a:defRPr>
              </a:pPr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0"/>
        <c:overlap val="10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850" b="0" i="0" u="none" strike="noStrike">
                <a:solidFill>
                  <a:srgbClr val="737D92"/>
                </a:solidFill>
                <a:latin typeface="Poppins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850">
              <a:solidFill>
                <a:srgbClr val="16203A"/>
              </a:solidFill>
              <a:latin typeface="Poppins"/>
              <a:cs typeface="Poppins"/>
      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P1</c:v>
                </c:pt>
              </c:strCache>
            </c:strRef>
          </c:tx>
          <c:spPr>
            <a:solidFill>
              <a:srgbClr val="1F4592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650" u="none">
                    <a:solidFill>
                      <a:srgbClr val="FFFFFF"/>
                    </a:solidFill>
                    <a:latin typeface="Poppins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Sheet1!$A$2:$A$14</c:f>
              <c:multiLvlStrCache>
                <c:ptCount val="13"/>
                <c:lvl>
                  <c:pt idx="0">
                    <c:v>Feb-25</c:v>
                  </c:pt>
                  <c:pt idx="1">
                    <c:v>Mar-25</c:v>
                  </c:pt>
                  <c:pt idx="2">
                    <c:v>Abr-25</c:v>
                  </c:pt>
                  <c:pt idx="3">
                    <c:v>May-25</c:v>
                  </c:pt>
                  <c:pt idx="4">
                    <c:v>Jun-25</c:v>
                  </c:pt>
                  <c:pt idx="5">
                    <c:v>Jul-25</c:v>
                  </c:pt>
                  <c:pt idx="6">
                    <c:v>Ago-25</c:v>
                  </c:pt>
                  <c:pt idx="7">
                    <c:v>Sep-25</c:v>
                  </c:pt>
                  <c:pt idx="8">
                    <c:v>Oct-25</c:v>
                  </c:pt>
                  <c:pt idx="9">
                    <c:v>Nov-25</c:v>
                  </c:pt>
                  <c:pt idx="10">
                    <c:v>Dic-25</c:v>
                  </c:pt>
                  <c:pt idx="11">
                    <c:v>Ene-26</c:v>
                  </c:pt>
                  <c:pt idx="12">
                    <c:v>Feb-26</c:v>
                  </c:pt>
                </c:lvl>
              </c:multiLvlStrCache>
            </c:multiLvlStrRef>
          </c:cat>
          <c:val>
            <c:numRef>
              <c:f>Sheet1!$B$2:$B$14</c:f>
              <c:numCache>
                <c:formatCode>General</c:formatCode>
                <c:ptCount val="13"/>
                <c:pt idx="0">
                  <c:v>24</c:v>
                </c:pt>
                <c:pt idx="1">
                  <c:v>23</c:v>
                </c:pt>
                <c:pt idx="2">
                  <c:v>22</c:v>
                </c:pt>
                <c:pt idx="3">
                  <c:v>39</c:v>
                </c:pt>
                <c:pt idx="4">
                  <c:v>43</c:v>
                </c:pt>
                <c:pt idx="5">
                  <c:v>52</c:v>
                </c:pt>
                <c:pt idx="6">
                  <c:v>52</c:v>
                </c:pt>
                <c:pt idx="7">
                  <c:v>88</c:v>
                </c:pt>
                <c:pt idx="8">
                  <c:v>98</c:v>
                </c:pt>
                <c:pt idx="9">
                  <c:v>92</c:v>
                </c:pt>
                <c:pt idx="10">
                  <c:v>100</c:v>
                </c:pt>
                <c:pt idx="11">
                  <c:v>27</c:v>
                </c:pt>
                <c:pt idx="12">
                  <c:v>108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P2</c:v>
                </c:pt>
              </c:strCache>
            </c:strRef>
          </c:tx>
          <c:spPr>
            <a:solidFill>
              <a:srgbClr val="00BE5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650" u="none">
                    <a:solidFill>
                      <a:srgbClr val="FFFFFF"/>
                    </a:solidFill>
                    <a:latin typeface="Poppins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Sheet1!$A$2:$A$14</c:f>
              <c:multiLvlStrCache>
                <c:ptCount val="13"/>
                <c:lvl>
                  <c:pt idx="0">
                    <c:v>Feb-25</c:v>
                  </c:pt>
                  <c:pt idx="1">
                    <c:v>Mar-25</c:v>
                  </c:pt>
                  <c:pt idx="2">
                    <c:v>Abr-25</c:v>
                  </c:pt>
                  <c:pt idx="3">
                    <c:v>May-25</c:v>
                  </c:pt>
                  <c:pt idx="4">
                    <c:v>Jun-25</c:v>
                  </c:pt>
                  <c:pt idx="5">
                    <c:v>Jul-25</c:v>
                  </c:pt>
                  <c:pt idx="6">
                    <c:v>Ago-25</c:v>
                  </c:pt>
                  <c:pt idx="7">
                    <c:v>Sep-25</c:v>
                  </c:pt>
                  <c:pt idx="8">
                    <c:v>Oct-25</c:v>
                  </c:pt>
                  <c:pt idx="9">
                    <c:v>Nov-25</c:v>
                  </c:pt>
                  <c:pt idx="10">
                    <c:v>Dic-25</c:v>
                  </c:pt>
                  <c:pt idx="11">
                    <c:v>Ene-26</c:v>
                  </c:pt>
                  <c:pt idx="12">
                    <c:v>Feb-26</c:v>
                  </c:pt>
                </c:lvl>
              </c:multiLvlStrCache>
            </c:multiLvlStrRef>
          </c:cat>
          <c:val>
            <c:numRef>
              <c:f>Sheet1!$C$2:$C$14</c:f>
              <c:numCache>
                <c:formatCode>General</c:formatCode>
                <c:ptCount val="13"/>
                <c:pt idx="0">
                  <c:v>6</c:v>
                </c:pt>
                <c:pt idx="1">
                  <c:v>4</c:v>
                </c:pt>
                <c:pt idx="2">
                  <c:v>1</c:v>
                </c:pt>
                <c:pt idx="3">
                  <c:v>4</c:v>
                </c:pt>
                <c:pt idx="4">
                  <c:v>5</c:v>
                </c:pt>
                <c:pt idx="5">
                  <c:v>9</c:v>
                </c:pt>
                <c:pt idx="6">
                  <c:v>15</c:v>
                </c:pt>
                <c:pt idx="7">
                  <c:v>12</c:v>
                </c:pt>
                <c:pt idx="8">
                  <c:v>11</c:v>
                </c:pt>
                <c:pt idx="9">
                  <c:v>11</c:v>
                </c:pt>
                <c:pt idx="10">
                  <c:v>12</c:v>
                </c:pt>
                <c:pt idx="11">
                  <c:v>2</c:v>
                </c:pt>
                <c:pt idx="12">
                  <c:v>15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P3</c:v>
                </c:pt>
              </c:strCache>
            </c:strRef>
          </c:tx>
          <c:spPr>
            <a:solidFill>
              <a:srgbClr val="005F1E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650" u="none">
                    <a:solidFill>
                      <a:srgbClr val="FFFFFF"/>
                    </a:solidFill>
                    <a:latin typeface="Poppins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Sheet1!$A$2:$A$14</c:f>
              <c:multiLvlStrCache>
                <c:ptCount val="13"/>
                <c:lvl>
                  <c:pt idx="0">
                    <c:v>Feb-25</c:v>
                  </c:pt>
                  <c:pt idx="1">
                    <c:v>Mar-25</c:v>
                  </c:pt>
                  <c:pt idx="2">
                    <c:v>Abr-25</c:v>
                  </c:pt>
                  <c:pt idx="3">
                    <c:v>May-25</c:v>
                  </c:pt>
                  <c:pt idx="4">
                    <c:v>Jun-25</c:v>
                  </c:pt>
                  <c:pt idx="5">
                    <c:v>Jul-25</c:v>
                  </c:pt>
                  <c:pt idx="6">
                    <c:v>Ago-25</c:v>
                  </c:pt>
                  <c:pt idx="7">
                    <c:v>Sep-25</c:v>
                  </c:pt>
                  <c:pt idx="8">
                    <c:v>Oct-25</c:v>
                  </c:pt>
                  <c:pt idx="9">
                    <c:v>Nov-25</c:v>
                  </c:pt>
                  <c:pt idx="10">
                    <c:v>Dic-25</c:v>
                  </c:pt>
                  <c:pt idx="11">
                    <c:v>Ene-26</c:v>
                  </c:pt>
                  <c:pt idx="12">
                    <c:v>Feb-26</c:v>
                  </c:pt>
                </c:lvl>
              </c:multiLvlStrCache>
            </c:multiLvlStrRef>
          </c:cat>
          <c:val>
            <c:numRef>
              <c:f>Sheet1!$D$2:$D$14</c:f>
              <c:numCache>
                <c:formatCode>General</c:formatCode>
                <c:ptCount val="13"/>
                <c:pt idx="0">
                  <c:v>1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2</c:v>
                </c:pt>
                <c:pt idx="5">
                  <c:v>4</c:v>
                </c:pt>
                <c:pt idx="6">
                  <c:v>3</c:v>
                </c:pt>
                <c:pt idx="7">
                  <c:v>1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1</c:v>
                </c:pt>
                <c:pt idx="12">
                  <c:v>2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P4</c:v>
                </c:pt>
              </c:strCache>
            </c:strRef>
          </c:tx>
          <c:spPr>
            <a:solidFill>
              <a:srgbClr val="5B8DE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650" u="none">
                    <a:solidFill>
                      <a:srgbClr val="FFFFFF"/>
                    </a:solidFill>
                    <a:latin typeface="Poppins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Sheet1!$A$2:$A$14</c:f>
              <c:multiLvlStrCache>
                <c:ptCount val="13"/>
                <c:lvl>
                  <c:pt idx="0">
                    <c:v>Feb-25</c:v>
                  </c:pt>
                  <c:pt idx="1">
                    <c:v>Mar-25</c:v>
                  </c:pt>
                  <c:pt idx="2">
                    <c:v>Abr-25</c:v>
                  </c:pt>
                  <c:pt idx="3">
                    <c:v>May-25</c:v>
                  </c:pt>
                  <c:pt idx="4">
                    <c:v>Jun-25</c:v>
                  </c:pt>
                  <c:pt idx="5">
                    <c:v>Jul-25</c:v>
                  </c:pt>
                  <c:pt idx="6">
                    <c:v>Ago-25</c:v>
                  </c:pt>
                  <c:pt idx="7">
                    <c:v>Sep-25</c:v>
                  </c:pt>
                  <c:pt idx="8">
                    <c:v>Oct-25</c:v>
                  </c:pt>
                  <c:pt idx="9">
                    <c:v>Nov-25</c:v>
                  </c:pt>
                  <c:pt idx="10">
                    <c:v>Dic-25</c:v>
                  </c:pt>
                  <c:pt idx="11">
                    <c:v>Ene-26</c:v>
                  </c:pt>
                  <c:pt idx="12">
                    <c:v>Feb-26</c:v>
                  </c:pt>
                </c:lvl>
              </c:multiLvlStrCache>
            </c:multiLvlStrRef>
          </c:cat>
          <c:val>
            <c:numRef>
              <c:f>Sheet1!$E$2:$E$14</c:f>
              <c:numCache>
                <c:formatCode>General</c:formatCode>
                <c:ptCount val="13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2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</c:numCache>
            </c:numRef>
          </c:val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P5</c:v>
                </c:pt>
              </c:strCache>
            </c:strRef>
          </c:tx>
          <c:spPr>
            <a:solidFill>
              <a:srgbClr val="A0AEC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650" u="none">
                    <a:solidFill>
                      <a:srgbClr val="FFFFFF"/>
                    </a:solidFill>
                    <a:latin typeface="Poppins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Sheet1!$A$2:$A$14</c:f>
              <c:multiLvlStrCache>
                <c:ptCount val="13"/>
                <c:lvl>
                  <c:pt idx="0">
                    <c:v>Feb-25</c:v>
                  </c:pt>
                  <c:pt idx="1">
                    <c:v>Mar-25</c:v>
                  </c:pt>
                  <c:pt idx="2">
                    <c:v>Abr-25</c:v>
                  </c:pt>
                  <c:pt idx="3">
                    <c:v>May-25</c:v>
                  </c:pt>
                  <c:pt idx="4">
                    <c:v>Jun-25</c:v>
                  </c:pt>
                  <c:pt idx="5">
                    <c:v>Jul-25</c:v>
                  </c:pt>
                  <c:pt idx="6">
                    <c:v>Ago-25</c:v>
                  </c:pt>
                  <c:pt idx="7">
                    <c:v>Sep-25</c:v>
                  </c:pt>
                  <c:pt idx="8">
                    <c:v>Oct-25</c:v>
                  </c:pt>
                  <c:pt idx="9">
                    <c:v>Nov-25</c:v>
                  </c:pt>
                  <c:pt idx="10">
                    <c:v>Dic-25</c:v>
                  </c:pt>
                  <c:pt idx="11">
                    <c:v>Ene-26</c:v>
                  </c:pt>
                  <c:pt idx="12">
                    <c:v>Feb-26</c:v>
                  </c:pt>
                </c:lvl>
              </c:multiLvlStrCache>
            </c:multiLvlStrRef>
          </c:cat>
          <c:val>
            <c:numRef>
              <c:f>Sheet1!$F$2:$F$14</c:f>
              <c:numCache>
                <c:formatCode>General</c:formatCode>
                <c:ptCount val="13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88</c:v>
                </c:pt>
                <c:pt idx="12">
                  <c:v>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650" u="none">
                  <a:solidFill>
                    <a:srgbClr val="FFFFFF"/>
                  </a:solidFill>
                  <a:latin typeface="Poppins"/>
                </a:defRPr>
              </a:pPr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0"/>
        <c:overlap val="10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850" b="0" i="0" u="none" strike="noStrike">
                <a:solidFill>
                  <a:srgbClr val="737D92"/>
                </a:solidFill>
                <a:latin typeface="Poppins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850">
              <a:solidFill>
                <a:srgbClr val="16203A"/>
              </a:solidFill>
              <a:latin typeface="Poppins"/>
              <a:cs typeface="Poppins"/>
      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Tiendas</c:v>
                </c:pt>
              </c:strCache>
            </c:strRef>
          </c:tx>
          <c:spPr>
            <a:solidFill>
              <a:srgbClr val="1F4592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600" u="none">
                    <a:solidFill>
                      <a:srgbClr val="FFFFFF"/>
                    </a:solidFill>
                    <a:latin typeface="Poppins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Sheet1!$A$2:$A$14</c:f>
              <c:multiLvlStrCache>
                <c:ptCount val="13"/>
                <c:lvl>
                  <c:pt idx="0">
                    <c:v>Feb-25</c:v>
                  </c:pt>
                  <c:pt idx="1">
                    <c:v>Mar-25</c:v>
                  </c:pt>
                  <c:pt idx="2">
                    <c:v>Abr-25</c:v>
                  </c:pt>
                  <c:pt idx="3">
                    <c:v>May-25</c:v>
                  </c:pt>
                  <c:pt idx="4">
                    <c:v>Jun-25</c:v>
                  </c:pt>
                  <c:pt idx="5">
                    <c:v>Jul-25</c:v>
                  </c:pt>
                  <c:pt idx="6">
                    <c:v>Ago-25</c:v>
                  </c:pt>
                  <c:pt idx="7">
                    <c:v>Sep-25</c:v>
                  </c:pt>
                  <c:pt idx="8">
                    <c:v>Oct-25</c:v>
                  </c:pt>
                  <c:pt idx="9">
                    <c:v>Nov-25</c:v>
                  </c:pt>
                  <c:pt idx="10">
                    <c:v>Dic-25</c:v>
                  </c:pt>
                  <c:pt idx="11">
                    <c:v>Ene-26</c:v>
                  </c:pt>
                  <c:pt idx="12">
                    <c:v>Feb-26</c:v>
                  </c:pt>
                </c:lvl>
              </c:multiLvlStrCache>
            </c:multiLvlStrRef>
          </c:cat>
          <c:val>
            <c:numRef>
              <c:f>Sheet1!$B$2:$B$14</c:f>
              <c:numCache>
                <c:formatCode>General</c:formatCode>
                <c:ptCount val="13"/>
                <c:pt idx="0">
                  <c:v>4.65</c:v>
                </c:pt>
                <c:pt idx="1">
                  <c:v>3.34</c:v>
                </c:pt>
                <c:pt idx="2">
                  <c:v>3.2</c:v>
                </c:pt>
                <c:pt idx="3">
                  <c:v>5.18</c:v>
                </c:pt>
                <c:pt idx="4">
                  <c:v>5.73</c:v>
                </c:pt>
                <c:pt idx="5">
                  <c:v>7.52</c:v>
                </c:pt>
                <c:pt idx="6">
                  <c:v>4.68</c:v>
                </c:pt>
                <c:pt idx="7">
                  <c:v>10.19</c:v>
                </c:pt>
                <c:pt idx="8">
                  <c:v>8.87</c:v>
                </c:pt>
                <c:pt idx="9">
                  <c:v>8.02</c:v>
                </c:pt>
                <c:pt idx="10">
                  <c:v>7.5</c:v>
                </c:pt>
                <c:pt idx="11">
                  <c:v>10.85</c:v>
                </c:pt>
                <c:pt idx="12">
                  <c:v>12.88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Tiendas Virtuales</c:v>
                </c:pt>
              </c:strCache>
            </c:strRef>
          </c:tx>
          <c:spPr>
            <a:solidFill>
              <a:srgbClr val="00BE50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600" u="none">
                    <a:solidFill>
                      <a:srgbClr val="FFFFFF"/>
                    </a:solidFill>
                    <a:latin typeface="Poppins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Sheet1!$A$2:$A$14</c:f>
              <c:multiLvlStrCache>
                <c:ptCount val="13"/>
                <c:lvl>
                  <c:pt idx="0">
                    <c:v>Feb-25</c:v>
                  </c:pt>
                  <c:pt idx="1">
                    <c:v>Mar-25</c:v>
                  </c:pt>
                  <c:pt idx="2">
                    <c:v>Abr-25</c:v>
                  </c:pt>
                  <c:pt idx="3">
                    <c:v>May-25</c:v>
                  </c:pt>
                  <c:pt idx="4">
                    <c:v>Jun-25</c:v>
                  </c:pt>
                  <c:pt idx="5">
                    <c:v>Jul-25</c:v>
                  </c:pt>
                  <c:pt idx="6">
                    <c:v>Ago-25</c:v>
                  </c:pt>
                  <c:pt idx="7">
                    <c:v>Sep-25</c:v>
                  </c:pt>
                  <c:pt idx="8">
                    <c:v>Oct-25</c:v>
                  </c:pt>
                  <c:pt idx="9">
                    <c:v>Nov-25</c:v>
                  </c:pt>
                  <c:pt idx="10">
                    <c:v>Dic-25</c:v>
                  </c:pt>
                  <c:pt idx="11">
                    <c:v>Ene-26</c:v>
                  </c:pt>
                  <c:pt idx="12">
                    <c:v>Feb-26</c:v>
                  </c:pt>
                </c:lvl>
              </c:multiLvlStrCache>
            </c:multiLvlStrRef>
          </c:cat>
          <c:val>
            <c:numRef>
              <c:f>Sheet1!$C$2:$C$14</c:f>
              <c:numCache>
                <c:formatCode>General</c:formatCode>
                <c:ptCount val="13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0.58</c:v>
                </c:pt>
                <c:pt idx="5">
                  <c:v>0.44</c:v>
                </c:pt>
                <c:pt idx="6">
                  <c:v>0.22</c:v>
                </c:pt>
                <c:pt idx="7">
                  <c:v>1.23</c:v>
                </c:pt>
                <c:pt idx="8">
                  <c:v>1.64</c:v>
                </c:pt>
                <c:pt idx="9">
                  <c:v>0.95</c:v>
                </c:pt>
                <c:pt idx="10">
                  <c:v>2.01</c:v>
                </c:pt>
                <c:pt idx="11">
                  <c:v>1.31</c:v>
                </c:pt>
                <c:pt idx="12">
                  <c:v>1.12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TLV</c:v>
                </c:pt>
              </c:strCache>
            </c:strRef>
          </c:tx>
          <c:spPr>
            <a:solidFill>
              <a:srgbClr val="005F1E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600" u="none">
                    <a:solidFill>
                      <a:srgbClr val="FFFFFF"/>
                    </a:solidFill>
                    <a:latin typeface="Poppins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Sheet1!$A$2:$A$14</c:f>
              <c:multiLvlStrCache>
                <c:ptCount val="13"/>
                <c:lvl>
                  <c:pt idx="0">
                    <c:v>Feb-25</c:v>
                  </c:pt>
                  <c:pt idx="1">
                    <c:v>Mar-25</c:v>
                  </c:pt>
                  <c:pt idx="2">
                    <c:v>Abr-25</c:v>
                  </c:pt>
                  <c:pt idx="3">
                    <c:v>May-25</c:v>
                  </c:pt>
                  <c:pt idx="4">
                    <c:v>Jun-25</c:v>
                  </c:pt>
                  <c:pt idx="5">
                    <c:v>Jul-25</c:v>
                  </c:pt>
                  <c:pt idx="6">
                    <c:v>Ago-25</c:v>
                  </c:pt>
                  <c:pt idx="7">
                    <c:v>Sep-25</c:v>
                  </c:pt>
                  <c:pt idx="8">
                    <c:v>Oct-25</c:v>
                  </c:pt>
                  <c:pt idx="9">
                    <c:v>Nov-25</c:v>
                  </c:pt>
                  <c:pt idx="10">
                    <c:v>Dic-25</c:v>
                  </c:pt>
                  <c:pt idx="11">
                    <c:v>Ene-26</c:v>
                  </c:pt>
                  <c:pt idx="12">
                    <c:v>Feb-26</c:v>
                  </c:pt>
                </c:lvl>
              </c:multiLvlStrCache>
            </c:multiLvlStrRef>
          </c:cat>
          <c:val>
            <c:numRef>
              <c:f>Sheet1!$D$2:$D$14</c:f>
              <c:numCache>
                <c:formatCode>General</c:formatCode>
                <c:ptCount val="13"/>
                <c:pt idx="0">
                  <c:v>0.85</c:v>
                </c:pt>
                <c:pt idx="1">
                  <c:v>1.71</c:v>
                </c:pt>
                <c:pt idx="2">
                  <c:v>2.27</c:v>
                </c:pt>
                <c:pt idx="3">
                  <c:v>2.59</c:v>
                </c:pt>
                <c:pt idx="4">
                  <c:v>3.29</c:v>
                </c:pt>
                <c:pt idx="5">
                  <c:v>4.44</c:v>
                </c:pt>
                <c:pt idx="6">
                  <c:v>5.25</c:v>
                </c:pt>
                <c:pt idx="7">
                  <c:v>5.77</c:v>
                </c:pt>
                <c:pt idx="8">
                  <c:v>7.21</c:v>
                </c:pt>
                <c:pt idx="9">
                  <c:v>6.59</c:v>
                </c:pt>
                <c:pt idx="10">
                  <c:v>6.39</c:v>
                </c:pt>
                <c:pt idx="11">
                  <c:v>6.64</c:v>
                </c:pt>
                <c:pt idx="12">
                  <c:v>7.07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0" i="0" strike="noStrike" sz="600" u="none">
                  <a:solidFill>
                    <a:srgbClr val="FFFFFF"/>
                  </a:solidFill>
                  <a:latin typeface="Poppins"/>
                </a:defRPr>
              </a:pPr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0"/>
        <c:overlap val="10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850" b="0" i="0" u="none" strike="noStrike">
                <a:solidFill>
                  <a:srgbClr val="737D92"/>
                </a:solidFill>
                <a:latin typeface="Poppins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850">
              <a:solidFill>
                <a:srgbClr val="16203A"/>
              </a:solidFill>
              <a:latin typeface="Poppins"/>
              <a:cs typeface="Poppins"/>
      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Tiendas</c:v>
                </c:pt>
              </c:strCache>
            </c:strRef>
          </c:tx>
          <c:spPr>
            <a:solidFill>
              <a:srgbClr val="1F4592"/>
            </a:solidFill>
            <a:ln w="38100" cap="flat">
              <a:solidFill>
                <a:srgbClr val="1F4592"/>
              </a:solidFill>
              <a:prstDash val="solid"/>
              <a:round/>
            </a:ln>
            <a:effectLst/>
          </c:spPr>
          <c:invertIfNegative val="0"/>
          <c:dLbls>
            <c:numFmt formatCode="0" sourceLinked="0"/>
            <c:txPr>
              <a:bodyPr/>
              <a:lstStyle/>
              <a:p>
                <a:pPr>
                  <a:defRPr b="0" i="0" strike="noStrike" sz="700" u="none">
                    <a:solidFill>
                      <a:srgbClr val="16203A"/>
                    </a:solidFill>
                    <a:latin typeface="Poppins"/>
                  </a:defRPr>
                </a:pPr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1F4592"/>
              </a:solidFill>
              <a:ln w="9525" cap="flat">
                <a:solidFill>
                  <a:srgbClr val="1F4592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Sheet1!$A$2:$A$14</c:f>
              <c:multiLvlStrCache>
                <c:ptCount val="13"/>
                <c:lvl>
                  <c:pt idx="0">
                    <c:v>Feb-25</c:v>
                  </c:pt>
                  <c:pt idx="1">
                    <c:v>Mar-25</c:v>
                  </c:pt>
                  <c:pt idx="2">
                    <c:v>Abr-25</c:v>
                  </c:pt>
                  <c:pt idx="3">
                    <c:v>May-25</c:v>
                  </c:pt>
                  <c:pt idx="4">
                    <c:v>Jun-25</c:v>
                  </c:pt>
                  <c:pt idx="5">
                    <c:v>Jul-25</c:v>
                  </c:pt>
                  <c:pt idx="6">
                    <c:v>Ago-25</c:v>
                  </c:pt>
                  <c:pt idx="7">
                    <c:v>Sep-25</c:v>
                  </c:pt>
                  <c:pt idx="8">
                    <c:v>Oct-25</c:v>
                  </c:pt>
                  <c:pt idx="9">
                    <c:v>Nov-25</c:v>
                  </c:pt>
                  <c:pt idx="10">
                    <c:v>Dic-25</c:v>
                  </c:pt>
                  <c:pt idx="11">
                    <c:v>Ene-26</c:v>
                  </c:pt>
                  <c:pt idx="12">
                    <c:v>Feb-26</c:v>
                  </c:pt>
                </c:lvl>
              </c:multiLvlStrCache>
            </c:multiLvlStrRef>
          </c:cat>
          <c:val>
            <c:numRef>
              <c:f>Sheet1!$B$2:$B$14</c:f>
              <c:numCache>
                <c:formatCode>General</c:formatCode>
                <c:ptCount val="13"/>
                <c:pt idx="0">
                  <c:v>133</c:v>
                </c:pt>
                <c:pt idx="1">
                  <c:v>124</c:v>
                </c:pt>
                <c:pt idx="2">
                  <c:v>123</c:v>
                </c:pt>
                <c:pt idx="3">
                  <c:v>157</c:v>
                </c:pt>
                <c:pt idx="4">
                  <c:v>151</c:v>
                </c:pt>
                <c:pt idx="5">
                  <c:v>164</c:v>
                </c:pt>
                <c:pt idx="6">
                  <c:v>120</c:v>
                </c:pt>
                <c:pt idx="7">
                  <c:v>164</c:v>
                </c:pt>
                <c:pt idx="8">
                  <c:v>150</c:v>
                </c:pt>
                <c:pt idx="9">
                  <c:v>164</c:v>
                </c:pt>
                <c:pt idx="10">
                  <c:v>150</c:v>
                </c:pt>
                <c:pt idx="11">
                  <c:v>151</c:v>
                </c:pt>
                <c:pt idx="12">
                  <c:v>179</c:v>
                </c:pt>
              </c:numCache>
            </c:numRef>
          </c:val>
          <c:smooth val="1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Tiendas Virtuales</c:v>
                </c:pt>
              </c:strCache>
            </c:strRef>
          </c:tx>
          <c:spPr>
            <a:solidFill>
              <a:srgbClr val="00BE50"/>
            </a:solidFill>
            <a:ln w="38100" cap="flat">
              <a:solidFill>
                <a:srgbClr val="00BE50"/>
              </a:solidFill>
              <a:prstDash val="solid"/>
              <a:round/>
            </a:ln>
            <a:effectLst/>
          </c:spPr>
          <c:invertIfNegative val="0"/>
          <c:dLbls>
            <c:numFmt formatCode="0" sourceLinked="0"/>
            <c:txPr>
              <a:bodyPr/>
              <a:lstStyle/>
              <a:p>
                <a:pPr>
                  <a:defRPr b="0" i="0" strike="noStrike" sz="700" u="none">
                    <a:solidFill>
                      <a:srgbClr val="16203A"/>
                    </a:solidFill>
                    <a:latin typeface="Poppins"/>
                  </a:defRPr>
                </a:pPr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00BE50"/>
              </a:solidFill>
              <a:ln w="9525" cap="flat">
                <a:solidFill>
                  <a:srgbClr val="00BE50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Sheet1!$A$2:$A$14</c:f>
              <c:multiLvlStrCache>
                <c:ptCount val="13"/>
                <c:lvl>
                  <c:pt idx="0">
                    <c:v>Feb-25</c:v>
                  </c:pt>
                  <c:pt idx="1">
                    <c:v>Mar-25</c:v>
                  </c:pt>
                  <c:pt idx="2">
                    <c:v>Abr-25</c:v>
                  </c:pt>
                  <c:pt idx="3">
                    <c:v>May-25</c:v>
                  </c:pt>
                  <c:pt idx="4">
                    <c:v>Jun-25</c:v>
                  </c:pt>
                  <c:pt idx="5">
                    <c:v>Jul-25</c:v>
                  </c:pt>
                  <c:pt idx="6">
                    <c:v>Ago-25</c:v>
                  </c:pt>
                  <c:pt idx="7">
                    <c:v>Sep-25</c:v>
                  </c:pt>
                  <c:pt idx="8">
                    <c:v>Oct-25</c:v>
                  </c:pt>
                  <c:pt idx="9">
                    <c:v>Nov-25</c:v>
                  </c:pt>
                  <c:pt idx="10">
                    <c:v>Dic-25</c:v>
                  </c:pt>
                  <c:pt idx="11">
                    <c:v>Ene-26</c:v>
                  </c:pt>
                  <c:pt idx="12">
                    <c:v>Feb-26</c:v>
                  </c:pt>
                </c:lvl>
              </c:multiLvlStrCache>
            </c:multiLvlStrRef>
          </c:cat>
          <c:val>
            <c:numRef>
              <c:f>Sheet1!$C$2:$C$14</c:f>
              <c:numCache>
                <c:formatCode>General</c:formatCode>
                <c:ptCount val="13"/>
                <c:pt idx="0">
                  <c:v/>
                </c:pt>
                <c:pt idx="1">
                  <c:v/>
                </c:pt>
                <c:pt idx="2">
                  <c:v/>
                </c:pt>
                <c:pt idx="3">
                  <c:v/>
                </c:pt>
                <c:pt idx="4">
                  <c:v>146</c:v>
                </c:pt>
                <c:pt idx="5">
                  <c:v>109</c:v>
                </c:pt>
                <c:pt idx="6">
                  <c:v>75</c:v>
                </c:pt>
                <c:pt idx="7">
                  <c:v>175</c:v>
                </c:pt>
                <c:pt idx="8">
                  <c:v>205</c:v>
                </c:pt>
                <c:pt idx="9">
                  <c:v>159</c:v>
                </c:pt>
                <c:pt idx="10">
                  <c:v>201</c:v>
                </c:pt>
                <c:pt idx="11">
                  <c:v>131</c:v>
                </c:pt>
                <c:pt idx="12">
                  <c:v>160</c:v>
                </c:pt>
              </c:numCache>
            </c:numRef>
          </c:val>
          <c:smooth val="1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TLV</c:v>
                </c:pt>
              </c:strCache>
            </c:strRef>
          </c:tx>
          <c:spPr>
            <a:solidFill>
              <a:srgbClr val="005F1E"/>
            </a:solidFill>
            <a:ln w="38100" cap="flat">
              <a:solidFill>
                <a:srgbClr val="005F1E"/>
              </a:solidFill>
              <a:prstDash val="solid"/>
              <a:round/>
            </a:ln>
            <a:effectLst/>
          </c:spPr>
          <c:invertIfNegative val="0"/>
          <c:dLbls>
            <c:numFmt formatCode="0" sourceLinked="0"/>
            <c:txPr>
              <a:bodyPr/>
              <a:lstStyle/>
              <a:p>
                <a:pPr>
                  <a:defRPr b="0" i="0" strike="noStrike" sz="700" u="none">
                    <a:solidFill>
                      <a:srgbClr val="16203A"/>
                    </a:solidFill>
                    <a:latin typeface="Poppins"/>
                  </a:defRPr>
                </a:pPr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005F1E"/>
              </a:solidFill>
              <a:ln w="9525" cap="flat">
                <a:solidFill>
                  <a:srgbClr val="005F1E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Sheet1!$A$2:$A$14</c:f>
              <c:multiLvlStrCache>
                <c:ptCount val="13"/>
                <c:lvl>
                  <c:pt idx="0">
                    <c:v>Feb-25</c:v>
                  </c:pt>
                  <c:pt idx="1">
                    <c:v>Mar-25</c:v>
                  </c:pt>
                  <c:pt idx="2">
                    <c:v>Abr-25</c:v>
                  </c:pt>
                  <c:pt idx="3">
                    <c:v>May-25</c:v>
                  </c:pt>
                  <c:pt idx="4">
                    <c:v>Jun-25</c:v>
                  </c:pt>
                  <c:pt idx="5">
                    <c:v>Jul-25</c:v>
                  </c:pt>
                  <c:pt idx="6">
                    <c:v>Ago-25</c:v>
                  </c:pt>
                  <c:pt idx="7">
                    <c:v>Sep-25</c:v>
                  </c:pt>
                  <c:pt idx="8">
                    <c:v>Oct-25</c:v>
                  </c:pt>
                  <c:pt idx="9">
                    <c:v>Nov-25</c:v>
                  </c:pt>
                  <c:pt idx="10">
                    <c:v>Dic-25</c:v>
                  </c:pt>
                  <c:pt idx="11">
                    <c:v>Ene-26</c:v>
                  </c:pt>
                  <c:pt idx="12">
                    <c:v>Feb-26</c:v>
                  </c:pt>
                </c:lvl>
              </c:multiLvlStrCache>
            </c:multiLvlStrRef>
          </c:cat>
          <c:val>
            <c:numRef>
              <c:f>Sheet1!$D$2:$D$14</c:f>
              <c:numCache>
                <c:formatCode>General</c:formatCode>
                <c:ptCount val="13"/>
                <c:pt idx="0">
                  <c:v>47</c:v>
                </c:pt>
                <c:pt idx="1">
                  <c:v>68</c:v>
                </c:pt>
                <c:pt idx="2">
                  <c:v>87</c:v>
                </c:pt>
                <c:pt idx="3">
                  <c:v>74</c:v>
                </c:pt>
                <c:pt idx="4">
                  <c:v>89</c:v>
                </c:pt>
                <c:pt idx="5">
                  <c:v>92</c:v>
                </c:pt>
                <c:pt idx="6">
                  <c:v>96</c:v>
                </c:pt>
                <c:pt idx="7">
                  <c:v>84</c:v>
                </c:pt>
                <c:pt idx="8">
                  <c:v>102</c:v>
                </c:pt>
                <c:pt idx="9">
                  <c:v>100</c:v>
                </c:pt>
                <c:pt idx="10">
                  <c:v>95</c:v>
                </c:pt>
                <c:pt idx="11">
                  <c:v>104</c:v>
                </c:pt>
                <c:pt idx="12">
                  <c:v>101</c:v>
                </c:pt>
              </c:numCache>
            </c:numRef>
          </c:val>
          <c:smooth val="1"/>
        </c:ser>
        <c:dLbls>
          <c:numFmt formatCode="0" sourceLinked="0"/>
          <c:txPr>
            <a:bodyPr/>
            <a:lstStyle/>
            <a:p>
              <a:pPr>
                <a:defRPr b="0" i="0" strike="noStrike" sz="700" u="none">
                  <a:solidFill>
                    <a:srgbClr val="16203A"/>
                  </a:solidFill>
                  <a:latin typeface="Poppins"/>
                </a:defRPr>
              </a:pPr>
            </a:p>
          </c:txPr>
          <c:dLblPos val="t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850" b="0" i="0" u="none" strike="noStrike">
                <a:solidFill>
                  <a:srgbClr val="737D92"/>
                </a:solidFill>
                <a:latin typeface="Poppins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850">
              <a:solidFill>
                <a:srgbClr val="16203A"/>
              </a:solidFill>
              <a:latin typeface="Poppins"/>
              <a:cs typeface="Poppins"/>
      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Tiendas</c:v>
                </c:pt>
              </c:strCache>
            </c:strRef>
          </c:tx>
          <c:spPr>
            <a:solidFill>
              <a:srgbClr val="1F4592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600" u="none">
                    <a:solidFill>
                      <a:srgbClr val="FFFFFF"/>
                    </a:solidFill>
                    <a:latin typeface="Poppins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Sheet1!$A$2:$A$10</c:f>
              <c:multiLvlStrCache>
                <c:ptCount val="9"/>
                <c:lvl>
                  <c:pt idx="0">
                    <c:v>Jun-25</c:v>
                  </c:pt>
                  <c:pt idx="1">
                    <c:v>Jul-25</c:v>
                  </c:pt>
                  <c:pt idx="2">
                    <c:v>Ago-25</c:v>
                  </c:pt>
                  <c:pt idx="3">
                    <c:v>Sep-25</c:v>
                  </c:pt>
                  <c:pt idx="4">
                    <c:v>Oct-25</c:v>
                  </c:pt>
                  <c:pt idx="5">
                    <c:v>Nov-25</c:v>
                  </c:pt>
                  <c:pt idx="6">
                    <c:v>Dic-25</c:v>
                  </c:pt>
                  <c:pt idx="7">
                    <c:v>Ene-26</c:v>
                  </c:pt>
                  <c:pt idx="8">
                    <c:v>Feb-26</c:v>
                  </c:pt>
                </c:lvl>
              </c:multiLvlStrCache>
            </c:multiLvl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3.04</c:v>
                </c:pt>
                <c:pt idx="1">
                  <c:v>4.74</c:v>
                </c:pt>
                <c:pt idx="2">
                  <c:v>3.39</c:v>
                </c:pt>
                <c:pt idx="3">
                  <c:v>6.97</c:v>
                </c:pt>
                <c:pt idx="4">
                  <c:v>5.37</c:v>
                </c:pt>
                <c:pt idx="5">
                  <c:v>6.44</c:v>
                </c:pt>
                <c:pt idx="6">
                  <c:v>6.61</c:v>
                </c:pt>
                <c:pt idx="7">
                  <c:v>9.01</c:v>
                </c:pt>
                <c:pt idx="8">
                  <c:v>10.73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Tiendas Virtuales</c:v>
                </c:pt>
              </c:strCache>
            </c:strRef>
          </c:tx>
          <c:spPr>
            <a:solidFill>
              <a:srgbClr val="00BE50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600" u="none">
                    <a:solidFill>
                      <a:srgbClr val="FFFFFF"/>
                    </a:solidFill>
                    <a:latin typeface="Poppins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Sheet1!$A$2:$A$10</c:f>
              <c:multiLvlStrCache>
                <c:ptCount val="9"/>
                <c:lvl>
                  <c:pt idx="0">
                    <c:v>Jun-25</c:v>
                  </c:pt>
                  <c:pt idx="1">
                    <c:v>Jul-25</c:v>
                  </c:pt>
                  <c:pt idx="2">
                    <c:v>Ago-25</c:v>
                  </c:pt>
                  <c:pt idx="3">
                    <c:v>Sep-25</c:v>
                  </c:pt>
                  <c:pt idx="4">
                    <c:v>Oct-25</c:v>
                  </c:pt>
                  <c:pt idx="5">
                    <c:v>Nov-25</c:v>
                  </c:pt>
                  <c:pt idx="6">
                    <c:v>Dic-25</c:v>
                  </c:pt>
                  <c:pt idx="7">
                    <c:v>Ene-26</c:v>
                  </c:pt>
                  <c:pt idx="8">
                    <c:v>Feb-26</c:v>
                  </c:pt>
                </c:lvl>
              </c:multiLvlStrCache>
            </c:multiLvlStrRef>
          </c:cat>
          <c:val>
            <c:numRef>
              <c:f>Sheet1!$C$2:$C$10</c:f>
              <c:numCache>
                <c:formatCode>General</c:formatCode>
                <c:ptCount val="9"/>
                <c:pt idx="0">
                  <c:v>1.47</c:v>
                </c:pt>
                <c:pt idx="1">
                  <c:v>1.86</c:v>
                </c:pt>
                <c:pt idx="2">
                  <c:v>2.21</c:v>
                </c:pt>
                <c:pt idx="3">
                  <c:v>2.28</c:v>
                </c:pt>
                <c:pt idx="4">
                  <c:v>4.36</c:v>
                </c:pt>
                <c:pt idx="5">
                  <c:v>3.43</c:v>
                </c:pt>
                <c:pt idx="6">
                  <c:v>3.03</c:v>
                </c:pt>
                <c:pt idx="7">
                  <c:v>0.63</c:v>
                </c:pt>
                <c:pt idx="8">
                  <c:v>1.16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Televentas</c:v>
                </c:pt>
              </c:strCache>
            </c:strRef>
          </c:tx>
          <c:spPr>
            <a:solidFill>
              <a:srgbClr val="005F1E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600" u="none">
                    <a:solidFill>
                      <a:srgbClr val="FFFFFF"/>
                    </a:solidFill>
                    <a:latin typeface="Poppins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Sheet1!$A$2:$A$10</c:f>
              <c:multiLvlStrCache>
                <c:ptCount val="9"/>
                <c:lvl>
                  <c:pt idx="0">
                    <c:v>Jun-25</c:v>
                  </c:pt>
                  <c:pt idx="1">
                    <c:v>Jul-25</c:v>
                  </c:pt>
                  <c:pt idx="2">
                    <c:v>Ago-25</c:v>
                  </c:pt>
                  <c:pt idx="3">
                    <c:v>Sep-25</c:v>
                  </c:pt>
                  <c:pt idx="4">
                    <c:v>Oct-25</c:v>
                  </c:pt>
                  <c:pt idx="5">
                    <c:v>Nov-25</c:v>
                  </c:pt>
                  <c:pt idx="6">
                    <c:v>Dic-25</c:v>
                  </c:pt>
                  <c:pt idx="7">
                    <c:v>Ene-26</c:v>
                  </c:pt>
                  <c:pt idx="8">
                    <c:v>Feb-26</c:v>
                  </c:pt>
                </c:lvl>
              </c:multiLvlStrCache>
            </c:multiLvlStrRef>
          </c:cat>
          <c:val>
            <c:numRef>
              <c:f>Sheet1!$D$2:$D$10</c:f>
              <c:numCache>
                <c:formatCode>General</c:formatCode>
                <c:ptCount val="9"/>
                <c:pt idx="0">
                  <c:v>0.32</c:v>
                </c:pt>
                <c:pt idx="1">
                  <c:v>0.28</c:v>
                </c:pt>
                <c:pt idx="2">
                  <c:v>0.3</c:v>
                </c:pt>
                <c:pt idx="3">
                  <c:v>0.13</c:v>
                </c:pt>
                <c:pt idx="4">
                  <c:v>0.38</c:v>
                </c:pt>
                <c:pt idx="5">
                  <c:v>0.53</c:v>
                </c:pt>
                <c:pt idx="6">
                  <c:v>0.38</c:v>
                </c:pt>
                <c:pt idx="7">
                  <c:v>0.51</c:v>
                </c:pt>
                <c:pt idx="8">
                  <c:v>0.5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Sin Asignación</c:v>
                </c:pt>
              </c:strCache>
            </c:strRef>
          </c:tx>
          <c:spPr>
            <a:solidFill>
              <a:srgbClr val="A0AEC0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600" u="none">
                    <a:solidFill>
                      <a:srgbClr val="FFFFFF"/>
                    </a:solidFill>
                    <a:latin typeface="Poppins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Sheet1!$A$2:$A$10</c:f>
              <c:multiLvlStrCache>
                <c:ptCount val="9"/>
                <c:lvl>
                  <c:pt idx="0">
                    <c:v>Jun-25</c:v>
                  </c:pt>
                  <c:pt idx="1">
                    <c:v>Jul-25</c:v>
                  </c:pt>
                  <c:pt idx="2">
                    <c:v>Ago-25</c:v>
                  </c:pt>
                  <c:pt idx="3">
                    <c:v>Sep-25</c:v>
                  </c:pt>
                  <c:pt idx="4">
                    <c:v>Oct-25</c:v>
                  </c:pt>
                  <c:pt idx="5">
                    <c:v>Nov-25</c:v>
                  </c:pt>
                  <c:pt idx="6">
                    <c:v>Dic-25</c:v>
                  </c:pt>
                  <c:pt idx="7">
                    <c:v>Ene-26</c:v>
                  </c:pt>
                  <c:pt idx="8">
                    <c:v>Feb-26</c:v>
                  </c:pt>
                </c:lvl>
              </c:multiLvlStrCache>
            </c:multiLvlStrRef>
          </c:cat>
          <c:val>
            <c:numRef>
              <c:f>Sheet1!$E$2:$E$10</c:f>
              <c:numCache>
                <c:formatCode>General</c:formatCode>
                <c:ptCount val="9"/>
                <c:pt idx="0">
                  <c:v>2</c:v>
                </c:pt>
                <c:pt idx="1">
                  <c:v>2.63</c:v>
                </c:pt>
                <c:pt idx="2">
                  <c:v>1.9</c:v>
                </c:pt>
                <c:pt idx="3">
                  <c:v>3.47</c:v>
                </c:pt>
                <c:pt idx="4">
                  <c:v>2.36</c:v>
                </c:pt>
                <c:pt idx="5">
                  <c:v>1.14</c:v>
                </c:pt>
                <c:pt idx="6">
                  <c:v>1.05</c:v>
                </c:pt>
                <c:pt idx="7">
                  <c:v>1.73</c:v>
                </c:pt>
                <c:pt idx="8">
                  <c:v>2.03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0" i="0" strike="noStrike" sz="600" u="none">
                  <a:solidFill>
                    <a:srgbClr val="FFFFFF"/>
                  </a:solidFill>
                  <a:latin typeface="Poppins"/>
                </a:defRPr>
              </a:pPr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0"/>
        <c:overlap val="10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850" b="0" i="0" u="none" strike="noStrike">
                <a:solidFill>
                  <a:srgbClr val="737D92"/>
                </a:solidFill>
                <a:latin typeface="Poppins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850">
              <a:solidFill>
                <a:srgbClr val="16203A"/>
              </a:solidFill>
              <a:latin typeface="Poppins"/>
              <a:cs typeface="Poppins"/>
      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Cartera</c:v>
                </c:pt>
              </c:strCache>
            </c:strRef>
          </c:tx>
          <c:spPr>
            <a:solidFill>
              <a:srgbClr val="1F4592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600" u="none">
                    <a:solidFill>
                      <a:srgbClr val="FFFFFF"/>
                    </a:solidFill>
                    <a:latin typeface="Poppins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Sheet1!$A$2:$A$10</c:f>
              <c:multiLvlStrCache>
                <c:ptCount val="9"/>
                <c:lvl>
                  <c:pt idx="0">
                    <c:v>Jun-25</c:v>
                  </c:pt>
                  <c:pt idx="1">
                    <c:v>Jul-25</c:v>
                  </c:pt>
                  <c:pt idx="2">
                    <c:v>Ago-25</c:v>
                  </c:pt>
                  <c:pt idx="3">
                    <c:v>Sep-25</c:v>
                  </c:pt>
                  <c:pt idx="4">
                    <c:v>Oct-25</c:v>
                  </c:pt>
                  <c:pt idx="5">
                    <c:v>Nov-25</c:v>
                  </c:pt>
                  <c:pt idx="6">
                    <c:v>Dic-25</c:v>
                  </c:pt>
                  <c:pt idx="7">
                    <c:v>Ene-26</c:v>
                  </c:pt>
                  <c:pt idx="8">
                    <c:v>Feb-26</c:v>
                  </c:pt>
                </c:lvl>
              </c:multiLvlStrCache>
            </c:multiLvl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4.31</c:v>
                </c:pt>
                <c:pt idx="1">
                  <c:v>6.6</c:v>
                </c:pt>
                <c:pt idx="2">
                  <c:v>5.33</c:v>
                </c:pt>
                <c:pt idx="3">
                  <c:v>8.58</c:v>
                </c:pt>
                <c:pt idx="4">
                  <c:v>9.45</c:v>
                </c:pt>
                <c:pt idx="5">
                  <c:v>8.69</c:v>
                </c:pt>
                <c:pt idx="6">
                  <c:v>9.43</c:v>
                </c:pt>
                <c:pt idx="7">
                  <c:v>8.4</c:v>
                </c:pt>
                <c:pt idx="8">
                  <c:v>10.84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No carterizado</c:v>
                </c:pt>
              </c:strCache>
            </c:strRef>
          </c:tx>
          <c:spPr>
            <a:solidFill>
              <a:srgbClr val="00BE50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600" u="none">
                    <a:solidFill>
                      <a:srgbClr val="FFFFFF"/>
                    </a:solidFill>
                    <a:latin typeface="Poppins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Sheet1!$A$2:$A$10</c:f>
              <c:multiLvlStrCache>
                <c:ptCount val="9"/>
                <c:lvl>
                  <c:pt idx="0">
                    <c:v>Jun-25</c:v>
                  </c:pt>
                  <c:pt idx="1">
                    <c:v>Jul-25</c:v>
                  </c:pt>
                  <c:pt idx="2">
                    <c:v>Ago-25</c:v>
                  </c:pt>
                  <c:pt idx="3">
                    <c:v>Sep-25</c:v>
                  </c:pt>
                  <c:pt idx="4">
                    <c:v>Oct-25</c:v>
                  </c:pt>
                  <c:pt idx="5">
                    <c:v>Nov-25</c:v>
                  </c:pt>
                  <c:pt idx="6">
                    <c:v>Dic-25</c:v>
                  </c:pt>
                  <c:pt idx="7">
                    <c:v>Ene-26</c:v>
                  </c:pt>
                  <c:pt idx="8">
                    <c:v>Feb-26</c:v>
                  </c:pt>
                </c:lvl>
              </c:multiLvlStrCache>
            </c:multiLvlStrRef>
          </c:cat>
          <c:val>
            <c:numRef>
              <c:f>Sheet1!$C$2:$C$10</c:f>
              <c:numCache>
                <c:formatCode>General</c:formatCode>
                <c:ptCount val="9"/>
                <c:pt idx="0">
                  <c:v>2.52</c:v>
                </c:pt>
                <c:pt idx="1">
                  <c:v>2.91</c:v>
                </c:pt>
                <c:pt idx="2">
                  <c:v>2.47</c:v>
                </c:pt>
                <c:pt idx="3">
                  <c:v>4.27</c:v>
                </c:pt>
                <c:pt idx="4">
                  <c:v>3.02</c:v>
                </c:pt>
                <c:pt idx="5">
                  <c:v>2.84</c:v>
                </c:pt>
                <c:pt idx="6">
                  <c:v>1.64</c:v>
                </c:pt>
                <c:pt idx="7">
                  <c:v>3.49</c:v>
                </c:pt>
                <c:pt idx="8">
                  <c:v>3.57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0" i="0" strike="noStrike" sz="600" u="none">
                  <a:solidFill>
                    <a:srgbClr val="FFFFFF"/>
                  </a:solidFill>
                  <a:latin typeface="Poppins"/>
                </a:defRPr>
              </a:pPr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0"/>
        <c:overlap val="10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850" b="0" i="0" u="none" strike="noStrike">
                <a:solidFill>
                  <a:srgbClr val="737D92"/>
                </a:solidFill>
                <a:latin typeface="Poppins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850">
              <a:solidFill>
                <a:srgbClr val="16203A"/>
              </a:solidFill>
              <a:latin typeface="Poppins"/>
              <a:cs typeface="Poppins"/>
      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chart" Target="/ppt/charts/chart2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chart" Target="/ppt/charts/chart4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5.xml"/><Relationship Id="rId2" Type="http://schemas.openxmlformats.org/officeDocument/2006/relationships/chart" Target="/ppt/charts/chart6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7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8.xml"/><Relationship Id="rId2" Type="http://schemas.openxmlformats.org/officeDocument/2006/relationships/chart" Target="/ppt/charts/chart9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0.xml"/><Relationship Id="rId2" Type="http://schemas.openxmlformats.org/officeDocument/2006/relationships/chart" Target="/ppt/charts/chart11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2.xml"/><Relationship Id="rId2" Type="http://schemas.openxmlformats.org/officeDocument/2006/relationships/chart" Target="/ppt/charts/chart13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4.xml"/><Relationship Id="rId2" Type="http://schemas.openxmlformats.org/officeDocument/2006/relationships/chart" Target="/ppt/charts/chart15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6.xml"/><Relationship Id="rId2" Type="http://schemas.openxmlformats.org/officeDocument/2006/relationships/chart" Target="/ppt/charts/chart17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8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9.xml"/><Relationship Id="rId2" Type="http://schemas.openxmlformats.org/officeDocument/2006/relationships/chart" Target="/ppt/charts/chart20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1.xml"/><Relationship Id="rId2" Type="http://schemas.openxmlformats.org/officeDocument/2006/relationships/chart" Target="/ppt/charts/chart22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3.xml"/><Relationship Id="rId2" Type="http://schemas.openxmlformats.org/officeDocument/2006/relationships/chart" Target="/ppt/charts/chart24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5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6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7.xml"/><Relationship Id="rId2" Type="http://schemas.openxmlformats.org/officeDocument/2006/relationships/chart" Target="/ppt/charts/chart28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459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554480"/>
            <a:ext cx="4206240" cy="4206240"/>
          </a:xfrm>
          <a:prstGeom prst="ellipse">
            <a:avLst/>
          </a:prstGeom>
          <a:solidFill>
            <a:srgbClr val="005F1E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698480" y="4206240"/>
            <a:ext cx="3291840" cy="3291840"/>
          </a:xfrm>
          <a:prstGeom prst="ellipse">
            <a:avLst/>
          </a:prstGeom>
          <a:solidFill>
            <a:srgbClr val="00BE50">
              <a:alpha val="4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8288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C6FFC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NBC EMPRESAS · BANCA NEGOCIO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31520" y="228600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Análisis de Fuga</a:t>
            </a:r>
            <a:endParaRPr lang="en-US" sz="4600" dirty="0"/>
          </a:p>
        </p:txBody>
      </p:sp>
      <p:sp>
        <p:nvSpPr>
          <p:cNvPr id="6" name="Text 4"/>
          <p:cNvSpPr/>
          <p:nvPr/>
        </p:nvSpPr>
        <p:spPr>
          <a:xfrm>
            <a:off x="731520" y="324612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C6FFC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Créditos comprados por otra entidad financiera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731520" y="411480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Periodo de compra: Feb-2025 a Feb-2026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1,357 créditos · S/ 116.8 MM de saldo fugado · Fuente: DATA_FUGA.xlsx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05F1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RESUMEN EJECUTIVO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459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S/ 116.8 MM fugados y el 72% ya estaba en nuestro funnel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644652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37D9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Interbank · NBC Empresas — Advanced Analytics &amp; IA</a:t>
            </a:r>
            <a:pPr indent="0" marL="0">
              <a:buNone/>
            </a:pPr>
            <a:r>
              <a:rPr lang="en-US" sz="900" dirty="0">
                <a:solidFill>
                  <a:srgbClr val="737D9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  ·   Documento de trabajo interno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48640" y="1600200"/>
            <a:ext cx="269748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E7EAF1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40080" y="1783080"/>
            <a:ext cx="2514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F459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1,357</a:t>
            </a:r>
            <a:endParaRPr lang="en-US" sz="2500" dirty="0"/>
          </a:p>
        </p:txBody>
      </p:sp>
      <p:sp>
        <p:nvSpPr>
          <p:cNvPr id="7" name="Text 5"/>
          <p:cNvSpPr/>
          <p:nvPr/>
        </p:nvSpPr>
        <p:spPr>
          <a:xfrm>
            <a:off x="640080" y="2468880"/>
            <a:ext cx="2514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737D9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créditos fugados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3410712" y="1600200"/>
            <a:ext cx="269748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E7EAF1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502152" y="1783080"/>
            <a:ext cx="2514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F459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S/ 116.8 MM</a:t>
            </a:r>
            <a:endParaRPr lang="en-US" sz="2500" dirty="0"/>
          </a:p>
        </p:txBody>
      </p:sp>
      <p:sp>
        <p:nvSpPr>
          <p:cNvPr id="10" name="Text 8"/>
          <p:cNvSpPr/>
          <p:nvPr/>
        </p:nvSpPr>
        <p:spPr>
          <a:xfrm>
            <a:off x="3502152" y="2468880"/>
            <a:ext cx="2514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737D9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saldo fugado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6272784" y="1600200"/>
            <a:ext cx="269748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E7EAF1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364224" y="1783080"/>
            <a:ext cx="2514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05F1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72%</a:t>
            </a:r>
            <a:endParaRPr lang="en-US" sz="2500" dirty="0"/>
          </a:p>
        </p:txBody>
      </p:sp>
      <p:sp>
        <p:nvSpPr>
          <p:cNvPr id="13" name="Text 11"/>
          <p:cNvSpPr/>
          <p:nvPr/>
        </p:nvSpPr>
        <p:spPr>
          <a:xfrm>
            <a:off x="6364224" y="2468880"/>
            <a:ext cx="2514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737D9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estaba en el funnel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9134856" y="1600200"/>
            <a:ext cx="269748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E7EAF1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9226296" y="1783080"/>
            <a:ext cx="2514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C4314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437</a:t>
            </a:r>
            <a:endParaRPr lang="en-US" sz="2500" dirty="0"/>
          </a:p>
        </p:txBody>
      </p:sp>
      <p:sp>
        <p:nvSpPr>
          <p:cNvPr id="16" name="Text 14"/>
          <p:cNvSpPr/>
          <p:nvPr/>
        </p:nvSpPr>
        <p:spPr>
          <a:xfrm>
            <a:off x="9226296" y="2468880"/>
            <a:ext cx="2514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737D9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carterizados sin gestión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548640" y="3337560"/>
            <a:ext cx="11064240" cy="2651760"/>
          </a:xfrm>
          <a:prstGeom prst="roundRect">
            <a:avLst>
              <a:gd name="adj" fmla="val 2759"/>
            </a:avLst>
          </a:prstGeom>
          <a:solidFill>
            <a:srgbClr val="F7FAFC"/>
          </a:solidFill>
          <a:ln w="12700">
            <a:solidFill>
              <a:srgbClr val="E7EAF1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868680" y="3611880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5F1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Llamado a la acción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868680" y="4114800"/>
            <a:ext cx="1042416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05000"/>
              </a:lnSpc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1620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7 de cada 10 créditos fugados estaban en el funnel comercial, pero solo el 43% recibió gestión: activar contacto sobre lo identificado.</a:t>
            </a:r>
            <a:endParaRPr lang="en-US" sz="1300" dirty="0"/>
          </a:p>
          <a:p>
            <a:pPr marL="342900" indent="-342900">
              <a:lnSpc>
                <a:spcPct val="105000"/>
              </a:lnSpc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1620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El 47% del volumen (S/100k–500k) explica ~70% del saldo perdido: priorizar por saldo, no por número de casos.</a:t>
            </a:r>
            <a:endParaRPr lang="en-US" sz="1300" dirty="0"/>
          </a:p>
          <a:p>
            <a:pPr marL="342900" indent="-342900">
              <a:lnSpc>
                <a:spcPct val="105000"/>
              </a:lnSpc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1620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La fuga mensual se multiplicó por 2.6 en un año: fijar meta de retención y monitoreo mensual.</a:t>
            </a:r>
            <a:endParaRPr lang="en-US" sz="1300" dirty="0"/>
          </a:p>
          <a:p>
            <a:pPr marL="342900" indent="-342900">
              <a:lnSpc>
                <a:spcPct val="105000"/>
              </a:lnSpc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1620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Más de la mitad del saldo fugado eran clientes carterizados: cerrar el lazo entre prioridad y gestión.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05F1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HALLAZGOS PRIORIZADOS POR IMPACTO EN RETENCIÓN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459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Seis lecturas que ordenan el plan de acción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644652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37D9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Interbank · NBC Empresas — Advanced Analytics &amp; IA</a:t>
            </a:r>
            <a:pPr indent="0" marL="0">
              <a:buNone/>
            </a:pPr>
            <a:r>
              <a:rPr lang="en-US" sz="900" dirty="0">
                <a:solidFill>
                  <a:srgbClr val="737D9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  ·   Documento de trabajo interno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48640" y="1645920"/>
            <a:ext cx="361188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E7EAF1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77240" y="1901952"/>
            <a:ext cx="566928" cy="566928"/>
          </a:xfrm>
          <a:prstGeom prst="ellipse">
            <a:avLst/>
          </a:prstGeom>
          <a:solidFill>
            <a:srgbClr val="1F4592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190195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508760" y="1938528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05F1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GESTIÓN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95528" y="2560320"/>
            <a:ext cx="3154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1620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Solo gestionamos al 43% de los que estaban en el funnel; 437 carterizados se fugaron sin contacto.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325112" y="1645920"/>
            <a:ext cx="361188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E7EAF1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553712" y="1901952"/>
            <a:ext cx="566928" cy="566928"/>
          </a:xfrm>
          <a:prstGeom prst="ellipse">
            <a:avLst/>
          </a:prstGeom>
          <a:solidFill>
            <a:srgbClr val="1F4592"/>
          </a:solidFill>
          <a:ln/>
        </p:spPr>
      </p:sp>
      <p:sp>
        <p:nvSpPr>
          <p:cNvPr id="12" name="Text 10"/>
          <p:cNvSpPr/>
          <p:nvPr/>
        </p:nvSpPr>
        <p:spPr>
          <a:xfrm>
            <a:off x="4553712" y="190195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5285232" y="1938528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05F1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SALDO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572000" y="2560320"/>
            <a:ext cx="3154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1620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El 47% de los créditos (S/100k–500k) concentra ~70% del saldo fugado.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8101584" y="1645920"/>
            <a:ext cx="361188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E7EAF1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330184" y="1901952"/>
            <a:ext cx="566928" cy="566928"/>
          </a:xfrm>
          <a:prstGeom prst="ellipse">
            <a:avLst/>
          </a:prstGeom>
          <a:solidFill>
            <a:srgbClr val="1F4592"/>
          </a:solidFill>
          <a:ln/>
        </p:spPr>
      </p:sp>
      <p:sp>
        <p:nvSpPr>
          <p:cNvPr id="17" name="Text 15"/>
          <p:cNvSpPr/>
          <p:nvPr/>
        </p:nvSpPr>
        <p:spPr>
          <a:xfrm>
            <a:off x="8330184" y="190195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03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9061704" y="1938528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05F1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TENDENCIA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8348472" y="2560320"/>
            <a:ext cx="3154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1620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La fuga mensual se multiplicó por 2.6 en un año; tendencia sostenida.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548640" y="3630168"/>
            <a:ext cx="361188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E7EAF1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777240" y="3886200"/>
            <a:ext cx="566928" cy="566928"/>
          </a:xfrm>
          <a:prstGeom prst="ellipse">
            <a:avLst/>
          </a:prstGeom>
          <a:solidFill>
            <a:srgbClr val="1F4592"/>
          </a:solidFill>
          <a:ln/>
        </p:spPr>
      </p:sp>
      <p:sp>
        <p:nvSpPr>
          <p:cNvPr id="22" name="Text 20"/>
          <p:cNvSpPr/>
          <p:nvPr/>
        </p:nvSpPr>
        <p:spPr>
          <a:xfrm>
            <a:off x="777240" y="38862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04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508760" y="3922776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05F1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PRECIO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795528" y="4544568"/>
            <a:ext cx="3154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1620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Casi 1 de cada 5 se fugó con tasa ≥20%: sensibles a recompra por precio.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4325112" y="3630168"/>
            <a:ext cx="361188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E7EAF1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553712" y="3886200"/>
            <a:ext cx="566928" cy="566928"/>
          </a:xfrm>
          <a:prstGeom prst="ellipse">
            <a:avLst/>
          </a:prstGeom>
          <a:solidFill>
            <a:srgbClr val="1F4592"/>
          </a:solidFill>
          <a:ln/>
        </p:spPr>
      </p:sp>
      <p:sp>
        <p:nvSpPr>
          <p:cNvPr id="27" name="Text 25"/>
          <p:cNvSpPr/>
          <p:nvPr/>
        </p:nvSpPr>
        <p:spPr>
          <a:xfrm>
            <a:off x="4553712" y="38862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05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5285232" y="3922776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05F1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TIEMPO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4572000" y="4544568"/>
            <a:ext cx="3154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1620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Dos relojes: Tiendas/TLV ~9 meses; Vendors/T. Virtuales ~2–5 meses.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8101584" y="3630168"/>
            <a:ext cx="361188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E7EAF1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8330184" y="3886200"/>
            <a:ext cx="566928" cy="566928"/>
          </a:xfrm>
          <a:prstGeom prst="ellipse">
            <a:avLst/>
          </a:prstGeom>
          <a:solidFill>
            <a:srgbClr val="1F4592"/>
          </a:solidFill>
          <a:ln/>
        </p:spPr>
      </p:sp>
      <p:sp>
        <p:nvSpPr>
          <p:cNvPr id="32" name="Text 30"/>
          <p:cNvSpPr/>
          <p:nvPr/>
        </p:nvSpPr>
        <p:spPr>
          <a:xfrm>
            <a:off x="8330184" y="38862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06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9061704" y="3922776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05F1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MODELO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8348472" y="4544568"/>
            <a:ext cx="3154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1620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La mayoría de fugados en funnel eran P1: el modelo ya los marcaba.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05F1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ANÁLISIS 1 · PERFIL DE LA COLOCACIÓN FUGADA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459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La fuga se triplicó: de 57 a 151 créditos/mes (S/ 14.4 MM en Feb-26)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644652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37D9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Interbank · NBC Empresas — Advanced Analytics &amp; IA</a:t>
            </a:r>
            <a:pPr indent="0" marL="0">
              <a:buNone/>
            </a:pPr>
            <a:r>
              <a:rPr lang="en-US" sz="900" dirty="0">
                <a:solidFill>
                  <a:srgbClr val="737D9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  ·   Documento de trabajo interno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5486400" cy="4251960"/>
          </a:xfrm>
          <a:prstGeom prst="roundRect">
            <a:avLst>
              <a:gd name="adj" fmla="val 1720"/>
            </a:avLst>
          </a:prstGeom>
          <a:solidFill>
            <a:srgbClr val="FFFFFF"/>
          </a:solidFill>
          <a:ln w="12700">
            <a:solidFill>
              <a:srgbClr val="E7EAF1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77240" y="1847088"/>
            <a:ext cx="5074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20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Créditos fugados por mes de compra</a:t>
            </a:r>
            <a:endParaRPr lang="en-US" sz="1200" dirty="0"/>
          </a:p>
        </p:txBody>
      </p:sp>
      <p:graphicFrame>
        <p:nvGraphicFramePr>
          <p:cNvPr id="7" name="Chart 0" descr=""/>
          <p:cNvGraphicFramePr/>
          <p:nvPr/>
        </p:nvGraphicFramePr>
        <p:xfrm>
          <a:off x="658368" y="2286000"/>
          <a:ext cx="5230368" cy="3584448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8" name="Shape 5"/>
          <p:cNvSpPr/>
          <p:nvPr/>
        </p:nvSpPr>
        <p:spPr>
          <a:xfrm>
            <a:off x="6172200" y="1691640"/>
            <a:ext cx="5440680" cy="4251960"/>
          </a:xfrm>
          <a:prstGeom prst="roundRect">
            <a:avLst>
              <a:gd name="adj" fmla="val 1720"/>
            </a:avLst>
          </a:prstGeom>
          <a:solidFill>
            <a:srgbClr val="FFFFFF"/>
          </a:solidFill>
          <a:ln w="12700">
            <a:solidFill>
              <a:srgbClr val="E7EAF1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6400800" y="1847088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20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Saldo fugado por mes (S/ MM)</a:t>
            </a:r>
            <a:endParaRPr lang="en-US" sz="1200" dirty="0"/>
          </a:p>
        </p:txBody>
      </p:sp>
      <p:graphicFrame>
        <p:nvGraphicFramePr>
          <p:cNvPr id="10" name="Chart 1" descr=""/>
          <p:cNvGraphicFramePr/>
          <p:nvPr/>
        </p:nvGraphicFramePr>
        <p:xfrm>
          <a:off x="6281928" y="2286000"/>
          <a:ext cx="5184648" cy="3584448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05F1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ANÁLISIS 1 · PERFIL DE LA COLOCACIÓN FUGADA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459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Tiendas concentra el 50% del saldo fugado: S/ 58 MM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644652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37D9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Interbank · NBC Empresas — Advanced Analytics &amp; IA</a:t>
            </a:r>
            <a:pPr indent="0" marL="0">
              <a:buNone/>
            </a:pPr>
            <a:r>
              <a:rPr lang="en-US" sz="900" dirty="0">
                <a:solidFill>
                  <a:srgbClr val="737D9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  ·   Documento de trabajo interno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5486400" cy="4251960"/>
          </a:xfrm>
          <a:prstGeom prst="roundRect">
            <a:avLst>
              <a:gd name="adj" fmla="val 1720"/>
            </a:avLst>
          </a:prstGeom>
          <a:solidFill>
            <a:srgbClr val="FFFFFF"/>
          </a:solidFill>
          <a:ln w="12700">
            <a:solidFill>
              <a:srgbClr val="E7EAF1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77240" y="1847088"/>
            <a:ext cx="5074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20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Créditos por canal de desembolso (CANAL_FINAL)</a:t>
            </a:r>
            <a:endParaRPr lang="en-US" sz="1200" dirty="0"/>
          </a:p>
        </p:txBody>
      </p:sp>
      <p:graphicFrame>
        <p:nvGraphicFramePr>
          <p:cNvPr id="7" name="Chart 0" descr=""/>
          <p:cNvGraphicFramePr/>
          <p:nvPr/>
        </p:nvGraphicFramePr>
        <p:xfrm>
          <a:off x="658368" y="2286000"/>
          <a:ext cx="5230368" cy="3584448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8" name="Shape 5"/>
          <p:cNvSpPr/>
          <p:nvPr/>
        </p:nvSpPr>
        <p:spPr>
          <a:xfrm>
            <a:off x="6172200" y="1691640"/>
            <a:ext cx="5440680" cy="4251960"/>
          </a:xfrm>
          <a:prstGeom prst="roundRect">
            <a:avLst>
              <a:gd name="adj" fmla="val 1720"/>
            </a:avLst>
          </a:prstGeom>
          <a:solidFill>
            <a:srgbClr val="FFFFFF"/>
          </a:solidFill>
          <a:ln w="12700">
            <a:solidFill>
              <a:srgbClr val="E7EAF1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6400800" y="1847088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20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Saldo fugado por canal de desembolso (S/ MM)</a:t>
            </a:r>
            <a:endParaRPr lang="en-US" sz="1200" dirty="0"/>
          </a:p>
        </p:txBody>
      </p:sp>
      <p:graphicFrame>
        <p:nvGraphicFramePr>
          <p:cNvPr id="10" name="Chart 1" descr=""/>
          <p:cNvGraphicFramePr/>
          <p:nvPr/>
        </p:nvGraphicFramePr>
        <p:xfrm>
          <a:off x="6281928" y="2286000"/>
          <a:ext cx="5184648" cy="3584448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05F1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ANÁLISIS 1 · PERFIL DE LA COLOCACIÓN FUGADA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459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La fuga golpea temprano en Vendors y T. Virtuales: a los 2–5 meses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644652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37D9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Interbank · NBC Empresas — Advanced Analytics &amp; IA</a:t>
            </a:r>
            <a:pPr indent="0" marL="0">
              <a:buNone/>
            </a:pPr>
            <a:r>
              <a:rPr lang="en-US" sz="900" dirty="0">
                <a:solidFill>
                  <a:srgbClr val="737D9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  ·   Documento de trabajo interno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5486400" cy="4251960"/>
          </a:xfrm>
          <a:prstGeom prst="roundRect">
            <a:avLst>
              <a:gd name="adj" fmla="val 1720"/>
            </a:avLst>
          </a:prstGeom>
          <a:solidFill>
            <a:srgbClr val="FFFFFF"/>
          </a:solidFill>
          <a:ln w="12700">
            <a:solidFill>
              <a:srgbClr val="E7EAF1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77240" y="1847088"/>
            <a:ext cx="5074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20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Antigüedad promedio por canal (meses)</a:t>
            </a:r>
            <a:endParaRPr lang="en-US" sz="1200" dirty="0"/>
          </a:p>
        </p:txBody>
      </p:sp>
      <p:graphicFrame>
        <p:nvGraphicFramePr>
          <p:cNvPr id="7" name="Chart 0" descr=""/>
          <p:cNvGraphicFramePr/>
          <p:nvPr/>
        </p:nvGraphicFramePr>
        <p:xfrm>
          <a:off x="658368" y="2286000"/>
          <a:ext cx="5230368" cy="3584448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8" name="Shape 5"/>
          <p:cNvSpPr/>
          <p:nvPr/>
        </p:nvSpPr>
        <p:spPr>
          <a:xfrm>
            <a:off x="6172200" y="1691640"/>
            <a:ext cx="5440680" cy="4251960"/>
          </a:xfrm>
          <a:prstGeom prst="roundRect">
            <a:avLst>
              <a:gd name="adj" fmla="val 1720"/>
            </a:avLst>
          </a:prstGeom>
          <a:solidFill>
            <a:srgbClr val="FFFFFF"/>
          </a:solidFill>
          <a:ln w="12700">
            <a:solidFill>
              <a:srgbClr val="E7EAF1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6400800" y="1847088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20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Campañas de origen (CAMPANA_BASE) — Top 8</a:t>
            </a:r>
            <a:endParaRPr lang="en-US" sz="1200" dirty="0"/>
          </a:p>
        </p:txBody>
      </p:sp>
      <p:graphicFrame>
        <p:nvGraphicFramePr>
          <p:cNvPr id="10" name="Chart 1" descr=""/>
          <p:cNvGraphicFramePr/>
          <p:nvPr/>
        </p:nvGraphicFramePr>
        <p:xfrm>
          <a:off x="6281928" y="2286000"/>
          <a:ext cx="5184648" cy="3584448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05F1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ANÁLISIS 1 · ANTIGÜEDAD DEL DESEMBOLSO AL MOMENTO DE LA FUGA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459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Casi la mitad se fuga en los primeros 6 meses; el mayor saldo, en los primeros 3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644652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37D9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Interbank · NBC Empresas — Advanced Analytics &amp; IA</a:t>
            </a:r>
            <a:pPr indent="0" marL="0">
              <a:buNone/>
            </a:pPr>
            <a:r>
              <a:rPr lang="en-US" sz="900" dirty="0">
                <a:solidFill>
                  <a:srgbClr val="737D9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  ·   Documento de trabajo interno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6903720" cy="4251960"/>
          </a:xfrm>
          <a:prstGeom prst="roundRect">
            <a:avLst>
              <a:gd name="adj" fmla="val 1720"/>
            </a:avLst>
          </a:prstGeom>
          <a:solidFill>
            <a:srgbClr val="FFFFFF"/>
          </a:solidFill>
          <a:ln w="12700">
            <a:solidFill>
              <a:srgbClr val="E7EAF1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77240" y="1847088"/>
            <a:ext cx="6492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20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Meses entre el desembolso y la fuga — nº créditos (barras) y saldo S/ MM (línea)</a:t>
            </a:r>
            <a:endParaRPr lang="en-US" sz="1200" dirty="0"/>
          </a:p>
        </p:txBody>
      </p:sp>
      <p:graphicFrame>
        <p:nvGraphicFramePr>
          <p:cNvPr id="7" name="Chart 0" descr=""/>
          <p:cNvGraphicFramePr/>
          <p:nvPr/>
        </p:nvGraphicFramePr>
        <p:xfrm>
          <a:off x="658368" y="2286000"/>
          <a:ext cx="6647688" cy="3584448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8" name="Shape 5"/>
          <p:cNvSpPr/>
          <p:nvPr/>
        </p:nvSpPr>
        <p:spPr>
          <a:xfrm>
            <a:off x="7635240" y="1691640"/>
            <a:ext cx="3977640" cy="4251960"/>
          </a:xfrm>
          <a:prstGeom prst="roundRect">
            <a:avLst>
              <a:gd name="adj" fmla="val 1839"/>
            </a:avLst>
          </a:prstGeom>
          <a:solidFill>
            <a:srgbClr val="F7FAFC"/>
          </a:solidFill>
          <a:ln w="12700">
            <a:solidFill>
              <a:srgbClr val="E7EAF1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7863840" y="1901952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5F1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Ventana de fuga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7863840" y="2286000"/>
            <a:ext cx="356616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spcAft>
                <a:spcPts val="300"/>
              </a:spcAft>
              <a:buNone/>
            </a:pPr>
            <a:r>
              <a:rPr lang="en-US" sz="2300" b="1" dirty="0">
                <a:solidFill>
                  <a:srgbClr val="1F459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7 meses</a:t>
            </a:r>
            <a:endParaRPr lang="en-US" sz="2300" dirty="0"/>
          </a:p>
          <a:p>
            <a:pPr indent="0" marL="0">
              <a:lnSpc>
                <a:spcPct val="103000"/>
              </a:lnSpc>
              <a:spcAft>
                <a:spcPts val="300"/>
              </a:spcAft>
              <a:buNone/>
            </a:pPr>
            <a:r>
              <a:rPr lang="en-US" sz="1100" dirty="0">
                <a:solidFill>
                  <a:srgbClr val="737D9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mediana hasta la fuga</a:t>
            </a:r>
            <a:endParaRPr lang="en-US" sz="2300" dirty="0"/>
          </a:p>
          <a:p>
            <a:pPr indent="0" marL="0">
              <a:lnSpc>
                <a:spcPct val="103000"/>
              </a:lnSpc>
              <a:spcAft>
                <a:spcPts val="300"/>
              </a:spcAft>
              <a:buNone/>
            </a:pPr>
            <a:r>
              <a:rPr lang="en-US" sz="2200" b="1" dirty="0">
                <a:solidFill>
                  <a:srgbClr val="C4314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49%</a:t>
            </a:r>
            <a:endParaRPr lang="en-US" sz="2300" dirty="0"/>
          </a:p>
          <a:p>
            <a:pPr indent="0" marL="0">
              <a:lnSpc>
                <a:spcPct val="103000"/>
              </a:lnSpc>
              <a:spcAft>
                <a:spcPts val="300"/>
              </a:spcAft>
              <a:buNone/>
            </a:pPr>
            <a:r>
              <a:rPr lang="en-US" sz="1100" dirty="0">
                <a:solidFill>
                  <a:srgbClr val="1620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se fuga en ≤ 6 meses</a:t>
            </a:r>
            <a:endParaRPr lang="en-US" sz="2300" dirty="0"/>
          </a:p>
          <a:p>
            <a:pPr indent="0" marL="0">
              <a:lnSpc>
                <a:spcPct val="103000"/>
              </a:lnSpc>
              <a:spcAft>
                <a:spcPts val="300"/>
              </a:spcAft>
              <a:buNone/>
            </a:pPr>
            <a:r>
              <a:rPr lang="en-US" sz="1800" b="1" dirty="0">
                <a:solidFill>
                  <a:srgbClr val="1620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74%</a:t>
            </a:r>
            <a:endParaRPr lang="en-US" sz="2300" dirty="0"/>
          </a:p>
          <a:p>
            <a:pPr indent="0" marL="0">
              <a:lnSpc>
                <a:spcPct val="103000"/>
              </a:lnSpc>
              <a:spcAft>
                <a:spcPts val="300"/>
              </a:spcAft>
              <a:buNone/>
            </a:pPr>
            <a:r>
              <a:rPr lang="en-US" sz="1100" dirty="0">
                <a:solidFill>
                  <a:srgbClr val="737D9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se fuga en ≤ 12 meses</a:t>
            </a:r>
            <a:endParaRPr lang="en-US" sz="2300" dirty="0"/>
          </a:p>
          <a:p>
            <a:pPr indent="0" marL="0">
              <a:lnSpc>
                <a:spcPct val="103000"/>
              </a:lnSpc>
              <a:spcAft>
                <a:spcPts val="300"/>
              </a:spcAft>
              <a:buNone/>
            </a:pPr>
            <a:r>
              <a:rPr lang="en-US" sz="1700" b="1" dirty="0">
                <a:solidFill>
                  <a:srgbClr val="1F459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S/ 37 MM</a:t>
            </a:r>
            <a:endParaRPr lang="en-US" sz="2300" dirty="0"/>
          </a:p>
          <a:p>
            <a:pPr indent="0" marL="0">
              <a:lnSpc>
                <a:spcPct val="103000"/>
              </a:lnSpc>
              <a:spcAft>
                <a:spcPts val="300"/>
              </a:spcAft>
              <a:buNone/>
            </a:pPr>
            <a:r>
              <a:rPr lang="en-US" sz="1100" dirty="0">
                <a:solidFill>
                  <a:srgbClr val="737D9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el mayor saldo está en 1–3 meses</a:t>
            </a:r>
            <a:endParaRPr lang="en-US" sz="2300" dirty="0"/>
          </a:p>
          <a:p>
            <a:pPr indent="0" marL="0">
              <a:lnSpc>
                <a:spcPct val="103000"/>
              </a:lnSpc>
              <a:spcAft>
                <a:spcPts val="300"/>
              </a:spcAft>
              <a:buNone/>
            </a:pPr>
            <a:r>
              <a:rPr lang="en-US" sz="500" dirty="0">
                <a:solidFill>
                  <a:srgbClr val="0000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 </a:t>
            </a:r>
            <a:endParaRPr lang="en-US" sz="2300" dirty="0"/>
          </a:p>
          <a:p>
            <a:pPr indent="0" marL="0">
              <a:lnSpc>
                <a:spcPct val="103000"/>
              </a:lnSpc>
              <a:spcAft>
                <a:spcPts val="300"/>
              </a:spcAft>
              <a:buNone/>
            </a:pPr>
            <a:r>
              <a:rPr lang="en-US" sz="950" i="1" dirty="0">
                <a:solidFill>
                  <a:srgbClr val="737D9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≤0 = 76 casos con desembolso posterior a la compra (posibles regiros).</a:t>
            </a:r>
            <a:endParaRPr lang="en-US" sz="2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05F1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RANGOS SOBRE MONTO DESEMBOLSADO Y TASA DE DESEMBOLSO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459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Lo que más se fuga: créditos de S/ 50–100k (531) y tasa 14–16% (384)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644652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37D9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Interbank · NBC Empresas — Advanced Analytics &amp; IA</a:t>
            </a:r>
            <a:pPr indent="0" marL="0">
              <a:buNone/>
            </a:pPr>
            <a:r>
              <a:rPr lang="en-US" sz="900" dirty="0">
                <a:solidFill>
                  <a:srgbClr val="737D9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  ·   Documento de trabajo interno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5486400" cy="4251960"/>
          </a:xfrm>
          <a:prstGeom prst="roundRect">
            <a:avLst>
              <a:gd name="adj" fmla="val 1720"/>
            </a:avLst>
          </a:prstGeom>
          <a:solidFill>
            <a:srgbClr val="FFFFFF"/>
          </a:solidFill>
          <a:ln w="12700">
            <a:solidFill>
              <a:srgbClr val="E7EAF1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77240" y="1847088"/>
            <a:ext cx="5074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20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Rango de monto desembolsado (S/)</a:t>
            </a:r>
            <a:endParaRPr lang="en-US" sz="1200" dirty="0"/>
          </a:p>
        </p:txBody>
      </p:sp>
      <p:graphicFrame>
        <p:nvGraphicFramePr>
          <p:cNvPr id="7" name="Chart 0" descr=""/>
          <p:cNvGraphicFramePr/>
          <p:nvPr/>
        </p:nvGraphicFramePr>
        <p:xfrm>
          <a:off x="658368" y="2286000"/>
          <a:ext cx="5230368" cy="3584448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8" name="Shape 5"/>
          <p:cNvSpPr/>
          <p:nvPr/>
        </p:nvSpPr>
        <p:spPr>
          <a:xfrm>
            <a:off x="6172200" y="1691640"/>
            <a:ext cx="5440680" cy="4251960"/>
          </a:xfrm>
          <a:prstGeom prst="roundRect">
            <a:avLst>
              <a:gd name="adj" fmla="val 1720"/>
            </a:avLst>
          </a:prstGeom>
          <a:solidFill>
            <a:srgbClr val="FFFFFF"/>
          </a:solidFill>
          <a:ln w="12700">
            <a:solidFill>
              <a:srgbClr val="E7EAF1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6400800" y="1847088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20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Rango de tasa de desembolso (%)</a:t>
            </a:r>
            <a:endParaRPr lang="en-US" sz="1200" dirty="0"/>
          </a:p>
        </p:txBody>
      </p:sp>
      <p:graphicFrame>
        <p:nvGraphicFramePr>
          <p:cNvPr id="10" name="Chart 1" descr=""/>
          <p:cNvGraphicFramePr/>
          <p:nvPr/>
        </p:nvGraphicFramePr>
        <p:xfrm>
          <a:off x="6281928" y="2286000"/>
          <a:ext cx="5184648" cy="3584448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05F1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ANÁLISIS 2 · PERFIL EN EL FUNNEL COMERCIAL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459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Tuvimos al 72% en el funnel, pero solo gestionamos al 43%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644652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37D9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Interbank · NBC Empresas — Advanced Analytics &amp; IA</a:t>
            </a:r>
            <a:pPr indent="0" marL="0">
              <a:buNone/>
            </a:pPr>
            <a:r>
              <a:rPr lang="en-US" sz="900" dirty="0">
                <a:solidFill>
                  <a:srgbClr val="737D9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  ·   Documento de trabajo interno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5486400" cy="4251960"/>
          </a:xfrm>
          <a:prstGeom prst="roundRect">
            <a:avLst>
              <a:gd name="adj" fmla="val 1720"/>
            </a:avLst>
          </a:prstGeom>
          <a:solidFill>
            <a:srgbClr val="FFFFFF"/>
          </a:solidFill>
          <a:ln w="12700">
            <a:solidFill>
              <a:srgbClr val="E7EAF1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77240" y="1847088"/>
            <a:ext cx="5074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20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Cobertura y gestión por mes (%)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77240" y="2194560"/>
            <a:ext cx="5074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37D9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% en funnel y % gestionado de los que estaban en funnel</a:t>
            </a:r>
            <a:endParaRPr lang="en-US" sz="900" dirty="0"/>
          </a:p>
        </p:txBody>
      </p:sp>
      <p:graphicFrame>
        <p:nvGraphicFramePr>
          <p:cNvPr id="8" name="Chart 0" descr=""/>
          <p:cNvGraphicFramePr/>
          <p:nvPr/>
        </p:nvGraphicFramePr>
        <p:xfrm>
          <a:off x="658368" y="2542032"/>
          <a:ext cx="5230368" cy="3328416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9" name="Shape 6"/>
          <p:cNvSpPr/>
          <p:nvPr/>
        </p:nvSpPr>
        <p:spPr>
          <a:xfrm>
            <a:off x="6172200" y="1691640"/>
            <a:ext cx="5440680" cy="4251960"/>
          </a:xfrm>
          <a:prstGeom prst="roundRect">
            <a:avLst>
              <a:gd name="adj" fmla="val 1720"/>
            </a:avLst>
          </a:prstGeom>
          <a:solidFill>
            <a:srgbClr val="FFFFFF"/>
          </a:solidFill>
          <a:ln w="12700">
            <a:solidFill>
              <a:srgbClr val="E7EAF1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6400800" y="1847088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20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Embudo de oportunidad perdida</a:t>
            </a:r>
            <a:endParaRPr lang="en-US" sz="1200" dirty="0"/>
          </a:p>
        </p:txBody>
      </p:sp>
      <p:graphicFrame>
        <p:nvGraphicFramePr>
          <p:cNvPr id="11" name="Chart 1" descr=""/>
          <p:cNvGraphicFramePr/>
          <p:nvPr/>
        </p:nvGraphicFramePr>
        <p:xfrm>
          <a:off x="6281928" y="2286000"/>
          <a:ext cx="5184648" cy="3584448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05F1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ANÁLISIS 2 · PERFIL EN EL FUNNEL COMERCIAL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459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768 fugados eran P1 y 625 de Tiendas: el modelo ya los marcaba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644652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37D9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Interbank · NBC Empresas — Advanced Analytics &amp; IA</a:t>
            </a:r>
            <a:pPr indent="0" marL="0">
              <a:buNone/>
            </a:pPr>
            <a:r>
              <a:rPr lang="en-US" sz="900" dirty="0">
                <a:solidFill>
                  <a:srgbClr val="737D9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  ·   Documento de trabajo interno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5486400" cy="4251960"/>
          </a:xfrm>
          <a:prstGeom prst="roundRect">
            <a:avLst>
              <a:gd name="adj" fmla="val 1720"/>
            </a:avLst>
          </a:prstGeom>
          <a:solidFill>
            <a:srgbClr val="FFFFFF"/>
          </a:solidFill>
          <a:ln w="12700">
            <a:solidFill>
              <a:srgbClr val="E7EAF1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77240" y="1847088"/>
            <a:ext cx="5074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20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Prioridad final (PRIORIDAD_GRUPO_FINAL)</a:t>
            </a:r>
            <a:endParaRPr lang="en-US" sz="1200" dirty="0"/>
          </a:p>
        </p:txBody>
      </p:sp>
      <p:graphicFrame>
        <p:nvGraphicFramePr>
          <p:cNvPr id="7" name="Chart 0" descr=""/>
          <p:cNvGraphicFramePr/>
          <p:nvPr/>
        </p:nvGraphicFramePr>
        <p:xfrm>
          <a:off x="658368" y="2286000"/>
          <a:ext cx="5230368" cy="3584448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8" name="Shape 5"/>
          <p:cNvSpPr/>
          <p:nvPr/>
        </p:nvSpPr>
        <p:spPr>
          <a:xfrm>
            <a:off x="6172200" y="1691640"/>
            <a:ext cx="5440680" cy="4251960"/>
          </a:xfrm>
          <a:prstGeom prst="roundRect">
            <a:avLst>
              <a:gd name="adj" fmla="val 1720"/>
            </a:avLst>
          </a:prstGeom>
          <a:solidFill>
            <a:srgbClr val="FFFFFF"/>
          </a:solidFill>
          <a:ln w="12700">
            <a:solidFill>
              <a:srgbClr val="E7EAF1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6400800" y="1847088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20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Canal del funnel (ID_CANAL)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6400800" y="219456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37D9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 Tiendas · 2 Tiendas Virtuales · 3 Televentas</a:t>
            </a:r>
            <a:endParaRPr lang="en-US" sz="900" dirty="0"/>
          </a:p>
        </p:txBody>
      </p:sp>
      <p:graphicFrame>
        <p:nvGraphicFramePr>
          <p:cNvPr id="11" name="Chart 1" descr=""/>
          <p:cNvGraphicFramePr/>
          <p:nvPr/>
        </p:nvGraphicFramePr>
        <p:xfrm>
          <a:off x="6281928" y="2542032"/>
          <a:ext cx="5184648" cy="3328416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05F1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ANÁLISIS 2 · RESPONSABLES DE LOS FUGADOS CON CAMPAÑA ACTIVA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459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La fuga se reparte entre 110 ejecutivos, pero se concentra en 7 supervisores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644652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37D9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Interbank · NBC Empresas — Advanced Analytics &amp; IA</a:t>
            </a:r>
            <a:pPr indent="0" marL="0">
              <a:buNone/>
            </a:pPr>
            <a:r>
              <a:rPr lang="en-US" sz="900" dirty="0">
                <a:solidFill>
                  <a:srgbClr val="737D9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  ·   Documento de trabajo interno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5486400" cy="4251960"/>
          </a:xfrm>
          <a:prstGeom prst="roundRect">
            <a:avLst>
              <a:gd name="adj" fmla="val 1720"/>
            </a:avLst>
          </a:prstGeom>
          <a:solidFill>
            <a:srgbClr val="FFFFFF"/>
          </a:solidFill>
          <a:ln w="12700">
            <a:solidFill>
              <a:srgbClr val="E7EAF1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77240" y="1847088"/>
            <a:ext cx="5074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20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Ejecutivos con más fuga — Top 8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77240" y="2194560"/>
            <a:ext cx="5074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37D9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Solo fugados con una campaña activa del funnel</a:t>
            </a:r>
            <a:endParaRPr lang="en-US" sz="900" dirty="0"/>
          </a:p>
        </p:txBody>
      </p:sp>
      <p:graphicFrame>
        <p:nvGraphicFramePr>
          <p:cNvPr id="8" name="Chart 0" descr=""/>
          <p:cNvGraphicFramePr/>
          <p:nvPr/>
        </p:nvGraphicFramePr>
        <p:xfrm>
          <a:off x="658368" y="2542032"/>
          <a:ext cx="5230368" cy="3328416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9" name="Shape 6"/>
          <p:cNvSpPr/>
          <p:nvPr/>
        </p:nvSpPr>
        <p:spPr>
          <a:xfrm>
            <a:off x="6172200" y="1691640"/>
            <a:ext cx="5440680" cy="4251960"/>
          </a:xfrm>
          <a:prstGeom prst="roundRect">
            <a:avLst>
              <a:gd name="adj" fmla="val 1720"/>
            </a:avLst>
          </a:prstGeom>
          <a:solidFill>
            <a:srgbClr val="FFFFFF"/>
          </a:solidFill>
          <a:ln w="12700">
            <a:solidFill>
              <a:srgbClr val="E7EAF1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6400800" y="1847088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20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Supervisores con más fuga — Top 7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6400800" y="219456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37D9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Solo fugados con una campaña activa del funnel</a:t>
            </a:r>
            <a:endParaRPr lang="en-US" sz="900" dirty="0"/>
          </a:p>
        </p:txBody>
      </p:sp>
      <p:graphicFrame>
        <p:nvGraphicFramePr>
          <p:cNvPr id="12" name="Chart 1" descr=""/>
          <p:cNvGraphicFramePr/>
          <p:nvPr/>
        </p:nvGraphicFramePr>
        <p:xfrm>
          <a:off x="6281928" y="2542032"/>
          <a:ext cx="5184648" cy="3328416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05F1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ANÁLISIS 2 · CAMPAÑAS DEL FUNNEL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459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'Gestión Cartera': 40% de la fuga (S/ 40 MM) y solo 12% gestionada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644652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37D9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Interbank · NBC Empresas — Advanced Analytics &amp; IA</a:t>
            </a:r>
            <a:pPr indent="0" marL="0">
              <a:buNone/>
            </a:pPr>
            <a:r>
              <a:rPr lang="en-US" sz="900" dirty="0">
                <a:solidFill>
                  <a:srgbClr val="737D9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  ·   Documento de trabajo interno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5486400" cy="4251960"/>
          </a:xfrm>
          <a:prstGeom prst="roundRect">
            <a:avLst>
              <a:gd name="adj" fmla="val 1720"/>
            </a:avLst>
          </a:prstGeom>
          <a:solidFill>
            <a:srgbClr val="FFFFFF"/>
          </a:solidFill>
          <a:ln w="12700">
            <a:solidFill>
              <a:srgbClr val="E7EAF1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77240" y="1847088"/>
            <a:ext cx="5074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20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Créditos fugados por tipo de campaña (CAMPANHA_FUNNEL)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77240" y="2194560"/>
            <a:ext cx="5074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37D9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979 fugados con campaña activa del funnel (72% del total)</a:t>
            </a:r>
            <a:endParaRPr lang="en-US" sz="900" dirty="0"/>
          </a:p>
        </p:txBody>
      </p:sp>
      <p:graphicFrame>
        <p:nvGraphicFramePr>
          <p:cNvPr id="8" name="Chart 0" descr=""/>
          <p:cNvGraphicFramePr/>
          <p:nvPr/>
        </p:nvGraphicFramePr>
        <p:xfrm>
          <a:off x="658368" y="2542032"/>
          <a:ext cx="5230368" cy="3328416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9" name="Shape 6"/>
          <p:cNvSpPr/>
          <p:nvPr/>
        </p:nvSpPr>
        <p:spPr>
          <a:xfrm>
            <a:off x="6172200" y="1691640"/>
            <a:ext cx="5440680" cy="4251960"/>
          </a:xfrm>
          <a:prstGeom prst="roundRect">
            <a:avLst>
              <a:gd name="adj" fmla="val 1720"/>
            </a:avLst>
          </a:prstGeom>
          <a:solidFill>
            <a:srgbClr val="FFFFFF"/>
          </a:solidFill>
          <a:ln w="12700">
            <a:solidFill>
              <a:srgbClr val="E7EAF1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6400800" y="1847088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20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% gestionado por tipo de campaña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6400800" y="219456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37D9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La campaña de mayor fuga es la que menos se gestionó</a:t>
            </a:r>
            <a:endParaRPr lang="en-US" sz="900" dirty="0"/>
          </a:p>
        </p:txBody>
      </p:sp>
      <p:graphicFrame>
        <p:nvGraphicFramePr>
          <p:cNvPr id="12" name="Chart 1" descr=""/>
          <p:cNvGraphicFramePr/>
          <p:nvPr/>
        </p:nvGraphicFramePr>
        <p:xfrm>
          <a:off x="6281928" y="2542032"/>
          <a:ext cx="5184648" cy="3328416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05F1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ANÁLISIS 2 · PERFIL EN EL FUNNEL COMERCIAL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459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437 carterizados se fugaron sin gestión: S/ 43 MM perdidos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644652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37D9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Interbank · NBC Empresas — Advanced Analytics &amp; IA</a:t>
            </a:r>
            <a:pPr indent="0" marL="0">
              <a:buNone/>
            </a:pPr>
            <a:r>
              <a:rPr lang="en-US" sz="900" dirty="0">
                <a:solidFill>
                  <a:srgbClr val="737D9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  ·   Documento de trabajo interno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5486400" cy="4251960"/>
          </a:xfrm>
          <a:prstGeom prst="roundRect">
            <a:avLst>
              <a:gd name="adj" fmla="val 1720"/>
            </a:avLst>
          </a:prstGeom>
          <a:solidFill>
            <a:srgbClr val="FFFFFF"/>
          </a:solidFill>
          <a:ln w="12700">
            <a:solidFill>
              <a:srgbClr val="E7EAF1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77240" y="187452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20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De los clientes que estaban en el funnel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2103120" y="2258568"/>
            <a:ext cx="1783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F459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Gestionado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4050792" y="2258568"/>
            <a:ext cx="1783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F459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No gestionado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822960" y="297180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F459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Cartera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822960" y="4325112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F459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No cart.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2103120" y="2514600"/>
            <a:ext cx="1783080" cy="1188720"/>
          </a:xfrm>
          <a:prstGeom prst="roundRect">
            <a:avLst>
              <a:gd name="adj" fmla="val 4615"/>
            </a:avLst>
          </a:prstGeom>
          <a:solidFill>
            <a:srgbClr val="00BE50"/>
          </a:solidFill>
          <a:ln/>
        </p:spPr>
      </p:sp>
      <p:sp>
        <p:nvSpPr>
          <p:cNvPr id="12" name="Text 10"/>
          <p:cNvSpPr/>
          <p:nvPr/>
        </p:nvSpPr>
        <p:spPr>
          <a:xfrm>
            <a:off x="2103120" y="2660904"/>
            <a:ext cx="1783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299</a:t>
            </a:r>
            <a:endParaRPr lang="en-US" sz="2500" dirty="0"/>
          </a:p>
        </p:txBody>
      </p:sp>
      <p:sp>
        <p:nvSpPr>
          <p:cNvPr id="13" name="Text 11"/>
          <p:cNvSpPr/>
          <p:nvPr/>
        </p:nvSpPr>
        <p:spPr>
          <a:xfrm>
            <a:off x="2194560" y="3264408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cart. gestionado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050792" y="2514600"/>
            <a:ext cx="1783080" cy="1188720"/>
          </a:xfrm>
          <a:prstGeom prst="roundRect">
            <a:avLst>
              <a:gd name="adj" fmla="val 4615"/>
            </a:avLst>
          </a:prstGeom>
          <a:solidFill>
            <a:srgbClr val="C4314B"/>
          </a:solidFill>
          <a:ln/>
        </p:spPr>
      </p:sp>
      <p:sp>
        <p:nvSpPr>
          <p:cNvPr id="15" name="Text 13"/>
          <p:cNvSpPr/>
          <p:nvPr/>
        </p:nvSpPr>
        <p:spPr>
          <a:xfrm>
            <a:off x="4050792" y="2660904"/>
            <a:ext cx="1783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437</a:t>
            </a:r>
            <a:endParaRPr lang="en-US" sz="2500" dirty="0"/>
          </a:p>
        </p:txBody>
      </p:sp>
      <p:sp>
        <p:nvSpPr>
          <p:cNvPr id="16" name="Text 14"/>
          <p:cNvSpPr/>
          <p:nvPr/>
        </p:nvSpPr>
        <p:spPr>
          <a:xfrm>
            <a:off x="4142232" y="3264408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cart. SIN gestión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2103120" y="3867912"/>
            <a:ext cx="1783080" cy="1188720"/>
          </a:xfrm>
          <a:prstGeom prst="roundRect">
            <a:avLst>
              <a:gd name="adj" fmla="val 4615"/>
            </a:avLst>
          </a:prstGeom>
          <a:solidFill>
            <a:srgbClr val="1F4592"/>
          </a:solidFill>
          <a:ln/>
        </p:spPr>
      </p:sp>
      <p:sp>
        <p:nvSpPr>
          <p:cNvPr id="18" name="Text 16"/>
          <p:cNvSpPr/>
          <p:nvPr/>
        </p:nvSpPr>
        <p:spPr>
          <a:xfrm>
            <a:off x="2103120" y="4014216"/>
            <a:ext cx="1783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80</a:t>
            </a:r>
            <a:endParaRPr lang="en-US" sz="2500" dirty="0"/>
          </a:p>
        </p:txBody>
      </p:sp>
      <p:sp>
        <p:nvSpPr>
          <p:cNvPr id="19" name="Text 17"/>
          <p:cNvSpPr/>
          <p:nvPr/>
        </p:nvSpPr>
        <p:spPr>
          <a:xfrm>
            <a:off x="2194560" y="461772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no cart. gestionado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4050792" y="3867912"/>
            <a:ext cx="1783080" cy="1188720"/>
          </a:xfrm>
          <a:prstGeom prst="roundRect">
            <a:avLst>
              <a:gd name="adj" fmla="val 4615"/>
            </a:avLst>
          </a:prstGeom>
          <a:solidFill>
            <a:srgbClr val="A0AEC0"/>
          </a:solidFill>
          <a:ln/>
        </p:spPr>
      </p:sp>
      <p:sp>
        <p:nvSpPr>
          <p:cNvPr id="21" name="Text 19"/>
          <p:cNvSpPr/>
          <p:nvPr/>
        </p:nvSpPr>
        <p:spPr>
          <a:xfrm>
            <a:off x="4050792" y="4014216"/>
            <a:ext cx="1783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118</a:t>
            </a:r>
            <a:endParaRPr lang="en-US" sz="2500" dirty="0"/>
          </a:p>
        </p:txBody>
      </p:sp>
      <p:sp>
        <p:nvSpPr>
          <p:cNvPr id="22" name="Text 20"/>
          <p:cNvSpPr/>
          <p:nvPr/>
        </p:nvSpPr>
        <p:spPr>
          <a:xfrm>
            <a:off x="4142232" y="461772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no cart. sin gestión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6172200" y="1691640"/>
            <a:ext cx="5440680" cy="4251960"/>
          </a:xfrm>
          <a:prstGeom prst="roundRect">
            <a:avLst>
              <a:gd name="adj" fmla="val 1720"/>
            </a:avLst>
          </a:prstGeom>
          <a:solidFill>
            <a:srgbClr val="FFFFFF"/>
          </a:solidFill>
          <a:ln w="12700">
            <a:solidFill>
              <a:srgbClr val="E7EAF1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6400800" y="1847088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20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Estado de gestión de los fugados</a:t>
            </a:r>
            <a:endParaRPr lang="en-US" sz="1200" dirty="0"/>
          </a:p>
        </p:txBody>
      </p:sp>
      <p:graphicFrame>
        <p:nvGraphicFramePr>
          <p:cNvPr id="25" name="Chart 0" descr=""/>
          <p:cNvGraphicFramePr/>
          <p:nvPr/>
        </p:nvGraphicFramePr>
        <p:xfrm>
          <a:off x="6281928" y="2286000"/>
          <a:ext cx="5184648" cy="3584448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05F1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COMPOSICIÓN POR PERIODO · BARRAS APILADAS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459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Tiendas y TLV: 86% de los créditos fugados, y en aumento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644652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37D9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Interbank · NBC Empresas — Advanced Analytics &amp; IA</a:t>
            </a:r>
            <a:pPr indent="0" marL="0">
              <a:buNone/>
            </a:pPr>
            <a:r>
              <a:rPr lang="en-US" sz="900" dirty="0">
                <a:solidFill>
                  <a:srgbClr val="737D9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  ·   Documento de trabajo interno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5486400" cy="4251960"/>
          </a:xfrm>
          <a:prstGeom prst="roundRect">
            <a:avLst>
              <a:gd name="adj" fmla="val 1720"/>
            </a:avLst>
          </a:prstGeom>
          <a:solidFill>
            <a:srgbClr val="FFFFFF"/>
          </a:solidFill>
          <a:ln w="12700">
            <a:solidFill>
              <a:srgbClr val="E7EAF1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77240" y="1847088"/>
            <a:ext cx="5074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20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Créditos por canal de desembolso</a:t>
            </a:r>
            <a:endParaRPr lang="en-US" sz="1200" dirty="0"/>
          </a:p>
        </p:txBody>
      </p:sp>
      <p:graphicFrame>
        <p:nvGraphicFramePr>
          <p:cNvPr id="7" name="Chart 0" descr=""/>
          <p:cNvGraphicFramePr/>
          <p:nvPr/>
        </p:nvGraphicFramePr>
        <p:xfrm>
          <a:off x="658368" y="2286000"/>
          <a:ext cx="5230368" cy="3584448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8" name="Shape 5"/>
          <p:cNvSpPr/>
          <p:nvPr/>
        </p:nvSpPr>
        <p:spPr>
          <a:xfrm>
            <a:off x="6172200" y="1691640"/>
            <a:ext cx="5440680" cy="4251960"/>
          </a:xfrm>
          <a:prstGeom prst="roundRect">
            <a:avLst>
              <a:gd name="adj" fmla="val 1720"/>
            </a:avLst>
          </a:prstGeom>
          <a:solidFill>
            <a:srgbClr val="FFFFFF"/>
          </a:solidFill>
          <a:ln w="12700">
            <a:solidFill>
              <a:srgbClr val="E7EAF1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6400800" y="1847088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20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Saldo fugado por canal de desembolso (S/ MM)</a:t>
            </a:r>
            <a:endParaRPr lang="en-US" sz="1200" dirty="0"/>
          </a:p>
        </p:txBody>
      </p:sp>
      <p:graphicFrame>
        <p:nvGraphicFramePr>
          <p:cNvPr id="10" name="Chart 1" descr=""/>
          <p:cNvGraphicFramePr/>
          <p:nvPr/>
        </p:nvGraphicFramePr>
        <p:xfrm>
          <a:off x="6281928" y="2286000"/>
          <a:ext cx="5184648" cy="3584448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05F1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COMPOSICIÓN POR PERIODO · BARRAS APILADAS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459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La fuga crece pareja en todos los rangos de monto y tasa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644652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37D9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Interbank · NBC Empresas — Advanced Analytics &amp; IA</a:t>
            </a:r>
            <a:pPr indent="0" marL="0">
              <a:buNone/>
            </a:pPr>
            <a:r>
              <a:rPr lang="en-US" sz="900" dirty="0">
                <a:solidFill>
                  <a:srgbClr val="737D9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  ·   Documento de trabajo interno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5486400" cy="4251960"/>
          </a:xfrm>
          <a:prstGeom prst="roundRect">
            <a:avLst>
              <a:gd name="adj" fmla="val 1720"/>
            </a:avLst>
          </a:prstGeom>
          <a:solidFill>
            <a:srgbClr val="FFFFFF"/>
          </a:solidFill>
          <a:ln w="12700">
            <a:solidFill>
              <a:srgbClr val="E7EAF1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77240" y="1847088"/>
            <a:ext cx="5074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20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Créditos por rango de monto</a:t>
            </a:r>
            <a:endParaRPr lang="en-US" sz="1200" dirty="0"/>
          </a:p>
        </p:txBody>
      </p:sp>
      <p:graphicFrame>
        <p:nvGraphicFramePr>
          <p:cNvPr id="7" name="Chart 0" descr=""/>
          <p:cNvGraphicFramePr/>
          <p:nvPr/>
        </p:nvGraphicFramePr>
        <p:xfrm>
          <a:off x="658368" y="2286000"/>
          <a:ext cx="5230368" cy="3584448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8" name="Shape 5"/>
          <p:cNvSpPr/>
          <p:nvPr/>
        </p:nvSpPr>
        <p:spPr>
          <a:xfrm>
            <a:off x="6172200" y="1691640"/>
            <a:ext cx="5440680" cy="4251960"/>
          </a:xfrm>
          <a:prstGeom prst="roundRect">
            <a:avLst>
              <a:gd name="adj" fmla="val 1720"/>
            </a:avLst>
          </a:prstGeom>
          <a:solidFill>
            <a:srgbClr val="FFFFFF"/>
          </a:solidFill>
          <a:ln w="12700">
            <a:solidFill>
              <a:srgbClr val="E7EAF1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6400800" y="1847088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20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Créditos por rango de tasa</a:t>
            </a:r>
            <a:endParaRPr lang="en-US" sz="1200" dirty="0"/>
          </a:p>
        </p:txBody>
      </p:sp>
      <p:graphicFrame>
        <p:nvGraphicFramePr>
          <p:cNvPr id="10" name="Chart 1" descr=""/>
          <p:cNvGraphicFramePr/>
          <p:nvPr/>
        </p:nvGraphicFramePr>
        <p:xfrm>
          <a:off x="6281928" y="2286000"/>
          <a:ext cx="5184648" cy="3584448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05F1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COMPOSICIÓN POR PERIODO · BARRAS APILADAS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459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El gap de gestión se amplía: cada mes más fugas sin contacto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644652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37D9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Interbank · NBC Empresas — Advanced Analytics &amp; IA</a:t>
            </a:r>
            <a:pPr indent="0" marL="0">
              <a:buNone/>
            </a:pPr>
            <a:r>
              <a:rPr lang="en-US" sz="900" dirty="0">
                <a:solidFill>
                  <a:srgbClr val="737D9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  ·   Documento de trabajo interno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5486400" cy="4251960"/>
          </a:xfrm>
          <a:prstGeom prst="roundRect">
            <a:avLst>
              <a:gd name="adj" fmla="val 1720"/>
            </a:avLst>
          </a:prstGeom>
          <a:solidFill>
            <a:srgbClr val="FFFFFF"/>
          </a:solidFill>
          <a:ln w="12700">
            <a:solidFill>
              <a:srgbClr val="E7EAF1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77240" y="1847088"/>
            <a:ext cx="5074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20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Estado de gestión en el funnel</a:t>
            </a:r>
            <a:endParaRPr lang="en-US" sz="1200" dirty="0"/>
          </a:p>
        </p:txBody>
      </p:sp>
      <p:graphicFrame>
        <p:nvGraphicFramePr>
          <p:cNvPr id="7" name="Chart 0" descr=""/>
          <p:cNvGraphicFramePr/>
          <p:nvPr/>
        </p:nvGraphicFramePr>
        <p:xfrm>
          <a:off x="658368" y="2286000"/>
          <a:ext cx="5230368" cy="3584448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8" name="Shape 5"/>
          <p:cNvSpPr/>
          <p:nvPr/>
        </p:nvSpPr>
        <p:spPr>
          <a:xfrm>
            <a:off x="6172200" y="1691640"/>
            <a:ext cx="5440680" cy="4251960"/>
          </a:xfrm>
          <a:prstGeom prst="roundRect">
            <a:avLst>
              <a:gd name="adj" fmla="val 1720"/>
            </a:avLst>
          </a:prstGeom>
          <a:solidFill>
            <a:srgbClr val="FFFFFF"/>
          </a:solidFill>
          <a:ln w="12700">
            <a:solidFill>
              <a:srgbClr val="E7EAF1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6400800" y="1847088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20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Créditos por prioridad final</a:t>
            </a:r>
            <a:endParaRPr lang="en-US" sz="1200" dirty="0"/>
          </a:p>
        </p:txBody>
      </p:sp>
      <p:graphicFrame>
        <p:nvGraphicFramePr>
          <p:cNvPr id="10" name="Chart 1" descr=""/>
          <p:cNvGraphicFramePr/>
          <p:nvPr/>
        </p:nvGraphicFramePr>
        <p:xfrm>
          <a:off x="6281928" y="2286000"/>
          <a:ext cx="5184648" cy="3584448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05F1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COMPOSICIÓN POR PERIODO · BARRAS APILADAS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459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Tiendas (S/ 93 MM) y TLV (S/ 60 MM) concentran el monto desembolsado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644652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37D9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Interbank · NBC Empresas — Advanced Analytics &amp; IA</a:t>
            </a:r>
            <a:pPr indent="0" marL="0">
              <a:buNone/>
            </a:pPr>
            <a:r>
              <a:rPr lang="en-US" sz="900" dirty="0">
                <a:solidFill>
                  <a:srgbClr val="737D9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  ·   Documento de trabajo interno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6903720" cy="4251960"/>
          </a:xfrm>
          <a:prstGeom prst="roundRect">
            <a:avLst>
              <a:gd name="adj" fmla="val 1720"/>
            </a:avLst>
          </a:prstGeom>
          <a:solidFill>
            <a:srgbClr val="FFFFFF"/>
          </a:solidFill>
          <a:ln w="12700">
            <a:solidFill>
              <a:srgbClr val="E7EAF1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77240" y="1847088"/>
            <a:ext cx="6492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20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Monto desembolsado por canal de desembolso — CANAL (S/ MM)</a:t>
            </a:r>
            <a:endParaRPr lang="en-US" sz="1200" dirty="0"/>
          </a:p>
        </p:txBody>
      </p:sp>
      <p:graphicFrame>
        <p:nvGraphicFramePr>
          <p:cNvPr id="7" name="Chart 0" descr=""/>
          <p:cNvGraphicFramePr/>
          <p:nvPr/>
        </p:nvGraphicFramePr>
        <p:xfrm>
          <a:off x="658368" y="2286000"/>
          <a:ext cx="6647688" cy="3584448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8" name="Shape 5"/>
          <p:cNvSpPr/>
          <p:nvPr/>
        </p:nvSpPr>
        <p:spPr>
          <a:xfrm>
            <a:off x="7635240" y="1691640"/>
            <a:ext cx="3977640" cy="4251960"/>
          </a:xfrm>
          <a:prstGeom prst="roundRect">
            <a:avLst>
              <a:gd name="adj" fmla="val 1839"/>
            </a:avLst>
          </a:prstGeom>
          <a:solidFill>
            <a:srgbClr val="F7FAFC"/>
          </a:solidFill>
          <a:ln w="12700">
            <a:solidFill>
              <a:srgbClr val="E7EAF1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7863840" y="1901952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5F1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Monto desembolsado por canal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7863840" y="2331720"/>
            <a:ext cx="356616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900" b="1" dirty="0">
                <a:solidFill>
                  <a:srgbClr val="1F459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S/ 92.6 MM</a:t>
            </a:r>
            <a:endParaRPr lang="en-US" sz="19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737D9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Tiendas</a:t>
            </a:r>
            <a:endParaRPr lang="en-US" sz="19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900" b="1" dirty="0">
                <a:solidFill>
                  <a:srgbClr val="1F459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S/ 60.1 MM</a:t>
            </a:r>
            <a:endParaRPr lang="en-US" sz="19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737D9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TLV</a:t>
            </a:r>
            <a:endParaRPr lang="en-US" sz="19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1620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S/ 9.5 MM</a:t>
            </a:r>
            <a:endParaRPr lang="en-US" sz="19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737D9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Tiendas Virtuales</a:t>
            </a:r>
            <a:endParaRPr lang="en-US" sz="19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600" dirty="0">
                <a:solidFill>
                  <a:srgbClr val="0000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 </a:t>
            </a:r>
            <a:endParaRPr lang="en-US" sz="19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00" i="1" dirty="0">
                <a:solidFill>
                  <a:srgbClr val="737D9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CANAL reparte Vendors dentro de Tiendas y TLV.</a:t>
            </a:r>
            <a:endParaRPr lang="en-US" sz="1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05F1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TICKET PROMEDIO POR CANAL DE DESEMBOLSO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459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El ticket que se fuga crece: Tiendas Virtuales bordea S/ 200k; Tiendas, S/ 179k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644652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37D9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Interbank · NBC Empresas — Advanced Analytics &amp; IA</a:t>
            </a:r>
            <a:pPr indent="0" marL="0">
              <a:buNone/>
            </a:pPr>
            <a:r>
              <a:rPr lang="en-US" sz="900" dirty="0">
                <a:solidFill>
                  <a:srgbClr val="737D9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  ·   Documento de trabajo interno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6903720" cy="4251960"/>
          </a:xfrm>
          <a:prstGeom prst="roundRect">
            <a:avLst>
              <a:gd name="adj" fmla="val 1720"/>
            </a:avLst>
          </a:prstGeom>
          <a:solidFill>
            <a:srgbClr val="FFFFFF"/>
          </a:solidFill>
          <a:ln w="12700">
            <a:solidFill>
              <a:srgbClr val="E7EAF1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77240" y="1847088"/>
            <a:ext cx="6492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20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Ticket promedio por canal — monto desembolsado / crédito (miles de S/)</a:t>
            </a:r>
            <a:endParaRPr lang="en-US" sz="1200" dirty="0"/>
          </a:p>
        </p:txBody>
      </p:sp>
      <p:graphicFrame>
        <p:nvGraphicFramePr>
          <p:cNvPr id="7" name="Chart 0" descr=""/>
          <p:cNvGraphicFramePr/>
          <p:nvPr/>
        </p:nvGraphicFramePr>
        <p:xfrm>
          <a:off x="658368" y="2286000"/>
          <a:ext cx="6647688" cy="3584448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8" name="Shape 5"/>
          <p:cNvSpPr/>
          <p:nvPr/>
        </p:nvSpPr>
        <p:spPr>
          <a:xfrm>
            <a:off x="7635240" y="1691640"/>
            <a:ext cx="3977640" cy="4251960"/>
          </a:xfrm>
          <a:prstGeom prst="roundRect">
            <a:avLst>
              <a:gd name="adj" fmla="val 1839"/>
            </a:avLst>
          </a:prstGeom>
          <a:solidFill>
            <a:srgbClr val="F7FAFC"/>
          </a:solidFill>
          <a:ln w="12700">
            <a:solidFill>
              <a:srgbClr val="E7EAF1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7863840" y="1901952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5F1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Ticket promedio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7863840" y="2331720"/>
            <a:ext cx="356616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spcAft>
                <a:spcPts val="400"/>
              </a:spcAft>
              <a:buNone/>
            </a:pPr>
            <a:r>
              <a:rPr lang="en-US" sz="1900" b="1" dirty="0">
                <a:solidFill>
                  <a:srgbClr val="00BE5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S/ 161k</a:t>
            </a:r>
            <a:endParaRPr lang="en-US" sz="1900" dirty="0"/>
          </a:p>
          <a:p>
            <a:pPr indent="0" marL="0">
              <a:lnSpc>
                <a:spcPct val="105000"/>
              </a:lnSpc>
              <a:spcAft>
                <a:spcPts val="400"/>
              </a:spcAft>
              <a:buNone/>
            </a:pPr>
            <a:r>
              <a:rPr lang="en-US" sz="1100" dirty="0">
                <a:solidFill>
                  <a:srgbClr val="737D9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Tiendas Virtuales — el más alto</a:t>
            </a:r>
            <a:endParaRPr lang="en-US" sz="1900" dirty="0"/>
          </a:p>
          <a:p>
            <a:pPr indent="0" marL="0">
              <a:lnSpc>
                <a:spcPct val="105000"/>
              </a:lnSpc>
              <a:spcAft>
                <a:spcPts val="400"/>
              </a:spcAft>
              <a:buNone/>
            </a:pPr>
            <a:r>
              <a:rPr lang="en-US" sz="1900" b="1" dirty="0">
                <a:solidFill>
                  <a:srgbClr val="1F459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S/ 152k</a:t>
            </a:r>
            <a:endParaRPr lang="en-US" sz="1900" dirty="0"/>
          </a:p>
          <a:p>
            <a:pPr indent="0" marL="0">
              <a:lnSpc>
                <a:spcPct val="105000"/>
              </a:lnSpc>
              <a:spcAft>
                <a:spcPts val="400"/>
              </a:spcAft>
              <a:buNone/>
            </a:pPr>
            <a:r>
              <a:rPr lang="en-US" sz="1100" dirty="0">
                <a:solidFill>
                  <a:srgbClr val="737D9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Tiendas</a:t>
            </a:r>
            <a:endParaRPr lang="en-US" sz="1900" dirty="0"/>
          </a:p>
          <a:p>
            <a:pPr indent="0" marL="0">
              <a:lnSpc>
                <a:spcPct val="105000"/>
              </a:lnSpc>
              <a:spcAft>
                <a:spcPts val="400"/>
              </a:spcAft>
              <a:buNone/>
            </a:pPr>
            <a:r>
              <a:rPr lang="en-US" sz="1900" b="1" dirty="0">
                <a:solidFill>
                  <a:srgbClr val="005F1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S/ 92k</a:t>
            </a:r>
            <a:endParaRPr lang="en-US" sz="1900" dirty="0"/>
          </a:p>
          <a:p>
            <a:pPr indent="0" marL="0">
              <a:lnSpc>
                <a:spcPct val="105000"/>
              </a:lnSpc>
              <a:spcAft>
                <a:spcPts val="400"/>
              </a:spcAft>
              <a:buNone/>
            </a:pPr>
            <a:r>
              <a:rPr lang="en-US" sz="1100" dirty="0">
                <a:solidFill>
                  <a:srgbClr val="737D9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TLV — el más bajo</a:t>
            </a:r>
            <a:endParaRPr lang="en-US" sz="1900" dirty="0"/>
          </a:p>
          <a:p>
            <a:pPr indent="0" marL="0">
              <a:lnSpc>
                <a:spcPct val="105000"/>
              </a:lnSpc>
              <a:spcAft>
                <a:spcPts val="400"/>
              </a:spcAft>
              <a:buNone/>
            </a:pPr>
            <a:r>
              <a:rPr lang="en-US" sz="600" dirty="0">
                <a:solidFill>
                  <a:srgbClr val="0000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 </a:t>
            </a:r>
            <a:endParaRPr lang="en-US" sz="1900" dirty="0"/>
          </a:p>
          <a:p>
            <a:pPr indent="0" marL="0">
              <a:lnSpc>
                <a:spcPct val="105000"/>
              </a:lnSpc>
              <a:spcAft>
                <a:spcPts val="400"/>
              </a:spcAft>
              <a:buNone/>
            </a:pPr>
            <a:r>
              <a:rPr lang="en-US" sz="1050" i="1" dirty="0">
                <a:solidFill>
                  <a:srgbClr val="1620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Los créditos que se fugan son cada vez más grandes, sobre todo en Tiendas y Tiendas Virtuales.</a:t>
            </a:r>
            <a:endParaRPr lang="en-US" sz="1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05F1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SALDO DE FUGA · CANAL DE GESTIÓN Y CARTERA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459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La fuga viene de adentro: la cartera pasó del 63% al 75% del saldo fugado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644652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37D9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Interbank · NBC Empresas — Advanced Analytics &amp; IA</a:t>
            </a:r>
            <a:pPr indent="0" marL="0">
              <a:buNone/>
            </a:pPr>
            <a:r>
              <a:rPr lang="en-US" sz="900" dirty="0">
                <a:solidFill>
                  <a:srgbClr val="737D9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  ·   Documento de trabajo interno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5486400" cy="3246120"/>
          </a:xfrm>
          <a:prstGeom prst="roundRect">
            <a:avLst>
              <a:gd name="adj" fmla="val 2254"/>
            </a:avLst>
          </a:prstGeom>
          <a:solidFill>
            <a:srgbClr val="FFFFFF"/>
          </a:solidFill>
          <a:ln w="12700">
            <a:solidFill>
              <a:srgbClr val="E7EAF1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77240" y="182880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20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Saldo por canal de gestión — ID_CANAL (S/ MM)</a:t>
            </a:r>
            <a:endParaRPr lang="en-US" sz="1200" dirty="0"/>
          </a:p>
        </p:txBody>
      </p:sp>
      <p:graphicFrame>
        <p:nvGraphicFramePr>
          <p:cNvPr id="7" name="Chart 0" descr=""/>
          <p:cNvGraphicFramePr/>
          <p:nvPr/>
        </p:nvGraphicFramePr>
        <p:xfrm>
          <a:off x="658368" y="2240280"/>
          <a:ext cx="5230368" cy="26060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8" name="Shape 5"/>
          <p:cNvSpPr/>
          <p:nvPr/>
        </p:nvSpPr>
        <p:spPr>
          <a:xfrm>
            <a:off x="6172200" y="1691640"/>
            <a:ext cx="5440680" cy="3246120"/>
          </a:xfrm>
          <a:prstGeom prst="roundRect">
            <a:avLst>
              <a:gd name="adj" fmla="val 2254"/>
            </a:avLst>
          </a:prstGeom>
          <a:solidFill>
            <a:srgbClr val="FFFFFF"/>
          </a:solidFill>
          <a:ln w="12700">
            <a:solidFill>
              <a:srgbClr val="E7EAF1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6400800" y="1828800"/>
            <a:ext cx="5074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20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Saldo: cartera vs no carterizado (S/ MM)</a:t>
            </a:r>
            <a:endParaRPr lang="en-US" sz="1200" dirty="0"/>
          </a:p>
        </p:txBody>
      </p:sp>
      <p:graphicFrame>
        <p:nvGraphicFramePr>
          <p:cNvPr id="10" name="Chart 1" descr=""/>
          <p:cNvGraphicFramePr/>
          <p:nvPr/>
        </p:nvGraphicFramePr>
        <p:xfrm>
          <a:off x="6281928" y="2240280"/>
          <a:ext cx="5184648" cy="26060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1" name="Shape 7"/>
          <p:cNvSpPr/>
          <p:nvPr/>
        </p:nvSpPr>
        <p:spPr>
          <a:xfrm>
            <a:off x="548640" y="5120640"/>
            <a:ext cx="11064240" cy="1078992"/>
          </a:xfrm>
          <a:prstGeom prst="roundRect">
            <a:avLst>
              <a:gd name="adj" fmla="val 6780"/>
            </a:avLst>
          </a:prstGeom>
          <a:solidFill>
            <a:srgbClr val="F7FAFC"/>
          </a:solidFill>
          <a:ln w="12700">
            <a:solidFill>
              <a:srgbClr val="E7EAF1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12" name="Text 8"/>
          <p:cNvSpPr/>
          <p:nvPr/>
        </p:nvSpPr>
        <p:spPr>
          <a:xfrm>
            <a:off x="822960" y="5138928"/>
            <a:ext cx="10515600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b="1" dirty="0">
                <a:solidFill>
                  <a:srgbClr val="005F1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La fuga viene de adentro.  </a:t>
            </a:r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1620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Cada vez se va más cliente carterizado: su peso en el saldo subió del 63% (Jun-25) al 75% (Feb-26), y S/ 52.5 MM se gestionaban desde Tiendas.  </a:t>
            </a:r>
            <a:pPr indent="0" marL="0">
              <a:lnSpc>
                <a:spcPct val="112000"/>
              </a:lnSpc>
              <a:buNone/>
            </a:pPr>
            <a:r>
              <a:rPr lang="en-US" sz="1250" b="1" dirty="0">
                <a:solidFill>
                  <a:srgbClr val="1F459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Acción: blindar primero la cartera de Tiendas — el riesgo está dentro de la base, no en captar nuevos.</a:t>
            </a:r>
            <a:endParaRPr lang="en-US" sz="12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F459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4572000"/>
            <a:ext cx="3840480" cy="3840480"/>
          </a:xfrm>
          <a:prstGeom prst="ellipse">
            <a:avLst/>
          </a:prstGeom>
          <a:solidFill>
            <a:srgbClr val="005F1E">
              <a:alpha val="4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64008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6FFC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DE LOS HALLAZGOS A LA ACCIÓN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31520" y="105156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Tres movimientos que atacan el 70% del saldo en riesgo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731520" y="2331720"/>
            <a:ext cx="640080" cy="640080"/>
          </a:xfrm>
          <a:prstGeom prst="ellipse">
            <a:avLst/>
          </a:prstGeom>
          <a:solidFill>
            <a:srgbClr val="00BE50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23317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600200" y="2286000"/>
            <a:ext cx="9875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Activar gestión sobre lo identificado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1600200" y="2715768"/>
            <a:ext cx="9875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Contacto obligatorio y trazable sobre P1 carterizado en el funnel — es el 72% del universo y hoy la mayoría no se gestiona.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731520" y="3630168"/>
            <a:ext cx="640080" cy="640080"/>
          </a:xfrm>
          <a:prstGeom prst="ellipse">
            <a:avLst/>
          </a:prstGeom>
          <a:solidFill>
            <a:srgbClr val="00BE50"/>
          </a:solidFill>
          <a:ln/>
        </p:spPr>
      </p:sp>
      <p:sp>
        <p:nvSpPr>
          <p:cNvPr id="10" name="Text 8"/>
          <p:cNvSpPr/>
          <p:nvPr/>
        </p:nvSpPr>
        <p:spPr>
          <a:xfrm>
            <a:off x="731520" y="3630168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600200" y="3584448"/>
            <a:ext cx="9875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Priorizar por saldo, no por volumen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1600200" y="4014216"/>
            <a:ext cx="9875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Alertas tempranas en créditos de S/100k–500k y en la cola de tasa ≥20%, donde se concentra el valor perdido.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31520" y="4928616"/>
            <a:ext cx="640080" cy="640080"/>
          </a:xfrm>
          <a:prstGeom prst="ellipse">
            <a:avLst/>
          </a:prstGeom>
          <a:solidFill>
            <a:srgbClr val="00BE50"/>
          </a:solidFill>
          <a:ln/>
        </p:spPr>
      </p:sp>
      <p:sp>
        <p:nvSpPr>
          <p:cNvPr id="14" name="Text 12"/>
          <p:cNvSpPr/>
          <p:nvPr/>
        </p:nvSpPr>
        <p:spPr>
          <a:xfrm>
            <a:off x="731520" y="4928616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1600200" y="4882896"/>
            <a:ext cx="9875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Diferenciar por canal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1600200" y="5312664"/>
            <a:ext cx="9875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Contacto temprano en Vendors y Tiendas Virtuales; seguimiento sostenido en Tiendas y TLV, que concentran el 84% del saldo.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731520" y="644652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E90C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Interbank · NBC Empresas — Advanced Analytics &amp; IA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Análisis de Fuga</dc:title>
  <dc:subject>PptxGenJS Presentation</dc:subject>
  <dc:creator>NBC Empresas</dc:creator>
  <cp:lastModifiedBy>NBC Empresas</cp:lastModifiedBy>
  <cp:revision>1</cp:revision>
  <dcterms:created xsi:type="dcterms:W3CDTF">2026-06-10T21:42:47Z</dcterms:created>
  <dcterms:modified xsi:type="dcterms:W3CDTF">2026-06-10T21:42:47Z</dcterms:modified>
</cp:coreProperties>
</file>