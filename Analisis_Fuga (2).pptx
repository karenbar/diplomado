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</c:v>
                </c:pt>
                <c:pt idx="1">
                  <c:v>56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  <c:pt idx="5">
                  <c:v>101</c:v>
                </c:pt>
                <c:pt idx="6">
                  <c:v>99</c:v>
                </c:pt>
                <c:pt idx="7">
                  <c:v>146</c:v>
                </c:pt>
                <c:pt idx="8">
                  <c:v>141</c:v>
                </c:pt>
                <c:pt idx="9">
                  <c:v>121</c:v>
                </c:pt>
                <c:pt idx="10">
                  <c:v>127</c:v>
                </c:pt>
                <c:pt idx="11">
                  <c:v>146</c:v>
                </c:pt>
                <c:pt idx="1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6.83</c:v>
                </c:pt>
                <c:pt idx="5">
                  <c:v>9.51</c:v>
                </c:pt>
                <c:pt idx="6">
                  <c:v>7.8</c:v>
                </c:pt>
                <c:pt idx="7">
                  <c:v>12.85</c:v>
                </c:pt>
                <c:pt idx="8">
                  <c:v>12.47</c:v>
                </c:pt>
                <c:pt idx="9">
                  <c:v>11.53</c:v>
                </c:pt>
                <c:pt idx="10">
                  <c:v>11.07</c:v>
                </c:pt>
                <c:pt idx="11">
                  <c:v>11.89</c:v>
                </c:pt>
                <c:pt idx="12">
                  <c:v>14.42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TLV</c:v>
                </c:pt>
                <c:pt idx="1">
                  <c:v>TIENDAS</c:v>
                </c:pt>
                <c:pt idx="2">
                  <c:v>VENDORS</c:v>
                </c:pt>
                <c:pt idx="3">
                  <c:v>TIENDAS VIRTUALES</c:v>
                </c:pt>
                <c:pt idx="4">
                  <c:v>ECOSISTEMAS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612</c:v>
                </c:pt>
                <c:pt idx="1">
                  <c:v>553</c:v>
                </c:pt>
                <c:pt idx="2">
                  <c:v>101</c:v>
                </c:pt>
                <c:pt idx="3">
                  <c:v>52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TIENDAS</c:v>
                  </c:pt>
                  <c:pt idx="1">
                    <c:v>TLV</c:v>
                  </c:pt>
                  <c:pt idx="2">
                    <c:v>VENDORS</c:v>
                  </c:pt>
                  <c:pt idx="3">
                    <c:v>TIENDAS VIRTUALES</c:v>
                  </c:pt>
                  <c:pt idx="4">
                    <c:v>ECOSISTEMAS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58.1</c:v>
                </c:pt>
                <c:pt idx="1">
                  <c:v>39.5</c:v>
                </c:pt>
                <c:pt idx="2">
                  <c:v>11.6</c:v>
                </c:pt>
                <c:pt idx="3">
                  <c:v>6.3</c:v>
                </c:pt>
                <c:pt idx="4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Antigüedad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ECOSISTEMAS</c:v>
                  </c:pt>
                  <c:pt idx="1">
                    <c:v>TIENDAS</c:v>
                  </c:pt>
                  <c:pt idx="2">
                    <c:v>TIENDAS VIRTUALES</c:v>
                  </c:pt>
                  <c:pt idx="3">
                    <c:v>TLV</c:v>
                  </c:pt>
                  <c:pt idx="4">
                    <c:v>VENDORS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8.9</c:v>
                </c:pt>
                <c:pt idx="2">
                  <c:v>2.2</c:v>
                </c:pt>
                <c:pt idx="3">
                  <c:v>8.5</c:v>
                </c:pt>
                <c:pt idx="4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Impulso Mixto</c:v>
                  </c:pt>
                  <c:pt idx="1">
                    <c:v>Nuevo Aprobado</c:v>
                  </c:pt>
                  <c:pt idx="2">
                    <c:v>CDD APROBADO</c:v>
                  </c:pt>
                  <c:pt idx="3">
                    <c:v>GIRO DE LINEA</c:v>
                  </c:pt>
                  <c:pt idx="4">
                    <c:v>Ágil Recurrente CEM</c:v>
                  </c:pt>
                  <c:pt idx="5">
                    <c:v>Impulso Solo</c:v>
                  </c:pt>
                  <c:pt idx="6">
                    <c:v>Nuevo Aprobado Ágil</c:v>
                  </c:pt>
                  <c:pt idx="7">
                    <c:v>Nuevo pre Aprobado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</c:v>
                </c:pt>
                <c:pt idx="1">
                  <c:v>172</c:v>
                </c:pt>
                <c:pt idx="2">
                  <c:v>157</c:v>
                </c:pt>
                <c:pt idx="3">
                  <c:v>148</c:v>
                </c:pt>
                <c:pt idx="4">
                  <c:v>127</c:v>
                </c:pt>
                <c:pt idx="5">
                  <c:v>116</c:v>
                </c:pt>
                <c:pt idx="6">
                  <c:v>93</c:v>
                </c:pt>
                <c:pt idx="7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113</c:v>
                </c:pt>
                <c:pt idx="2">
                  <c:v>531</c:v>
                </c:pt>
                <c:pt idx="3">
                  <c:v>434</c:v>
                </c:pt>
                <c:pt idx="4">
                  <c:v>206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2.9</c:v>
                </c:pt>
                <c:pt idx="2">
                  <c:v>26.2</c:v>
                </c:pt>
                <c:pt idx="3">
                  <c:v>42.7</c:v>
                </c:pt>
                <c:pt idx="4">
                  <c:v>39.4</c:v>
                </c:pt>
                <c:pt idx="5">
                  <c:v>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384</c:v>
                </c:pt>
                <c:pt idx="2">
                  <c:v>345</c:v>
                </c:pt>
                <c:pt idx="3">
                  <c:v>291</c:v>
                </c:pt>
                <c:pt idx="4">
                  <c:v>208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Saldo (S/ MM)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12.7</c:v>
                </c:pt>
                <c:pt idx="1">
                  <c:v>29.2</c:v>
                </c:pt>
                <c:pt idx="2">
                  <c:v>38.8</c:v>
                </c:pt>
                <c:pt idx="3">
                  <c:v>23</c:v>
                </c:pt>
                <c:pt idx="4">
                  <c:v>10.8</c:v>
                </c:pt>
                <c:pt idx="5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1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en funnel</c:v>
                </c:pt>
              </c:strCache>
            </c:strRef>
          </c:tx>
          <c:spPr>
            <a:solidFill>
              <a:srgbClr val="1F4592"/>
            </a:solidFill>
            <a:ln w="38100" cap="flat">
              <a:solidFill>
                <a:srgbClr val="1F459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592"/>
              </a:solidFill>
              <a:ln w="9525" cap="flat">
                <a:solidFill>
                  <a:srgbClr val="1F45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54.4</c:v>
                </c:pt>
                <c:pt idx="1">
                  <c:v>48.2</c:v>
                </c:pt>
                <c:pt idx="2">
                  <c:v>40.4</c:v>
                </c:pt>
                <c:pt idx="3">
                  <c:v>60.6</c:v>
                </c:pt>
                <c:pt idx="4">
                  <c:v>59.5</c:v>
                </c:pt>
                <c:pt idx="5">
                  <c:v>64.4</c:v>
                </c:pt>
                <c:pt idx="6">
                  <c:v>72.7</c:v>
                </c:pt>
                <c:pt idx="7">
                  <c:v>69.2</c:v>
                </c:pt>
                <c:pt idx="8">
                  <c:v>77.3</c:v>
                </c:pt>
                <c:pt idx="9">
                  <c:v>85.1</c:v>
                </c:pt>
                <c:pt idx="10">
                  <c:v>88.2</c:v>
                </c:pt>
                <c:pt idx="11">
                  <c:v>80.8</c:v>
                </c:pt>
                <c:pt idx="12">
                  <c:v>82.8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ln w="38100" cap="flat">
              <a:solidFill>
                <a:srgbClr val="C4314B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14B"/>
              </a:solidFill>
              <a:ln w="9525" cap="flat">
                <a:solidFill>
                  <a:srgbClr val="C431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38.7</c:v>
                </c:pt>
                <c:pt idx="1">
                  <c:v>44.4</c:v>
                </c:pt>
                <c:pt idx="2">
                  <c:v>34.8</c:v>
                </c:pt>
                <c:pt idx="3">
                  <c:v>23.3</c:v>
                </c:pt>
                <c:pt idx="4">
                  <c:v>36</c:v>
                </c:pt>
                <c:pt idx="5">
                  <c:v>43.1</c:v>
                </c:pt>
                <c:pt idx="6">
                  <c:v>38.9</c:v>
                </c:pt>
                <c:pt idx="7">
                  <c:v>43.6</c:v>
                </c:pt>
                <c:pt idx="8">
                  <c:v>47.7</c:v>
                </c:pt>
                <c:pt idx="9">
                  <c:v>43.7</c:v>
                </c:pt>
                <c:pt idx="10">
                  <c:v>42.9</c:v>
                </c:pt>
                <c:pt idx="11">
                  <c:v>55.1</c:v>
                </c:pt>
                <c:pt idx="12">
                  <c:v>42.4</c:v>
                </c:pt>
              </c:numCache>
            </c:numRef>
          </c:val>
          <c:smooth val="1"/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6203A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Fugados</c:v>
                  </c:pt>
                  <c:pt idx="1">
                    <c:v>En funnel</c:v>
                  </c:pt>
                  <c:pt idx="2">
                    <c:v>Carterizados</c:v>
                  </c:pt>
                  <c:pt idx="3">
                    <c:v>Gestionados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1357</c:v>
                </c:pt>
                <c:pt idx="1">
                  <c:v>979</c:v>
                </c:pt>
                <c:pt idx="2">
                  <c:v>736</c:v>
                </c:pt>
                <c:pt idx="3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P5</c:v>
                </c:pt>
                <c:pt idx="3">
                  <c:v>P3</c:v>
                </c:pt>
                <c:pt idx="4">
                  <c:v>P4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768</c:v>
                </c:pt>
                <c:pt idx="1">
                  <c:v>107</c:v>
                </c:pt>
                <c:pt idx="2">
                  <c:v>88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 funnel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Tiendas</c:v>
                </c:pt>
                <c:pt idx="1">
                  <c:v>Tiendas Virtuales</c:v>
                </c:pt>
                <c:pt idx="2">
                  <c:v>Televentas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625</c:v>
                </c:pt>
                <c:pt idx="1">
                  <c:v>309</c:v>
                </c:pt>
                <c:pt idx="2">
                  <c:v>45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Bolivar Chapilliquen</c:v>
                  </c:pt>
                  <c:pt idx="1">
                    <c:v>Figueroa Gastello</c:v>
                  </c:pt>
                  <c:pt idx="2">
                    <c:v>Nuñez Amado</c:v>
                  </c:pt>
                  <c:pt idx="3">
                    <c:v>Galvez Vela</c:v>
                  </c:pt>
                  <c:pt idx="4">
                    <c:v>Macedo Masias</c:v>
                  </c:pt>
                  <c:pt idx="5">
                    <c:v>Torres Rimapa</c:v>
                  </c:pt>
                  <c:pt idx="6">
                    <c:v>Carmona Farfan</c:v>
                  </c:pt>
                  <c:pt idx="7">
                    <c:v>Quispe Ledesma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30</c:v>
                </c:pt>
                <c:pt idx="2">
                  <c:v>26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20</c:v>
                </c:pt>
                <c:pt idx="7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Pecho Llacta</c:v>
                  </c:pt>
                  <c:pt idx="1">
                    <c:v>Palpa Ramos Luis Carlos</c:v>
                  </c:pt>
                  <c:pt idx="2">
                    <c:v>Loayza Rivas</c:v>
                  </c:pt>
                  <c:pt idx="3">
                    <c:v>Caceda Vertiz</c:v>
                  </c:pt>
                  <c:pt idx="4">
                    <c:v>Ugaz Vasquez Maria Susana</c:v>
                  </c:pt>
                  <c:pt idx="5">
                    <c:v>Casimiro Fernandez Edith Doris</c:v>
                  </c:pt>
                  <c:pt idx="6">
                    <c:v>Roca Ramos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</c:v>
                </c:pt>
                <c:pt idx="1">
                  <c:v>123</c:v>
                </c:pt>
                <c:pt idx="2">
                  <c:v>110</c:v>
                </c:pt>
                <c:pt idx="3">
                  <c:v>108</c:v>
                </c:pt>
                <c:pt idx="4">
                  <c:v>108</c:v>
                </c:pt>
                <c:pt idx="5">
                  <c:v>89</c:v>
                </c:pt>
                <c:pt idx="6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74</c:v>
                </c:pt>
                <c:pt idx="1">
                  <c:v>11</c:v>
                </c:pt>
                <c:pt idx="2">
                  <c:v>20</c:v>
                </c:pt>
                <c:pt idx="3">
                  <c:v>22</c:v>
                </c:pt>
                <c:pt idx="4">
                  <c:v>39</c:v>
                </c:pt>
                <c:pt idx="5">
                  <c:v>49</c:v>
                </c:pt>
                <c:pt idx="6">
                  <c:v>73</c:v>
                </c:pt>
                <c:pt idx="7">
                  <c:v>301</c:v>
                </c:pt>
                <c:pt idx="8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Otras (13 campañas)</c:v>
                  </c:pt>
                  <c:pt idx="1">
                    <c:v>Garantias</c:v>
                  </c:pt>
                  <c:pt idx="2">
                    <c:v>SIN CAMPAÑA</c:v>
                  </c:pt>
                  <c:pt idx="3">
                    <c:v>Giro de Línea</c:v>
                  </c:pt>
                  <c:pt idx="4">
                    <c:v>Recurrente Aprobado CD</c:v>
                  </c:pt>
                  <c:pt idx="5">
                    <c:v>Oportunidad Garantías</c:v>
                  </c:pt>
                  <c:pt idx="6">
                    <c:v>Recurrente Agil Estacional</c:v>
                  </c:pt>
                  <c:pt idx="7">
                    <c:v>Recurrente Ágil CEM</c:v>
                  </c:pt>
                  <c:pt idx="8">
                    <c:v>Gestion Cartera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</c:v>
                </c:pt>
                <c:pt idx="1">
                  <c:v>0</c:v>
                </c:pt>
                <c:pt idx="2">
                  <c:v>95</c:v>
                </c:pt>
                <c:pt idx="3">
                  <c:v>100</c:v>
                </c:pt>
                <c:pt idx="4">
                  <c:v>64</c:v>
                </c:pt>
                <c:pt idx="5">
                  <c:v>31</c:v>
                </c:pt>
                <c:pt idx="6">
                  <c:v>45</c:v>
                </c:pt>
                <c:pt idx="7">
                  <c:v>69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C4314B"/>
              </a:solidFill>
              <a:effectLst/>
            </c:spPr>
          </c:dPt>
          <c:dPt>
            <c:idx val="2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 funnel · gestionado</c:v>
                </c:pt>
                <c:pt idx="1">
                  <c:v>En funnel · no gestionado</c:v>
                </c:pt>
                <c:pt idx="2">
                  <c:v>Fuera de funnel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</c:v>
                </c:pt>
                <c:pt idx="1">
                  <c:v>556</c:v>
                </c:pt>
                <c:pt idx="2">
                  <c:v>378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24</c:v>
                </c:pt>
                <c:pt idx="2">
                  <c:v>24</c:v>
                </c:pt>
                <c:pt idx="3">
                  <c:v>29</c:v>
                </c:pt>
                <c:pt idx="4">
                  <c:v>35</c:v>
                </c:pt>
                <c:pt idx="5">
                  <c:v>45</c:v>
                </c:pt>
                <c:pt idx="6">
                  <c:v>36</c:v>
                </c:pt>
                <c:pt idx="7">
                  <c:v>54</c:v>
                </c:pt>
                <c:pt idx="8">
                  <c:v>54</c:v>
                </c:pt>
                <c:pt idx="9">
                  <c:v>38</c:v>
                </c:pt>
                <c:pt idx="10">
                  <c:v>46</c:v>
                </c:pt>
                <c:pt idx="11">
                  <c:v>68</c:v>
                </c:pt>
                <c:pt idx="1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33</c:v>
                </c:pt>
                <c:pt idx="4">
                  <c:v>37</c:v>
                </c:pt>
                <c:pt idx="5">
                  <c:v>45</c:v>
                </c:pt>
                <c:pt idx="6">
                  <c:v>54</c:v>
                </c:pt>
                <c:pt idx="7">
                  <c:v>66</c:v>
                </c:pt>
                <c:pt idx="8">
                  <c:v>67</c:v>
                </c:pt>
                <c:pt idx="9">
                  <c:v>59</c:v>
                </c:pt>
                <c:pt idx="10">
                  <c:v>62</c:v>
                </c:pt>
                <c:pt idx="11">
                  <c:v>57</c:v>
                </c:pt>
                <c:pt idx="1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7</c:v>
                </c:pt>
                <c:pt idx="9">
                  <c:v>6</c:v>
                </c:pt>
                <c:pt idx="10">
                  <c:v>9</c:v>
                </c:pt>
                <c:pt idx="11">
                  <c:v>10</c:v>
                </c:pt>
                <c:pt idx="1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10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3.42</c:v>
                </c:pt>
                <c:pt idx="1">
                  <c:v>2.43</c:v>
                </c:pt>
                <c:pt idx="2">
                  <c:v>1.94</c:v>
                </c:pt>
                <c:pt idx="3">
                  <c:v>3.03</c:v>
                </c:pt>
                <c:pt idx="4">
                  <c:v>3.65</c:v>
                </c:pt>
                <c:pt idx="5">
                  <c:v>5.45</c:v>
                </c:pt>
                <c:pt idx="6">
                  <c:v>3.12</c:v>
                </c:pt>
                <c:pt idx="7">
                  <c:v>6.66</c:v>
                </c:pt>
                <c:pt idx="8">
                  <c:v>5.04</c:v>
                </c:pt>
                <c:pt idx="9">
                  <c:v>3.58</c:v>
                </c:pt>
                <c:pt idx="10">
                  <c:v>5.53</c:v>
                </c:pt>
                <c:pt idx="11">
                  <c:v>6.27</c:v>
                </c:pt>
                <c:pt idx="12">
                  <c:v>7.96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0.68</c:v>
                </c:pt>
                <c:pt idx="1">
                  <c:v>1.2</c:v>
                </c:pt>
                <c:pt idx="2">
                  <c:v>1.88</c:v>
                </c:pt>
                <c:pt idx="3">
                  <c:v>1.96</c:v>
                </c:pt>
                <c:pt idx="4">
                  <c:v>2.35</c:v>
                </c:pt>
                <c:pt idx="5">
                  <c:v>3.47</c:v>
                </c:pt>
                <c:pt idx="6">
                  <c:v>4.13</c:v>
                </c:pt>
                <c:pt idx="7">
                  <c:v>3.82</c:v>
                </c:pt>
                <c:pt idx="8">
                  <c:v>5</c:v>
                </c:pt>
                <c:pt idx="9">
                  <c:v>4.12</c:v>
                </c:pt>
                <c:pt idx="10">
                  <c:v>3.39</c:v>
                </c:pt>
                <c:pt idx="11">
                  <c:v>3.47</c:v>
                </c:pt>
                <c:pt idx="12">
                  <c:v>4.04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0.45</c:v>
                </c:pt>
                <c:pt idx="5">
                  <c:v>0.24</c:v>
                </c:pt>
                <c:pt idx="6">
                  <c:v>0.23</c:v>
                </c:pt>
                <c:pt idx="7">
                  <c:v>0.94</c:v>
                </c:pt>
                <c:pt idx="8">
                  <c:v>1.38</c:v>
                </c:pt>
                <c:pt idx="9">
                  <c:v>0.85</c:v>
                </c:pt>
                <c:pt idx="10">
                  <c:v>0.84</c:v>
                </c:pt>
                <c:pt idx="11">
                  <c:v>0.97</c:v>
                </c:pt>
                <c:pt idx="12">
                  <c:v>0.45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0.47</c:v>
                </c:pt>
                <c:pt idx="2">
                  <c:v>0.35</c:v>
                </c:pt>
                <c:pt idx="3">
                  <c:v>0.75</c:v>
                </c:pt>
                <c:pt idx="4">
                  <c:v>0.22</c:v>
                </c:pt>
                <c:pt idx="5">
                  <c:v>0.3</c:v>
                </c:pt>
                <c:pt idx="6">
                  <c:v>0.27</c:v>
                </c:pt>
                <c:pt idx="7">
                  <c:v>1.26</c:v>
                </c:pt>
                <c:pt idx="8">
                  <c:v>0.92</c:v>
                </c:pt>
                <c:pt idx="9">
                  <c:v>2.99</c:v>
                </c:pt>
                <c:pt idx="10">
                  <c:v>1.31</c:v>
                </c:pt>
                <c:pt idx="11">
                  <c:v>1.17</c:v>
                </c:pt>
                <c:pt idx="12">
                  <c:v>1.57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≤25k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6</c:v>
                </c:pt>
                <c:pt idx="8">
                  <c:v>0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25-50k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</c:v>
                </c:pt>
                <c:pt idx="1">
                  <c:v>6</c:v>
                </c:pt>
                <c:pt idx="2">
                  <c:v>2</c:v>
                </c:pt>
                <c:pt idx="3">
                  <c:v>14</c:v>
                </c:pt>
                <c:pt idx="4">
                  <c:v>7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9</c:v>
                </c:pt>
                <c:pt idx="9">
                  <c:v>12</c:v>
                </c:pt>
                <c:pt idx="10">
                  <c:v>14</c:v>
                </c:pt>
                <c:pt idx="11">
                  <c:v>14</c:v>
                </c:pt>
                <c:pt idx="1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50-100k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22</c:v>
                </c:pt>
                <c:pt idx="1">
                  <c:v>20</c:v>
                </c:pt>
                <c:pt idx="2">
                  <c:v>25</c:v>
                </c:pt>
                <c:pt idx="3">
                  <c:v>24</c:v>
                </c:pt>
                <c:pt idx="4">
                  <c:v>33</c:v>
                </c:pt>
                <c:pt idx="5">
                  <c:v>37</c:v>
                </c:pt>
                <c:pt idx="6">
                  <c:v>46</c:v>
                </c:pt>
                <c:pt idx="7">
                  <c:v>60</c:v>
                </c:pt>
                <c:pt idx="8">
                  <c:v>55</c:v>
                </c:pt>
                <c:pt idx="9">
                  <c:v>44</c:v>
                </c:pt>
                <c:pt idx="10">
                  <c:v>53</c:v>
                </c:pt>
                <c:pt idx="11">
                  <c:v>56</c:v>
                </c:pt>
                <c:pt idx="12">
                  <c:v>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100-200k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13</c:v>
                </c:pt>
                <c:pt idx="1">
                  <c:v>21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  <c:pt idx="5">
                  <c:v>30</c:v>
                </c:pt>
                <c:pt idx="6">
                  <c:v>28</c:v>
                </c:pt>
                <c:pt idx="7">
                  <c:v>44</c:v>
                </c:pt>
                <c:pt idx="8">
                  <c:v>54</c:v>
                </c:pt>
                <c:pt idx="9">
                  <c:v>49</c:v>
                </c:pt>
                <c:pt idx="10">
                  <c:v>34</c:v>
                </c:pt>
                <c:pt idx="11">
                  <c:v>45</c:v>
                </c:pt>
                <c:pt idx="12">
                  <c:v>53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200-500k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15</c:v>
                </c:pt>
                <c:pt idx="5">
                  <c:v>21</c:v>
                </c:pt>
                <c:pt idx="6">
                  <c:v>11</c:v>
                </c:pt>
                <c:pt idx="7">
                  <c:v>23</c:v>
                </c:pt>
                <c:pt idx="8">
                  <c:v>19</c:v>
                </c:pt>
                <c:pt idx="9">
                  <c:v>14</c:v>
                </c:pt>
                <c:pt idx="10">
                  <c:v>22</c:v>
                </c:pt>
                <c:pt idx="11">
                  <c:v>30</c:v>
                </c:pt>
                <c:pt idx="12">
                  <c:v>31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&gt;500k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&lt;14%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9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14-16%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16</c:v>
                </c:pt>
                <c:pt idx="1">
                  <c:v>13</c:v>
                </c:pt>
                <c:pt idx="2">
                  <c:v>21</c:v>
                </c:pt>
                <c:pt idx="3">
                  <c:v>14</c:v>
                </c:pt>
                <c:pt idx="4">
                  <c:v>18</c:v>
                </c:pt>
                <c:pt idx="5">
                  <c:v>29</c:v>
                </c:pt>
                <c:pt idx="6">
                  <c:v>36</c:v>
                </c:pt>
                <c:pt idx="7">
                  <c:v>43</c:v>
                </c:pt>
                <c:pt idx="8">
                  <c:v>45</c:v>
                </c:pt>
                <c:pt idx="9">
                  <c:v>27</c:v>
                </c:pt>
                <c:pt idx="10">
                  <c:v>40</c:v>
                </c:pt>
                <c:pt idx="11">
                  <c:v>37</c:v>
                </c:pt>
                <c:pt idx="12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16-18%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10</c:v>
                </c:pt>
                <c:pt idx="3">
                  <c:v>16</c:v>
                </c:pt>
                <c:pt idx="4">
                  <c:v>15</c:v>
                </c:pt>
                <c:pt idx="5">
                  <c:v>25</c:v>
                </c:pt>
                <c:pt idx="6">
                  <c:v>24</c:v>
                </c:pt>
                <c:pt idx="7">
                  <c:v>33</c:v>
                </c:pt>
                <c:pt idx="8">
                  <c:v>40</c:v>
                </c:pt>
                <c:pt idx="9">
                  <c:v>35</c:v>
                </c:pt>
                <c:pt idx="10">
                  <c:v>30</c:v>
                </c:pt>
                <c:pt idx="11">
                  <c:v>53</c:v>
                </c:pt>
                <c:pt idx="12">
                  <c:v>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18-20%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</c:v>
                </c:pt>
                <c:pt idx="1">
                  <c:v>18</c:v>
                </c:pt>
                <c:pt idx="2">
                  <c:v>6</c:v>
                </c:pt>
                <c:pt idx="3">
                  <c:v>19</c:v>
                </c:pt>
                <c:pt idx="4">
                  <c:v>20</c:v>
                </c:pt>
                <c:pt idx="5">
                  <c:v>26</c:v>
                </c:pt>
                <c:pt idx="6">
                  <c:v>19</c:v>
                </c:pt>
                <c:pt idx="7">
                  <c:v>32</c:v>
                </c:pt>
                <c:pt idx="8">
                  <c:v>31</c:v>
                </c:pt>
                <c:pt idx="9">
                  <c:v>25</c:v>
                </c:pt>
                <c:pt idx="10">
                  <c:v>31</c:v>
                </c:pt>
                <c:pt idx="11">
                  <c:v>26</c:v>
                </c:pt>
                <c:pt idx="12">
                  <c:v>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20-25%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14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11</c:v>
                </c:pt>
                <c:pt idx="6">
                  <c:v>10</c:v>
                </c:pt>
                <c:pt idx="7">
                  <c:v>18</c:v>
                </c:pt>
                <c:pt idx="8">
                  <c:v>14</c:v>
                </c:pt>
                <c:pt idx="9">
                  <c:v>28</c:v>
                </c:pt>
                <c:pt idx="10">
                  <c:v>18</c:v>
                </c:pt>
                <c:pt idx="11">
                  <c:v>17</c:v>
                </c:pt>
                <c:pt idx="12">
                  <c:v>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≥25%</c:v>
                </c:pt>
              </c:strCache>
            </c:strRef>
          </c:tx>
          <c:spPr>
            <a:solidFill>
              <a:srgbClr val="7ED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Sheet1!$G$2:$G$14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7</c:v>
                </c:pt>
                <c:pt idx="1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funnel · gestionado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  <c:pt idx="4">
                  <c:v>18</c:v>
                </c:pt>
                <c:pt idx="5">
                  <c:v>28</c:v>
                </c:pt>
                <c:pt idx="6">
                  <c:v>28</c:v>
                </c:pt>
                <c:pt idx="7">
                  <c:v>44</c:v>
                </c:pt>
                <c:pt idx="8">
                  <c:v>52</c:v>
                </c:pt>
                <c:pt idx="9">
                  <c:v>45</c:v>
                </c:pt>
                <c:pt idx="10">
                  <c:v>48</c:v>
                </c:pt>
                <c:pt idx="11">
                  <c:v>65</c:v>
                </c:pt>
                <c:pt idx="1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funnel · no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33</c:v>
                </c:pt>
                <c:pt idx="4">
                  <c:v>32</c:v>
                </c:pt>
                <c:pt idx="5">
                  <c:v>37</c:v>
                </c:pt>
                <c:pt idx="6">
                  <c:v>44</c:v>
                </c:pt>
                <c:pt idx="7">
                  <c:v>57</c:v>
                </c:pt>
                <c:pt idx="8">
                  <c:v>57</c:v>
                </c:pt>
                <c:pt idx="9">
                  <c:v>58</c:v>
                </c:pt>
                <c:pt idx="10">
                  <c:v>64</c:v>
                </c:pt>
                <c:pt idx="11">
                  <c:v>53</c:v>
                </c:pt>
                <c:pt idx="12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26</c:v>
                </c:pt>
                <c:pt idx="1">
                  <c:v>29</c:v>
                </c:pt>
                <c:pt idx="2">
                  <c:v>34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27</c:v>
                </c:pt>
                <c:pt idx="7">
                  <c:v>45</c:v>
                </c:pt>
                <c:pt idx="8">
                  <c:v>32</c:v>
                </c:pt>
                <c:pt idx="9">
                  <c:v>18</c:v>
                </c:pt>
                <c:pt idx="10">
                  <c:v>15</c:v>
                </c:pt>
                <c:pt idx="11">
                  <c:v>28</c:v>
                </c:pt>
                <c:pt idx="1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</c:v>
                </c:pt>
                <c:pt idx="1">
                  <c:v>23</c:v>
                </c:pt>
                <c:pt idx="2">
                  <c:v>22</c:v>
                </c:pt>
                <c:pt idx="3">
                  <c:v>39</c:v>
                </c:pt>
                <c:pt idx="4">
                  <c:v>43</c:v>
                </c:pt>
                <c:pt idx="5">
                  <c:v>52</c:v>
                </c:pt>
                <c:pt idx="6">
                  <c:v>52</c:v>
                </c:pt>
                <c:pt idx="7">
                  <c:v>88</c:v>
                </c:pt>
                <c:pt idx="8">
                  <c:v>98</c:v>
                </c:pt>
                <c:pt idx="9">
                  <c:v>92</c:v>
                </c:pt>
                <c:pt idx="10">
                  <c:v>100</c:v>
                </c:pt>
                <c:pt idx="11">
                  <c:v>27</c:v>
                </c:pt>
                <c:pt idx="1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12</c:v>
                </c:pt>
                <c:pt idx="11">
                  <c:v>2</c:v>
                </c:pt>
                <c:pt idx="1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P5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88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4.65</c:v>
                </c:pt>
                <c:pt idx="1">
                  <c:v>3.12</c:v>
                </c:pt>
                <c:pt idx="2">
                  <c:v>2.85</c:v>
                </c:pt>
                <c:pt idx="3">
                  <c:v>4.51</c:v>
                </c:pt>
                <c:pt idx="4">
                  <c:v>5.41</c:v>
                </c:pt>
                <c:pt idx="5">
                  <c:v>7.42</c:v>
                </c:pt>
                <c:pt idx="6">
                  <c:v>4.38</c:v>
                </c:pt>
                <c:pt idx="7">
                  <c:v>9.13</c:v>
                </c:pt>
                <c:pt idx="8">
                  <c:v>8.11</c:v>
                </c:pt>
                <c:pt idx="9">
                  <c:v>5.24</c:v>
                </c:pt>
                <c:pt idx="10">
                  <c:v>6.76</c:v>
                </c:pt>
                <c:pt idx="11">
                  <c:v>10.15</c:v>
                </c:pt>
                <c:pt idx="12">
                  <c:v>11.57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0.85</c:v>
                </c:pt>
                <c:pt idx="1">
                  <c:v>1.4</c:v>
                </c:pt>
                <c:pt idx="2">
                  <c:v>2.21</c:v>
                </c:pt>
                <c:pt idx="3">
                  <c:v>2.4</c:v>
                </c:pt>
                <c:pt idx="4">
                  <c:v>3.29</c:v>
                </c:pt>
                <c:pt idx="5">
                  <c:v>4.27</c:v>
                </c:pt>
                <c:pt idx="6">
                  <c:v>5.21</c:v>
                </c:pt>
                <c:pt idx="7">
                  <c:v>5.33</c:v>
                </c:pt>
                <c:pt idx="8">
                  <c:v>6.86</c:v>
                </c:pt>
                <c:pt idx="9">
                  <c:v>5.84</c:v>
                </c:pt>
                <c:pt idx="10">
                  <c:v>5.75</c:v>
                </c:pt>
                <c:pt idx="11">
                  <c:v>5.61</c:v>
                </c:pt>
                <c:pt idx="12">
                  <c:v>6.66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0.58</c:v>
                </c:pt>
                <c:pt idx="5">
                  <c:v>0.34</c:v>
                </c:pt>
                <c:pt idx="6">
                  <c:v>0.22</c:v>
                </c:pt>
                <c:pt idx="7">
                  <c:v>1.06</c:v>
                </c:pt>
                <c:pt idx="8">
                  <c:v>1.54</c:v>
                </c:pt>
                <c:pt idx="9">
                  <c:v>0.95</c:v>
                </c:pt>
                <c:pt idx="10">
                  <c:v>1.73</c:v>
                </c:pt>
                <c:pt idx="11">
                  <c:v>1.31</c:v>
                </c:pt>
                <c:pt idx="12">
                  <c:v>0.58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0.53</c:v>
                </c:pt>
                <c:pt idx="2">
                  <c:v>0.41</c:v>
                </c:pt>
                <c:pt idx="3">
                  <c:v>0.85</c:v>
                </c:pt>
                <c:pt idx="4">
                  <c:v>0.32</c:v>
                </c:pt>
                <c:pt idx="5">
                  <c:v>0.37</c:v>
                </c:pt>
                <c:pt idx="6">
                  <c:v>0.34</c:v>
                </c:pt>
                <c:pt idx="7">
                  <c:v>1.67</c:v>
                </c:pt>
                <c:pt idx="8">
                  <c:v>1.21</c:v>
                </c:pt>
                <c:pt idx="9">
                  <c:v>3.52</c:v>
                </c:pt>
                <c:pt idx="10">
                  <c:v>1.66</c:v>
                </c:pt>
                <c:pt idx="11">
                  <c:v>1.73</c:v>
                </c:pt>
                <c:pt idx="12">
                  <c:v>2.27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2.79</c:v>
                </c:pt>
                <c:pt idx="1">
                  <c:v>2.06</c:v>
                </c:pt>
                <c:pt idx="2">
                  <c:v>1.09</c:v>
                </c:pt>
                <c:pt idx="3">
                  <c:v>2.34</c:v>
                </c:pt>
                <c:pt idx="4">
                  <c:v>3.04</c:v>
                </c:pt>
                <c:pt idx="5">
                  <c:v>4.74</c:v>
                </c:pt>
                <c:pt idx="6">
                  <c:v>3.39</c:v>
                </c:pt>
                <c:pt idx="7">
                  <c:v>6.97</c:v>
                </c:pt>
                <c:pt idx="8">
                  <c:v>5.37</c:v>
                </c:pt>
                <c:pt idx="9">
                  <c:v>6.44</c:v>
                </c:pt>
                <c:pt idx="10">
                  <c:v>6.61</c:v>
                </c:pt>
                <c:pt idx="11">
                  <c:v>9.01</c:v>
                </c:pt>
                <c:pt idx="12">
                  <c:v>10.73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0.53</c:v>
                </c:pt>
                <c:pt idx="3">
                  <c:v>1.36</c:v>
                </c:pt>
                <c:pt idx="4">
                  <c:v>1.47</c:v>
                </c:pt>
                <c:pt idx="5">
                  <c:v>1.86</c:v>
                </c:pt>
                <c:pt idx="6">
                  <c:v>2.21</c:v>
                </c:pt>
                <c:pt idx="7">
                  <c:v>2.28</c:v>
                </c:pt>
                <c:pt idx="8">
                  <c:v>4.36</c:v>
                </c:pt>
                <c:pt idx="9">
                  <c:v>3.43</c:v>
                </c:pt>
                <c:pt idx="10">
                  <c:v>3.03</c:v>
                </c:pt>
                <c:pt idx="11">
                  <c:v>0.63</c:v>
                </c:pt>
                <c:pt idx="12">
                  <c:v>1.16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Televentas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0.05</c:v>
                </c:pt>
                <c:pt idx="1">
                  <c:v>0.26</c:v>
                </c:pt>
                <c:pt idx="2">
                  <c:v>0.11</c:v>
                </c:pt>
                <c:pt idx="3">
                  <c:v>0.12</c:v>
                </c:pt>
                <c:pt idx="4">
                  <c:v>0.32</c:v>
                </c:pt>
                <c:pt idx="5">
                  <c:v>0.28</c:v>
                </c:pt>
                <c:pt idx="6">
                  <c:v>0.3</c:v>
                </c:pt>
                <c:pt idx="7">
                  <c:v>0.13</c:v>
                </c:pt>
                <c:pt idx="8">
                  <c:v>0.38</c:v>
                </c:pt>
                <c:pt idx="9">
                  <c:v>0.53</c:v>
                </c:pt>
                <c:pt idx="10">
                  <c:v>0.38</c:v>
                </c:pt>
                <c:pt idx="11">
                  <c:v>0.51</c:v>
                </c:pt>
                <c:pt idx="1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1.37</c:v>
                </c:pt>
                <c:pt idx="1">
                  <c:v>1.87</c:v>
                </c:pt>
                <c:pt idx="2">
                  <c:v>2.56</c:v>
                </c:pt>
                <c:pt idx="3">
                  <c:v>1.97</c:v>
                </c:pt>
                <c:pt idx="4">
                  <c:v>2</c:v>
                </c:pt>
                <c:pt idx="5">
                  <c:v>2.63</c:v>
                </c:pt>
                <c:pt idx="6">
                  <c:v>1.9</c:v>
                </c:pt>
                <c:pt idx="7">
                  <c:v>3.47</c:v>
                </c:pt>
                <c:pt idx="8">
                  <c:v>2.36</c:v>
                </c:pt>
                <c:pt idx="9">
                  <c:v>1.14</c:v>
                </c:pt>
                <c:pt idx="10">
                  <c:v>1.05</c:v>
                </c:pt>
                <c:pt idx="11">
                  <c:v>1.73</c:v>
                </c:pt>
                <c:pt idx="12">
                  <c:v>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4.31</c:v>
                </c:pt>
                <c:pt idx="5">
                  <c:v>6.6</c:v>
                </c:pt>
                <c:pt idx="6">
                  <c:v>5.33</c:v>
                </c:pt>
                <c:pt idx="7">
                  <c:v>8.58</c:v>
                </c:pt>
                <c:pt idx="8">
                  <c:v>9.45</c:v>
                </c:pt>
                <c:pt idx="9">
                  <c:v>8.69</c:v>
                </c:pt>
                <c:pt idx="10">
                  <c:v>9.43</c:v>
                </c:pt>
                <c:pt idx="11">
                  <c:v>8.4</c:v>
                </c:pt>
                <c:pt idx="12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carterizado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Feb-25</c:v>
                  </c:pt>
                  <c:pt idx="1">
                    <c:v>Mar-25</c:v>
                  </c:pt>
                  <c:pt idx="2">
                    <c:v>Abr-25</c:v>
                  </c:pt>
                  <c:pt idx="3">
                    <c:v>May-25</c:v>
                  </c:pt>
                  <c:pt idx="4">
                    <c:v>Jun-25</c:v>
                  </c:pt>
                  <c:pt idx="5">
                    <c:v>Jul-25</c:v>
                  </c:pt>
                  <c:pt idx="6">
                    <c:v>Ago-25</c:v>
                  </c:pt>
                  <c:pt idx="7">
                    <c:v>Sep-25</c:v>
                  </c:pt>
                  <c:pt idx="8">
                    <c:v>Oct-25</c:v>
                  </c:pt>
                  <c:pt idx="9">
                    <c:v>Nov-25</c:v>
                  </c:pt>
                  <c:pt idx="10">
                    <c:v>Dic-25</c:v>
                  </c:pt>
                  <c:pt idx="11">
                    <c:v>Ene-26</c:v>
                  </c:pt>
                  <c:pt idx="12">
                    <c:v>Feb-26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2.52</c:v>
                </c:pt>
                <c:pt idx="5">
                  <c:v>2.91</c:v>
                </c:pt>
                <c:pt idx="6">
                  <c:v>2.47</c:v>
                </c:pt>
                <c:pt idx="7">
                  <c:v>4.27</c:v>
                </c:pt>
                <c:pt idx="8">
                  <c:v>3.02</c:v>
                </c:pt>
                <c:pt idx="9">
                  <c:v>2.84</c:v>
                </c:pt>
                <c:pt idx="10">
                  <c:v>1.64</c:v>
                </c:pt>
                <c:pt idx="11">
                  <c:v>3.49</c:v>
                </c:pt>
                <c:pt idx="12">
                  <c:v>3.57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chart" Target="/ppt/charts/chart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05F1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0BE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Fuga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comprados por otra entidad financiera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Periodo de compra: Feb-2025 a Feb-2026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 créditos · S/ 116.8 MM de saldo fugado · Fuente: DATA_FUGA.xlsx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 fugados y el 72% ya estaba en nuestro funnel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02152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64224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en el funnel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22629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carterizados sin gestión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Llamado a la acción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 cada 10 créditos fugados estaban en el funnel comercial, pero solo el 43% recibió gestión: activar contacto sobre lo identificado.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del volumen (S/100k–500k) explica ~70% del saldo perdido: priorizar por saldo, no por número de casos.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año: fijar meta de retención y monitoreo mensual.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carterizados: cerrar el lazo entre prioridad y gestión.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HALLAZGOS PRIORIZADOS POR IMPACTO EN RETENCIÓN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lecturas que ordenan el plan de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gestionamos al 43% de los que estaban en el funnel; 437 carterizados se fugaron sin contacto.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 los créditos (S/100k–500k) concentra ~70% del saldo fugado.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1704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48472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año; tendencia sostenida.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1 de cada 5 se fugó con tasa ≥20%: sensibles a recompra por precio.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relojes: Tiendas/TLV ~9 meses; Vendors/T. Virtuales ~2–5 meses.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61704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48472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de fugados en funnel eran P1: el modelo ya los marcaba.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triplicó: de 57 a 151 créditos/mes (S/ 14.4 MM en Feb-26)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mes de compra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mes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concentra el 50% del saldo fugado: S/ 58 MM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 (CANAL_FINAL)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golpea temprano en Vendors y T. Virtuales: a los 2–5 meses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Antigüedad promedio por canal (meses)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Campañas de origen (CAMPANA_BASE) — Top 8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SOBRE MONTO DESEMBOLSADO Y TASA DE DESEMBOLSO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más se fuga: créditos de S/ 50–100k (531) y tasa 14–16% (384)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monto desembolsado (S/)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tasa de desembolso (%)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Tuvimos al 72% en el funnel, pero solo gestionamos al 43%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Cobertura y gestión por mes (%)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en funnel y % gestionado de los que estaban en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Embudo de oportunidad perdida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768 fugados eran P1 y 625 de Tiendas: el modelo ya los marcaba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Prioridad final (PRIORIDAD_GRUPO_FINAL)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del funnel (ID_CANAL)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Tiendas · 2 Tiendas Virtuales · 3 Televentas</a:t>
            </a:r>
            <a:endParaRPr lang="en-US" sz="9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RESPONSABLES DE LOS FUGADOS CON CAMPAÑA ACTIVA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se reparte entre 110 ejecutivos, pero se concentra en 7 supervisores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Ejecutivos con más fuga — Top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Supervisores con más fuga — Top 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fugados con una campaña activa del funnel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CAMPAÑAS DEL 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'Gestión Cartera': 40% de la fuga (S/ 40 MM) y solo 12% gestionada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tipo de campaña (CAMPANHA_FUNNEL)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979 fugados con campaña activa del funnel (72% del total)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2542032"/>
          <a:ext cx="523036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gestionado por tipo de campaña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campaña de mayor fuga es la que menos se gestionó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81928" y="2542032"/>
          <a:ext cx="5184648" cy="3328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 carterizados se fugaron sin gestión: S/ 43 MM perdidos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clientes que estaban en el funnel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50792" y="2258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gestionado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00BE50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19456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gestionado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50792" y="2514600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C4314B"/>
          </a:solidFill>
          <a:ln/>
        </p:spPr>
      </p:sp>
      <p:sp>
        <p:nvSpPr>
          <p:cNvPr id="15" name="Text 13"/>
          <p:cNvSpPr/>
          <p:nvPr/>
        </p:nvSpPr>
        <p:spPr>
          <a:xfrm>
            <a:off x="4050792" y="26609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142232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cart. SIN gestión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1F4592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19456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gestionado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50792" y="3867912"/>
            <a:ext cx="1783080" cy="1188720"/>
          </a:xfrm>
          <a:prstGeom prst="roundRect">
            <a:avLst>
              <a:gd name="adj" fmla="val 4615"/>
            </a:avLst>
          </a:prstGeom>
          <a:solidFill>
            <a:srgbClr val="A0AEC0"/>
          </a:solidFill>
          <a:ln/>
        </p:spPr>
      </p:sp>
      <p:sp>
        <p:nvSpPr>
          <p:cNvPr id="21" name="Text 19"/>
          <p:cNvSpPr/>
          <p:nvPr/>
        </p:nvSpPr>
        <p:spPr>
          <a:xfrm>
            <a:off x="4050792" y="4014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118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4142232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cart. sin gestión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de los fugados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y TLV: 86% de los créditos fugados, y en aumento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desembolso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crece pareja en todos los rangos de monto y tasa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monto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tasa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gap de gestión se amplía: cada mes más fugas sin contacto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en el funnel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prioridad final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monto fugado se concentra en Tiendas (S/ 83 MM) y TLV (S/ 56 MM)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de desembolso — CANAL_FINAL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664768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9164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Concentración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2359152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83.3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55.7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14.9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8.3 MM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FUGA · CANAL DE GESTIÓN Y CARTERA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72 MM del saldo fugado (61%) eran clientes carterizados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por canal de gestión — ID_CANAL (S/ MM)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2286000"/>
          <a:ext cx="523036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Saldo: cartera vs no carterizado (S/ MM)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81928" y="2286000"/>
          <a:ext cx="5184648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5F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movimientos que atacan el 70% del saldo en riesgo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Activar gestión sobre lo identificado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715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obligatorio y trazable sobre P1 carterizado en el funnel — es el 72% del universo y hoy la mayoría no se gestiona.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por saldo, no por volumen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tempranas en créditos de S/100k–500k y en la cola de tasa ≥20%, donde se concentra el valor perdido.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28616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Diferenciar por canal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3126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temprano en Vendors y Tiendas Virtuales; seguimiento sostenido en Tiendas y TLV, que concentran el 84% del saldo.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Fuga</dc:title>
  <dc:subject>PptxGenJS Presentation</dc:subject>
  <dc:creator>NBC Empresas</dc:creator>
  <cp:lastModifiedBy>NBC Empresas</cp:lastModifiedBy>
  <cp:revision>1</cp:revision>
  <dcterms:created xsi:type="dcterms:W3CDTF">2026-06-10T20:44:21Z</dcterms:created>
  <dcterms:modified xsi:type="dcterms:W3CDTF">2026-06-10T20:44:21Z</dcterms:modified>
</cp:coreProperties>
</file>