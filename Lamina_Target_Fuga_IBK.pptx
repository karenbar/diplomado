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Observaciones (crédito-mes)</c:v>
                </c:pt>
              </c:strCache>
            </c:strRef>
          </c:tx>
          <c:spPr>
            <a:solidFill>
              <a:srgbClr val="C9D3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202501</c:v>
                  </c:pt>
                  <c:pt idx="1">
                    <c:v>202502</c:v>
                  </c:pt>
                  <c:pt idx="2">
                    <c:v>202503</c:v>
                  </c:pt>
                  <c:pt idx="3">
                    <c:v>202504</c:v>
                  </c:pt>
                  <c:pt idx="4">
                    <c:v>202505</c:v>
                  </c:pt>
                  <c:pt idx="5">
                    <c:v>202506</c:v>
                  </c:pt>
                  <c:pt idx="6">
                    <c:v>202507</c:v>
                  </c:pt>
                  <c:pt idx="7">
                    <c:v>202508</c:v>
                  </c:pt>
                  <c:pt idx="8">
                    <c:v>202509</c:v>
                  </c:pt>
                  <c:pt idx="9">
                    <c:v>202510</c:v>
                  </c:pt>
                  <c:pt idx="10">
                    <c:v>202511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11354</c:v>
                </c:pt>
                <c:pt idx="1">
                  <c:v>11481</c:v>
                </c:pt>
                <c:pt idx="2">
                  <c:v>11570</c:v>
                </c:pt>
                <c:pt idx="3">
                  <c:v>11439</c:v>
                </c:pt>
                <c:pt idx="4">
                  <c:v>11360</c:v>
                </c:pt>
                <c:pt idx="5">
                  <c:v>11308</c:v>
                </c:pt>
                <c:pt idx="6">
                  <c:v>11204</c:v>
                </c:pt>
                <c:pt idx="7">
                  <c:v>11068</c:v>
                </c:pt>
                <c:pt idx="8">
                  <c:v>10722</c:v>
                </c:pt>
                <c:pt idx="9">
                  <c:v>10354</c:v>
                </c:pt>
                <c:pt idx="10">
                  <c:v>9707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Tasa de fuga (%)</c:v>
                </c:pt>
              </c:strCache>
            </c:strRef>
          </c:tx>
          <c:spPr>
            <a:solidFill>
              <a:srgbClr val="00BE50"/>
            </a:solidFill>
            <a:ln w="38100" cap="flat">
              <a:solidFill>
                <a:srgbClr val="00BE50"/>
              </a:solidFill>
              <a:prstDash val="solid"/>
              <a:round/>
            </a:ln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7A35"/>
                    </a:solidFill>
                    <a:latin typeface="Poppi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E50"/>
              </a:solidFill>
              <a:ln w="9525" cap="flat">
                <a:solidFill>
                  <a:srgbClr val="00BE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202501</c:v>
                  </c:pt>
                  <c:pt idx="1">
                    <c:v>202502</c:v>
                  </c:pt>
                  <c:pt idx="2">
                    <c:v>202503</c:v>
                  </c:pt>
                  <c:pt idx="3">
                    <c:v>202504</c:v>
                  </c:pt>
                  <c:pt idx="4">
                    <c:v>202505</c:v>
                  </c:pt>
                  <c:pt idx="5">
                    <c:v>202506</c:v>
                  </c:pt>
                  <c:pt idx="6">
                    <c:v>202507</c:v>
                  </c:pt>
                  <c:pt idx="7">
                    <c:v>202508</c:v>
                  </c:pt>
                  <c:pt idx="8">
                    <c:v>202509</c:v>
                  </c:pt>
                  <c:pt idx="9">
                    <c:v>202510</c:v>
                  </c:pt>
                  <c:pt idx="10">
                    <c:v>202511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0.63</c:v>
                </c:pt>
                <c:pt idx="1">
                  <c:v>0.84</c:v>
                </c:pt>
                <c:pt idx="2">
                  <c:v>1.01</c:v>
                </c:pt>
                <c:pt idx="3">
                  <c:v>1.31</c:v>
                </c:pt>
                <c:pt idx="4">
                  <c:v>1.49</c:v>
                </c:pt>
                <c:pt idx="5">
                  <c:v>1.77</c:v>
                </c:pt>
                <c:pt idx="6">
                  <c:v>2.15</c:v>
                </c:pt>
                <c:pt idx="7">
                  <c:v>2.21</c:v>
                </c:pt>
                <c:pt idx="8">
                  <c:v>2.29</c:v>
                </c:pt>
                <c:pt idx="9">
                  <c:v>2.24</c:v>
                </c:pt>
                <c:pt idx="10">
                  <c:v>2.41</c:v>
                </c:pt>
              </c:numCache>
            </c:numRef>
          </c:val>
          <c:smooth val="0"/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A7A35"/>
                  </a:solidFill>
                  <a:latin typeface="Poppins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280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  <c:min val="0"/>
        </c:scaling>
        <c:delete val="0"/>
        <c:axPos val="l"/>
        <c:majorGridlines>
          <c:spPr>
            <a:ln w="6350" cap="flat">
              <a:solidFill>
                <a:srgbClr val="E4E7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"/>
          <c:min val="0"/>
        </c:scaling>
        <c:delete val="0"/>
        <c:axPos val="r"/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A7A35"/>
                </a:solidFill>
                <a:latin typeface="Poppins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280"/>
                </a:solidFill>
                <a:latin typeface="Poppins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2B2B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Definición del target</a:t>
            </a:r>
            <a:pPr indent="0" marL="0">
              <a:buNone/>
            </a:pPr>
            <a:r>
              <a:rPr lang="en-US" sz="2600" b="1" dirty="0">
                <a:solidFill>
                  <a:srgbClr val="00BE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·  modelo de fuga (compra de deuda)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NBC Empresas · Banca Negocio · grano crédito × mes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3434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se define la fuga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91440" cy="9144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1993392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Evento: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otro banco compra la deuda del crédito (confirmado en RCC).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592324"/>
            <a:ext cx="91440" cy="9144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528316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Universo (PO):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créditos con saldo vigente &gt; S/. 50 K en el corte 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3127248"/>
            <a:ext cx="91440" cy="9144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06324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A7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= 1: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crédito es comprado dentro de la ventana (t, t+3 meses].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3662172"/>
            <a:ext cx="91440" cy="9144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598164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 = 0: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sigue vigente al cierre de la ventana.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4197096"/>
            <a:ext cx="91440" cy="91440"/>
          </a:xfrm>
          <a:prstGeom prst="ellipse">
            <a:avLst/>
          </a:prstGeom>
          <a:solidFill>
            <a:srgbClr val="00BE50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4133088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Censura: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excluye el mes de compra y posteriores (ya no es blindable).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Distribución del target por periodo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983480" y="1783080"/>
          <a:ext cx="67208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02920" y="48920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3F6F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5010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121,567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76072" y="54955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observaciones (crédito-mes)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319272" y="48920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3F6F4"/>
          </a:solidFill>
          <a:ln/>
        </p:spPr>
      </p:sp>
      <p:sp>
        <p:nvSpPr>
          <p:cNvPr id="22" name="Text 19"/>
          <p:cNvSpPr/>
          <p:nvPr/>
        </p:nvSpPr>
        <p:spPr>
          <a:xfrm>
            <a:off x="3364992" y="5010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1,993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392424" y="54955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fugas en total (y = 1)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35624" y="48920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3F6F4"/>
          </a:solidFill>
          <a:ln/>
        </p:spPr>
      </p:sp>
      <p:sp>
        <p:nvSpPr>
          <p:cNvPr id="25" name="Text 22"/>
          <p:cNvSpPr/>
          <p:nvPr/>
        </p:nvSpPr>
        <p:spPr>
          <a:xfrm>
            <a:off x="6181344" y="5010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7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1.64%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208776" y="54955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tasa de fuga global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951976" y="48920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F3F6F4"/>
          </a:solidFill>
          <a:ln/>
        </p:spPr>
      </p:sp>
      <p:sp>
        <p:nvSpPr>
          <p:cNvPr id="28" name="Text 25"/>
          <p:cNvSpPr/>
          <p:nvPr/>
        </p:nvSpPr>
        <p:spPr>
          <a:xfrm>
            <a:off x="8997696" y="50109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59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~60 : 1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9025128" y="54955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desbalance (scale_pos_weight)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6016752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E7F7EE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601675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7A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Lectura: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tasa de fuga casi se cuadruplica en el periodo (0.63% → 2.41%) mientras la cartera se contrae — la compra de deuda se está acelerando.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Definicion del target - Modelo de Fuga</dc:title>
  <dc:subject>PptxGenJS Presentation</dc:subject>
  <dc:creator>NBC Empresas - Advanced Analytics &amp; AI</dc:creator>
  <cp:lastModifiedBy>NBC Empresas - Advanced Analytics &amp; AI</cp:lastModifiedBy>
  <cp:revision>1</cp:revision>
  <dcterms:created xsi:type="dcterms:W3CDTF">2026-06-16T13:20:34Z</dcterms:created>
  <dcterms:modified xsi:type="dcterms:W3CDTF">2026-06-16T13:20:34Z</dcterms:modified>
</cp:coreProperties>
</file>