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8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9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26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27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2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2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Créditos</c:v>
                </c:pt>
              </c:strCache>
            </c:strRef>
          </c:tx>
          <c:spPr>
            <a:solidFill>
              <a:srgbClr val="1F459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57</c:v>
                </c:pt>
                <c:pt idx="1">
                  <c:v>56</c:v>
                </c:pt>
                <c:pt idx="2">
                  <c:v>57</c:v>
                </c:pt>
                <c:pt idx="3">
                  <c:v>71</c:v>
                </c:pt>
                <c:pt idx="4">
                  <c:v>84</c:v>
                </c:pt>
                <c:pt idx="5">
                  <c:v>101</c:v>
                </c:pt>
                <c:pt idx="6">
                  <c:v>99</c:v>
                </c:pt>
                <c:pt idx="7">
                  <c:v>146</c:v>
                </c:pt>
                <c:pt idx="8">
                  <c:v>141</c:v>
                </c:pt>
                <c:pt idx="9">
                  <c:v>121</c:v>
                </c:pt>
                <c:pt idx="10">
                  <c:v>127</c:v>
                </c:pt>
                <c:pt idx="11">
                  <c:v>146</c:v>
                </c:pt>
                <c:pt idx="12">
                  <c:v>151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620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Saldo</c:v>
                </c:pt>
              </c:strCache>
            </c:strRef>
          </c:tx>
          <c:spPr>
            <a:solidFill>
              <a:srgbClr val="00BE5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4.22</c:v>
                </c:pt>
                <c:pt idx="1">
                  <c:v>4.18</c:v>
                </c:pt>
                <c:pt idx="2">
                  <c:v>4.29</c:v>
                </c:pt>
                <c:pt idx="3">
                  <c:v>5.78</c:v>
                </c:pt>
                <c:pt idx="4">
                  <c:v>6.83</c:v>
                </c:pt>
                <c:pt idx="5">
                  <c:v>9.51</c:v>
                </c:pt>
                <c:pt idx="6">
                  <c:v>7.8</c:v>
                </c:pt>
                <c:pt idx="7">
                  <c:v>12.85</c:v>
                </c:pt>
                <c:pt idx="8">
                  <c:v>12.47</c:v>
                </c:pt>
                <c:pt idx="9">
                  <c:v>11.53</c:v>
                </c:pt>
                <c:pt idx="10">
                  <c:v>11.07</c:v>
                </c:pt>
                <c:pt idx="11">
                  <c:v>11.89</c:v>
                </c:pt>
                <c:pt idx="12">
                  <c:v>14.42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800" u="none">
                  <a:solidFill>
                    <a:srgbClr val="1620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Canal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4592"/>
              </a:solidFill>
              <a:effectLst/>
            </c:spPr>
          </c:dPt>
          <c:dPt>
            <c:idx val="1"/>
            <c:bubble3D val="0"/>
            <c:spPr>
              <a:solidFill>
                <a:srgbClr val="00BE50"/>
              </a:solidFill>
              <a:effectLst/>
            </c:spPr>
          </c:dPt>
          <c:dPt>
            <c:idx val="2"/>
            <c:bubble3D val="0"/>
            <c:spPr>
              <a:solidFill>
                <a:srgbClr val="005F1E"/>
              </a:solidFill>
              <a:effectLst/>
            </c:spPr>
          </c:dPt>
          <c:dPt>
            <c:idx val="3"/>
            <c:bubble3D val="0"/>
            <c:spPr>
              <a:solidFill>
                <a:srgbClr val="5B8DEF"/>
              </a:solidFill>
              <a:effectLst/>
            </c:spPr>
          </c:dPt>
          <c:dPt>
            <c:idx val="4"/>
            <c:bubble3D val="0"/>
            <c:spPr>
              <a:solidFill>
                <a:srgbClr val="A0AEC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Poppi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Poppi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Poppi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Poppi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Poppi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TLV</c:v>
                </c:pt>
                <c:pt idx="1">
                  <c:v>TIENDAS</c:v>
                </c:pt>
                <c:pt idx="2">
                  <c:v>VENDORS</c:v>
                </c:pt>
                <c:pt idx="3">
                  <c:v>TIENDAS VIRTUALES</c:v>
                </c:pt>
                <c:pt idx="4">
                  <c:v>ECOSISTEMAS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612</c:v>
                </c:pt>
                <c:pt idx="1">
                  <c:v>553</c:v>
                </c:pt>
                <c:pt idx="2">
                  <c:v>101</c:v>
                </c:pt>
                <c:pt idx="3">
                  <c:v>52</c:v>
                </c:pt>
                <c:pt idx="4">
                  <c:v>1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Saldo</c:v>
                </c:pt>
              </c:strCache>
            </c:strRef>
          </c:tx>
          <c:spPr>
            <a:solidFill>
              <a:srgbClr val="00BE5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TIENDAS</c:v>
                  </c:pt>
                  <c:pt idx="1">
                    <c:v>TLV</c:v>
                  </c:pt>
                  <c:pt idx="2">
                    <c:v>VENDORS</c:v>
                  </c:pt>
                  <c:pt idx="3">
                    <c:v>TIENDAS VIRTUALES</c:v>
                  </c:pt>
                  <c:pt idx="4">
                    <c:v>ECOSISTEMAS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58.1</c:v>
                </c:pt>
                <c:pt idx="1">
                  <c:v>39.5</c:v>
                </c:pt>
                <c:pt idx="2">
                  <c:v>11.6</c:v>
                </c:pt>
                <c:pt idx="3">
                  <c:v>6.3</c:v>
                </c:pt>
                <c:pt idx="4">
                  <c:v>0.1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850" u="none">
                  <a:solidFill>
                    <a:srgbClr val="1620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Antigüedad</c:v>
                </c:pt>
              </c:strCache>
            </c:strRef>
          </c:tx>
          <c:spPr>
            <a:solidFill>
              <a:srgbClr val="005F1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ECOSISTEMAS</c:v>
                  </c:pt>
                  <c:pt idx="1">
                    <c:v>TIENDAS</c:v>
                  </c:pt>
                  <c:pt idx="2">
                    <c:v>TIENDAS VIRTUALES</c:v>
                  </c:pt>
                  <c:pt idx="3">
                    <c:v>TLV</c:v>
                  </c:pt>
                  <c:pt idx="4">
                    <c:v>VENDORS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8.9</c:v>
                </c:pt>
                <c:pt idx="2">
                  <c:v>2.2</c:v>
                </c:pt>
                <c:pt idx="3">
                  <c:v>8.5</c:v>
                </c:pt>
                <c:pt idx="4">
                  <c:v>4.8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620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Créditos</c:v>
                </c:pt>
              </c:strCache>
            </c:strRef>
          </c:tx>
          <c:spPr>
            <a:solidFill>
              <a:srgbClr val="1F459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Impulso Mixto</c:v>
                  </c:pt>
                  <c:pt idx="1">
                    <c:v>Nuevo Aprobado</c:v>
                  </c:pt>
                  <c:pt idx="2">
                    <c:v>CDD APROBADO</c:v>
                  </c:pt>
                  <c:pt idx="3">
                    <c:v>GIRO DE LINEA</c:v>
                  </c:pt>
                  <c:pt idx="4">
                    <c:v>Ágil Recurrente CEM</c:v>
                  </c:pt>
                  <c:pt idx="5">
                    <c:v>Impulso Solo</c:v>
                  </c:pt>
                  <c:pt idx="6">
                    <c:v>Nuevo Aprobado Ágil</c:v>
                  </c:pt>
                  <c:pt idx="7">
                    <c:v>Nuevo pre Aprobado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178</c:v>
                </c:pt>
                <c:pt idx="1">
                  <c:v>172</c:v>
                </c:pt>
                <c:pt idx="2">
                  <c:v>157</c:v>
                </c:pt>
                <c:pt idx="3">
                  <c:v>148</c:v>
                </c:pt>
                <c:pt idx="4">
                  <c:v>127</c:v>
                </c:pt>
                <c:pt idx="5">
                  <c:v>116</c:v>
                </c:pt>
                <c:pt idx="6">
                  <c:v>93</c:v>
                </c:pt>
                <c:pt idx="7">
                  <c:v>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1620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Créditos</c:v>
                </c:pt>
              </c:strCache>
            </c:strRef>
          </c:tx>
          <c:spPr>
            <a:solidFill>
              <a:srgbClr val="1F459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≤0</c:v>
                  </c:pt>
                  <c:pt idx="1">
                    <c:v>1-3</c:v>
                  </c:pt>
                  <c:pt idx="2">
                    <c:v>4-6</c:v>
                  </c:pt>
                  <c:pt idx="3">
                    <c:v>7-12</c:v>
                  </c:pt>
                  <c:pt idx="4">
                    <c:v>13-18</c:v>
                  </c:pt>
                  <c:pt idx="5">
                    <c:v>19-24</c:v>
                  </c:pt>
                  <c:pt idx="6">
                    <c:v>&gt;24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76</c:v>
                </c:pt>
                <c:pt idx="1">
                  <c:v>302</c:v>
                </c:pt>
                <c:pt idx="2">
                  <c:v>278</c:v>
                </c:pt>
                <c:pt idx="3">
                  <c:v>320</c:v>
                </c:pt>
                <c:pt idx="4">
                  <c:v>242</c:v>
                </c:pt>
                <c:pt idx="5">
                  <c:v>93</c:v>
                </c:pt>
                <c:pt idx="6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620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Saldo (S/ MM)</c:v>
                </c:pt>
              </c:strCache>
            </c:strRef>
          </c:tx>
          <c:spPr>
            <a:solidFill>
              <a:srgbClr val="C4314B"/>
            </a:solidFill>
            <a:ln w="38100" cap="flat">
              <a:solidFill>
                <a:srgbClr val="C4314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4314B"/>
              </a:solidFill>
              <a:ln w="9525" cap="flat">
                <a:solidFill>
                  <a:srgbClr val="C4314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≤0</c:v>
                  </c:pt>
                  <c:pt idx="1">
                    <c:v>1-3</c:v>
                  </c:pt>
                  <c:pt idx="2">
                    <c:v>4-6</c:v>
                  </c:pt>
                  <c:pt idx="3">
                    <c:v>7-12</c:v>
                  </c:pt>
                  <c:pt idx="4">
                    <c:v>13-18</c:v>
                  </c:pt>
                  <c:pt idx="5">
                    <c:v>19-24</c:v>
                  </c:pt>
                  <c:pt idx="6">
                    <c:v>&gt;24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9.8</c:v>
                </c:pt>
                <c:pt idx="1">
                  <c:v>37.3</c:v>
                </c:pt>
                <c:pt idx="2">
                  <c:v>26.4</c:v>
                </c:pt>
                <c:pt idx="3">
                  <c:v>26.7</c:v>
                </c:pt>
                <c:pt idx="4">
                  <c:v>12.3</c:v>
                </c:pt>
                <c:pt idx="5">
                  <c:v>3</c:v>
                </c:pt>
                <c:pt idx="6">
                  <c:v>0.1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620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</c:scaling>
        <c:delete val="1"/>
        <c:axPos val="r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Créditos</c:v>
                </c:pt>
              </c:strCache>
            </c:strRef>
          </c:tx>
          <c:spPr>
            <a:solidFill>
              <a:srgbClr val="00BE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0
(nunca)</c:v>
                  </c:pt>
                  <c:pt idx="1">
                    <c:v>1-4 d</c:v>
                  </c:pt>
                  <c:pt idx="2">
                    <c:v>5-8 d</c:v>
                  </c:pt>
                  <c:pt idx="3">
                    <c:v>9-15 d</c:v>
                  </c:pt>
                  <c:pt idx="4">
                    <c:v>&gt;15 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230</c:v>
                </c:pt>
                <c:pt idx="1">
                  <c:v>571</c:v>
                </c:pt>
                <c:pt idx="2">
                  <c:v>115</c:v>
                </c:pt>
                <c:pt idx="3">
                  <c:v>42</c:v>
                </c:pt>
                <c:pt idx="4">
                  <c:v>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620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Créditos</c:v>
                </c:pt>
              </c:strCache>
            </c:strRef>
          </c:tx>
          <c:spPr>
            <a:solidFill>
              <a:srgbClr val="1F459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≤25k</c:v>
                  </c:pt>
                  <c:pt idx="1">
                    <c:v>25-50k</c:v>
                  </c:pt>
                  <c:pt idx="2">
                    <c:v>50-100k</c:v>
                  </c:pt>
                  <c:pt idx="3">
                    <c:v>100-200k</c:v>
                  </c:pt>
                  <c:pt idx="4">
                    <c:v>200-500k</c:v>
                  </c:pt>
                  <c:pt idx="5">
                    <c:v>&gt;500k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29</c:v>
                </c:pt>
                <c:pt idx="1">
                  <c:v>113</c:v>
                </c:pt>
                <c:pt idx="2">
                  <c:v>531</c:v>
                </c:pt>
                <c:pt idx="3">
                  <c:v>434</c:v>
                </c:pt>
                <c:pt idx="4">
                  <c:v>206</c:v>
                </c:pt>
                <c:pt idx="5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620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Saldo (S/ MM)</c:v>
                </c:pt>
              </c:strCache>
            </c:strRef>
          </c:tx>
          <c:spPr>
            <a:solidFill>
              <a:srgbClr val="C4314B"/>
            </a:solidFill>
            <a:ln w="38100" cap="flat">
              <a:solidFill>
                <a:srgbClr val="C4314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4314B"/>
              </a:solidFill>
              <a:ln w="9525" cap="flat">
                <a:solidFill>
                  <a:srgbClr val="C4314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≤25k</c:v>
                  </c:pt>
                  <c:pt idx="1">
                    <c:v>25-50k</c:v>
                  </c:pt>
                  <c:pt idx="2">
                    <c:v>50-100k</c:v>
                  </c:pt>
                  <c:pt idx="3">
                    <c:v>100-200k</c:v>
                  </c:pt>
                  <c:pt idx="4">
                    <c:v>200-500k</c:v>
                  </c:pt>
                  <c:pt idx="5">
                    <c:v>&gt;500k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0.4</c:v>
                </c:pt>
                <c:pt idx="1">
                  <c:v>2.9</c:v>
                </c:pt>
                <c:pt idx="2">
                  <c:v>26.2</c:v>
                </c:pt>
                <c:pt idx="3">
                  <c:v>42.7</c:v>
                </c:pt>
                <c:pt idx="4">
                  <c:v>39.4</c:v>
                </c:pt>
                <c:pt idx="5">
                  <c:v>3.9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620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</c:scaling>
        <c:delete val="1"/>
        <c:axPos val="r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Créditos</c:v>
                </c:pt>
              </c:strCache>
            </c:strRef>
          </c:tx>
          <c:spPr>
            <a:solidFill>
              <a:srgbClr val="1F459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&lt;14%</c:v>
                  </c:pt>
                  <c:pt idx="1">
                    <c:v>14-16%</c:v>
                  </c:pt>
                  <c:pt idx="2">
                    <c:v>16-18%</c:v>
                  </c:pt>
                  <c:pt idx="3">
                    <c:v>18-20%</c:v>
                  </c:pt>
                  <c:pt idx="4">
                    <c:v>20-25%</c:v>
                  </c:pt>
                  <c:pt idx="5">
                    <c:v>≥25%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62</c:v>
                </c:pt>
                <c:pt idx="1">
                  <c:v>384</c:v>
                </c:pt>
                <c:pt idx="2">
                  <c:v>345</c:v>
                </c:pt>
                <c:pt idx="3">
                  <c:v>291</c:v>
                </c:pt>
                <c:pt idx="4">
                  <c:v>208</c:v>
                </c:pt>
                <c:pt idx="5">
                  <c:v>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620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Saldo (S/ MM)</c:v>
                </c:pt>
              </c:strCache>
            </c:strRef>
          </c:tx>
          <c:spPr>
            <a:solidFill>
              <a:srgbClr val="C4314B"/>
            </a:solidFill>
            <a:ln w="38100" cap="flat">
              <a:solidFill>
                <a:srgbClr val="C4314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4314B"/>
              </a:solidFill>
              <a:ln w="9525" cap="flat">
                <a:solidFill>
                  <a:srgbClr val="C4314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&lt;14%</c:v>
                  </c:pt>
                  <c:pt idx="1">
                    <c:v>14-16%</c:v>
                  </c:pt>
                  <c:pt idx="2">
                    <c:v>16-18%</c:v>
                  </c:pt>
                  <c:pt idx="3">
                    <c:v>18-20%</c:v>
                  </c:pt>
                  <c:pt idx="4">
                    <c:v>20-25%</c:v>
                  </c:pt>
                  <c:pt idx="5">
                    <c:v>≥25%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12.7</c:v>
                </c:pt>
                <c:pt idx="1">
                  <c:v>29.2</c:v>
                </c:pt>
                <c:pt idx="2">
                  <c:v>38.8</c:v>
                </c:pt>
                <c:pt idx="3">
                  <c:v>23</c:v>
                </c:pt>
                <c:pt idx="4">
                  <c:v>10.8</c:v>
                </c:pt>
                <c:pt idx="5">
                  <c:v>1.2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620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</c:scaling>
        <c:delete val="1"/>
        <c:axPos val="r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en funnel</c:v>
                </c:pt>
              </c:strCache>
            </c:strRef>
          </c:tx>
          <c:spPr>
            <a:solidFill>
              <a:srgbClr val="1F4592"/>
            </a:solidFill>
            <a:ln w="38100" cap="flat">
              <a:solidFill>
                <a:srgbClr val="1F4592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4592"/>
              </a:solidFill>
              <a:ln w="9525" cap="flat">
                <a:solidFill>
                  <a:srgbClr val="1F459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54.4</c:v>
                </c:pt>
                <c:pt idx="1">
                  <c:v>48.2</c:v>
                </c:pt>
                <c:pt idx="2">
                  <c:v>40.4</c:v>
                </c:pt>
                <c:pt idx="3">
                  <c:v>60.6</c:v>
                </c:pt>
                <c:pt idx="4">
                  <c:v>59.5</c:v>
                </c:pt>
                <c:pt idx="5">
                  <c:v>64.4</c:v>
                </c:pt>
                <c:pt idx="6">
                  <c:v>72.7</c:v>
                </c:pt>
                <c:pt idx="7">
                  <c:v>69.2</c:v>
                </c:pt>
                <c:pt idx="8">
                  <c:v>77.3</c:v>
                </c:pt>
                <c:pt idx="9">
                  <c:v>85.1</c:v>
                </c:pt>
                <c:pt idx="10">
                  <c:v>88.2</c:v>
                </c:pt>
                <c:pt idx="11">
                  <c:v>80.8</c:v>
                </c:pt>
                <c:pt idx="12">
                  <c:v>82.8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% gestionado</c:v>
                </c:pt>
              </c:strCache>
            </c:strRef>
          </c:tx>
          <c:spPr>
            <a:solidFill>
              <a:srgbClr val="C4314B"/>
            </a:solidFill>
            <a:ln w="38100" cap="flat">
              <a:solidFill>
                <a:srgbClr val="C4314B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4314B"/>
              </a:solidFill>
              <a:ln w="9525" cap="flat">
                <a:solidFill>
                  <a:srgbClr val="C4314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38.7</c:v>
                </c:pt>
                <c:pt idx="1">
                  <c:v>44.4</c:v>
                </c:pt>
                <c:pt idx="2">
                  <c:v>34.8</c:v>
                </c:pt>
                <c:pt idx="3">
                  <c:v>23.3</c:v>
                </c:pt>
                <c:pt idx="4">
                  <c:v>36</c:v>
                </c:pt>
                <c:pt idx="5">
                  <c:v>43.1</c:v>
                </c:pt>
                <c:pt idx="6">
                  <c:v>38.9</c:v>
                </c:pt>
                <c:pt idx="7">
                  <c:v>43.6</c:v>
                </c:pt>
                <c:pt idx="8">
                  <c:v>47.7</c:v>
                </c:pt>
                <c:pt idx="9">
                  <c:v>43.7</c:v>
                </c:pt>
                <c:pt idx="10">
                  <c:v>42.9</c:v>
                </c:pt>
                <c:pt idx="11">
                  <c:v>55.1</c:v>
                </c:pt>
                <c:pt idx="12">
                  <c:v>42.4</c:v>
                </c:pt>
              </c:numCache>
            </c:numRef>
          </c:val>
          <c:smooth val="1"/>
        </c:ser>
        <c:dLbls>
          <c:numFmt formatCode="0" sourceLinked="0"/>
          <c:txPr>
            <a:bodyPr/>
            <a:lstStyle/>
            <a:p>
              <a:pPr>
                <a:defRPr b="0" i="0" strike="noStrike" sz="750" u="none">
                  <a:solidFill>
                    <a:srgbClr val="16203A"/>
                  </a:solidFill>
                  <a:latin typeface="Poppins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Clientes</c:v>
                </c:pt>
              </c:strCache>
            </c:strRef>
          </c:tx>
          <c:spPr>
            <a:solidFill>
              <a:srgbClr val="1F459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Fugados</c:v>
                  </c:pt>
                  <c:pt idx="1">
                    <c:v>En funnel</c:v>
                  </c:pt>
                  <c:pt idx="2">
                    <c:v>Carterizados</c:v>
                  </c:pt>
                  <c:pt idx="3">
                    <c:v>Gestionados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1357</c:v>
                </c:pt>
                <c:pt idx="1">
                  <c:v>979</c:v>
                </c:pt>
                <c:pt idx="2">
                  <c:v>736</c:v>
                </c:pt>
                <c:pt idx="3">
                  <c:v>423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620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Prioridad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4592"/>
              </a:solidFill>
              <a:effectLst/>
            </c:spPr>
          </c:dPt>
          <c:dPt>
            <c:idx val="1"/>
            <c:bubble3D val="0"/>
            <c:spPr>
              <a:solidFill>
                <a:srgbClr val="00BE50"/>
              </a:solidFill>
              <a:effectLst/>
            </c:spPr>
          </c:dPt>
          <c:dPt>
            <c:idx val="2"/>
            <c:bubble3D val="0"/>
            <c:spPr>
              <a:solidFill>
                <a:srgbClr val="005F1E"/>
              </a:solidFill>
              <a:effectLst/>
            </c:spPr>
          </c:dPt>
          <c:dPt>
            <c:idx val="3"/>
            <c:bubble3D val="0"/>
            <c:spPr>
              <a:solidFill>
                <a:srgbClr val="5B8DEF"/>
              </a:solidFill>
              <a:effectLst/>
            </c:spPr>
          </c:dPt>
          <c:dPt>
            <c:idx val="4"/>
            <c:bubble3D val="0"/>
            <c:spPr>
              <a:solidFill>
                <a:srgbClr val="A0AEC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Poppi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Poppi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Poppi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Poppi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Poppi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P1</c:v>
                </c:pt>
                <c:pt idx="1">
                  <c:v>P2</c:v>
                </c:pt>
                <c:pt idx="2">
                  <c:v>P5</c:v>
                </c:pt>
                <c:pt idx="3">
                  <c:v>P3</c:v>
                </c:pt>
                <c:pt idx="4">
                  <c:v>P4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768</c:v>
                </c:pt>
                <c:pt idx="1">
                  <c:v>107</c:v>
                </c:pt>
                <c:pt idx="2">
                  <c:v>88</c:v>
                </c:pt>
                <c:pt idx="3">
                  <c:v>14</c:v>
                </c:pt>
                <c:pt idx="4">
                  <c:v>2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Canal funnel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4592"/>
              </a:solidFill>
              <a:effectLst/>
            </c:spPr>
          </c:dPt>
          <c:dPt>
            <c:idx val="1"/>
            <c:bubble3D val="0"/>
            <c:spPr>
              <a:solidFill>
                <a:srgbClr val="00BE50"/>
              </a:solidFill>
              <a:effectLst/>
            </c:spPr>
          </c:dPt>
          <c:dPt>
            <c:idx val="2"/>
            <c:bubble3D val="0"/>
            <c:spPr>
              <a:solidFill>
                <a:srgbClr val="005F1E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Poppi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Poppi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Poppi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Tiendas</c:v>
                </c:pt>
                <c:pt idx="1">
                  <c:v>Tiendas Virtuales</c:v>
                </c:pt>
                <c:pt idx="2">
                  <c:v>Televentas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625</c:v>
                </c:pt>
                <c:pt idx="1">
                  <c:v>309</c:v>
                </c:pt>
                <c:pt idx="2">
                  <c:v>45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Créditos</c:v>
                </c:pt>
              </c:strCache>
            </c:strRef>
          </c:tx>
          <c:spPr>
            <a:solidFill>
              <a:srgbClr val="005F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Bolivar Chapilliquen</c:v>
                  </c:pt>
                  <c:pt idx="1">
                    <c:v>Figueroa Gastello</c:v>
                  </c:pt>
                  <c:pt idx="2">
                    <c:v>Nuñez Amado</c:v>
                  </c:pt>
                  <c:pt idx="3">
                    <c:v>Galvez Vela</c:v>
                  </c:pt>
                  <c:pt idx="4">
                    <c:v>Macedo Masias</c:v>
                  </c:pt>
                  <c:pt idx="5">
                    <c:v>Torres Rimapa</c:v>
                  </c:pt>
                  <c:pt idx="6">
                    <c:v>Carmona Farfan</c:v>
                  </c:pt>
                  <c:pt idx="7">
                    <c:v>Quispe Ledesma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36</c:v>
                </c:pt>
                <c:pt idx="1">
                  <c:v>30</c:v>
                </c:pt>
                <c:pt idx="2">
                  <c:v>26</c:v>
                </c:pt>
                <c:pt idx="3">
                  <c:v>21</c:v>
                </c:pt>
                <c:pt idx="4">
                  <c:v>21</c:v>
                </c:pt>
                <c:pt idx="5">
                  <c:v>21</c:v>
                </c:pt>
                <c:pt idx="6">
                  <c:v>20</c:v>
                </c:pt>
                <c:pt idx="7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1620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Créditos</c:v>
                </c:pt>
              </c:strCache>
            </c:strRef>
          </c:tx>
          <c:spPr>
            <a:solidFill>
              <a:srgbClr val="1F459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Pecho Llacta</c:v>
                  </c:pt>
                  <c:pt idx="1">
                    <c:v>Palpa Ramos Luis Carlos</c:v>
                  </c:pt>
                  <c:pt idx="2">
                    <c:v>Loayza Rivas</c:v>
                  </c:pt>
                  <c:pt idx="3">
                    <c:v>Caceda Vertiz</c:v>
                  </c:pt>
                  <c:pt idx="4">
                    <c:v>Ugaz Vasquez Maria Susana</c:v>
                  </c:pt>
                  <c:pt idx="5">
                    <c:v>Casimiro Fernandez Edith Doris</c:v>
                  </c:pt>
                  <c:pt idx="6">
                    <c:v>Roca Ramos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171</c:v>
                </c:pt>
                <c:pt idx="1">
                  <c:v>123</c:v>
                </c:pt>
                <c:pt idx="2">
                  <c:v>110</c:v>
                </c:pt>
                <c:pt idx="3">
                  <c:v>108</c:v>
                </c:pt>
                <c:pt idx="4">
                  <c:v>108</c:v>
                </c:pt>
                <c:pt idx="5">
                  <c:v>89</c:v>
                </c:pt>
                <c:pt idx="6">
                  <c:v>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1620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Créditos</c:v>
                </c:pt>
              </c:strCache>
            </c:strRef>
          </c:tx>
          <c:spPr>
            <a:solidFill>
              <a:srgbClr val="1F459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Otras (13 campañas)</c:v>
                  </c:pt>
                  <c:pt idx="1">
                    <c:v>Garantias</c:v>
                  </c:pt>
                  <c:pt idx="2">
                    <c:v>SIN CAMPAÑA</c:v>
                  </c:pt>
                  <c:pt idx="3">
                    <c:v>Giro de Línea</c:v>
                  </c:pt>
                  <c:pt idx="4">
                    <c:v>Recurrente Aprobado CD</c:v>
                  </c:pt>
                  <c:pt idx="5">
                    <c:v>Oportunidad Garantías</c:v>
                  </c:pt>
                  <c:pt idx="6">
                    <c:v>Recurrente Agil Estacional</c:v>
                  </c:pt>
                  <c:pt idx="7">
                    <c:v>Recurrente Ágil CEM</c:v>
                  </c:pt>
                  <c:pt idx="8">
                    <c:v>Gestion Cartera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74</c:v>
                </c:pt>
                <c:pt idx="1">
                  <c:v>11</c:v>
                </c:pt>
                <c:pt idx="2">
                  <c:v>20</c:v>
                </c:pt>
                <c:pt idx="3">
                  <c:v>22</c:v>
                </c:pt>
                <c:pt idx="4">
                  <c:v>39</c:v>
                </c:pt>
                <c:pt idx="5">
                  <c:v>49</c:v>
                </c:pt>
                <c:pt idx="6">
                  <c:v>73</c:v>
                </c:pt>
                <c:pt idx="7">
                  <c:v>301</c:v>
                </c:pt>
                <c:pt idx="8">
                  <c:v>390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1620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gestionado</c:v>
                </c:pt>
              </c:strCache>
            </c:strRef>
          </c:tx>
          <c:spPr>
            <a:solidFill>
              <a:srgbClr val="C431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Otras (13 campañas)</c:v>
                  </c:pt>
                  <c:pt idx="1">
                    <c:v>Garantias</c:v>
                  </c:pt>
                  <c:pt idx="2">
                    <c:v>SIN CAMPAÑA</c:v>
                  </c:pt>
                  <c:pt idx="3">
                    <c:v>Giro de Línea</c:v>
                  </c:pt>
                  <c:pt idx="4">
                    <c:v>Recurrente Aprobado CD</c:v>
                  </c:pt>
                  <c:pt idx="5">
                    <c:v>Oportunidad Garantías</c:v>
                  </c:pt>
                  <c:pt idx="6">
                    <c:v>Recurrente Agil Estacional</c:v>
                  </c:pt>
                  <c:pt idx="7">
                    <c:v>Recurrente Ágil CEM</c:v>
                  </c:pt>
                  <c:pt idx="8">
                    <c:v>Gestion Cartera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73</c:v>
                </c:pt>
                <c:pt idx="1">
                  <c:v>0</c:v>
                </c:pt>
                <c:pt idx="2">
                  <c:v>95</c:v>
                </c:pt>
                <c:pt idx="3">
                  <c:v>100</c:v>
                </c:pt>
                <c:pt idx="4">
                  <c:v>64</c:v>
                </c:pt>
                <c:pt idx="5">
                  <c:v>31</c:v>
                </c:pt>
                <c:pt idx="6">
                  <c:v>45</c:v>
                </c:pt>
                <c:pt idx="7">
                  <c:v>69</c:v>
                </c:pt>
                <c:pt idx="8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1620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Gestión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BE50"/>
              </a:solidFill>
              <a:effectLst/>
            </c:spPr>
          </c:dPt>
          <c:dPt>
            <c:idx val="1"/>
            <c:bubble3D val="0"/>
            <c:spPr>
              <a:solidFill>
                <a:srgbClr val="C4314B"/>
              </a:solidFill>
              <a:effectLst/>
            </c:spPr>
          </c:dPt>
          <c:dPt>
            <c:idx val="2"/>
            <c:bubble3D val="0"/>
            <c:spPr>
              <a:solidFill>
                <a:srgbClr val="A0AEC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Poppi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Poppi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Poppi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En funnel · gestionado</c:v>
                </c:pt>
                <c:pt idx="1">
                  <c:v>En funnel · no gestionado</c:v>
                </c:pt>
                <c:pt idx="2">
                  <c:v>Fuera de funnel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423</c:v>
                </c:pt>
                <c:pt idx="1">
                  <c:v>556</c:v>
                </c:pt>
                <c:pt idx="2">
                  <c:v>378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TIENDAS</c:v>
                </c:pt>
              </c:strCache>
            </c:strRef>
          </c:tx>
          <c:spPr>
            <a:solidFill>
              <a:srgbClr val="1F459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35</c:v>
                </c:pt>
                <c:pt idx="1">
                  <c:v>24</c:v>
                </c:pt>
                <c:pt idx="2">
                  <c:v>24</c:v>
                </c:pt>
                <c:pt idx="3">
                  <c:v>29</c:v>
                </c:pt>
                <c:pt idx="4">
                  <c:v>35</c:v>
                </c:pt>
                <c:pt idx="5">
                  <c:v>45</c:v>
                </c:pt>
                <c:pt idx="6">
                  <c:v>36</c:v>
                </c:pt>
                <c:pt idx="7">
                  <c:v>54</c:v>
                </c:pt>
                <c:pt idx="8">
                  <c:v>54</c:v>
                </c:pt>
                <c:pt idx="9">
                  <c:v>38</c:v>
                </c:pt>
                <c:pt idx="10">
                  <c:v>46</c:v>
                </c:pt>
                <c:pt idx="11">
                  <c:v>68</c:v>
                </c:pt>
                <c:pt idx="12">
                  <c:v>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TLV</c:v>
                </c:pt>
              </c:strCache>
            </c:strRef>
          </c:tx>
          <c:spPr>
            <a:solidFill>
              <a:srgbClr val="00BE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18</c:v>
                </c:pt>
                <c:pt idx="1">
                  <c:v>22</c:v>
                </c:pt>
                <c:pt idx="2">
                  <c:v>25</c:v>
                </c:pt>
                <c:pt idx="3">
                  <c:v>33</c:v>
                </c:pt>
                <c:pt idx="4">
                  <c:v>37</c:v>
                </c:pt>
                <c:pt idx="5">
                  <c:v>45</c:v>
                </c:pt>
                <c:pt idx="6">
                  <c:v>54</c:v>
                </c:pt>
                <c:pt idx="7">
                  <c:v>66</c:v>
                </c:pt>
                <c:pt idx="8">
                  <c:v>67</c:v>
                </c:pt>
                <c:pt idx="9">
                  <c:v>59</c:v>
                </c:pt>
                <c:pt idx="10">
                  <c:v>62</c:v>
                </c:pt>
                <c:pt idx="11">
                  <c:v>57</c:v>
                </c:pt>
                <c:pt idx="12">
                  <c:v>67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TIENDAS VIRTUALES</c:v>
                </c:pt>
              </c:strCache>
            </c:strRef>
          </c:tx>
          <c:spPr>
            <a:solidFill>
              <a:srgbClr val="005F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4</c:v>
                </c:pt>
                <c:pt idx="5">
                  <c:v>3</c:v>
                </c:pt>
                <c:pt idx="6">
                  <c:v>3</c:v>
                </c:pt>
                <c:pt idx="7">
                  <c:v>6</c:v>
                </c:pt>
                <c:pt idx="8">
                  <c:v>7</c:v>
                </c:pt>
                <c:pt idx="9">
                  <c:v>6</c:v>
                </c:pt>
                <c:pt idx="10">
                  <c:v>9</c:v>
                </c:pt>
                <c:pt idx="11">
                  <c:v>10</c:v>
                </c:pt>
                <c:pt idx="12">
                  <c:v>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VENDORS</c:v>
                </c:pt>
              </c:strCache>
            </c:strRef>
          </c:tx>
          <c:spPr>
            <a:solidFill>
              <a:srgbClr val="5B8DE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Sheet1!$E$2:$E$14</c:f>
              <c:numCache>
                <c:formatCode>General</c:formatCode>
                <c:ptCount val="13"/>
                <c:pt idx="0">
                  <c:v>0</c:v>
                </c:pt>
                <c:pt idx="1">
                  <c:v>6</c:v>
                </c:pt>
                <c:pt idx="2">
                  <c:v>3</c:v>
                </c:pt>
                <c:pt idx="3">
                  <c:v>6</c:v>
                </c:pt>
                <c:pt idx="4">
                  <c:v>3</c:v>
                </c:pt>
                <c:pt idx="5">
                  <c:v>5</c:v>
                </c:pt>
                <c:pt idx="6">
                  <c:v>4</c:v>
                </c:pt>
                <c:pt idx="7">
                  <c:v>12</c:v>
                </c:pt>
                <c:pt idx="8">
                  <c:v>10</c:v>
                </c:pt>
                <c:pt idx="9">
                  <c:v>18</c:v>
                </c:pt>
                <c:pt idx="10">
                  <c:v>10</c:v>
                </c:pt>
                <c:pt idx="11">
                  <c:v>11</c:v>
                </c:pt>
                <c:pt idx="12">
                  <c:v>13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ECOSISTEMAS</c:v>
                </c:pt>
              </c:strCache>
            </c:strRef>
          </c:tx>
          <c:spPr>
            <a:solidFill>
              <a:srgbClr val="A0AE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Sheet1!$F$2:$F$14</c:f>
              <c:numCache>
                <c:formatCode>General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650" u="none">
                  <a:solidFill>
                    <a:srgbClr val="FFFFFF"/>
                  </a:solidFill>
                  <a:latin typeface="Poppins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TIENDAS</c:v>
                </c:pt>
              </c:strCache>
            </c:strRef>
          </c:tx>
          <c:spPr>
            <a:solidFill>
              <a:srgbClr val="1F459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3.42</c:v>
                </c:pt>
                <c:pt idx="1">
                  <c:v>2.43</c:v>
                </c:pt>
                <c:pt idx="2">
                  <c:v>1.94</c:v>
                </c:pt>
                <c:pt idx="3">
                  <c:v>3.03</c:v>
                </c:pt>
                <c:pt idx="4">
                  <c:v>3.65</c:v>
                </c:pt>
                <c:pt idx="5">
                  <c:v>5.45</c:v>
                </c:pt>
                <c:pt idx="6">
                  <c:v>3.12</c:v>
                </c:pt>
                <c:pt idx="7">
                  <c:v>6.66</c:v>
                </c:pt>
                <c:pt idx="8">
                  <c:v>5.04</c:v>
                </c:pt>
                <c:pt idx="9">
                  <c:v>3.58</c:v>
                </c:pt>
                <c:pt idx="10">
                  <c:v>5.53</c:v>
                </c:pt>
                <c:pt idx="11">
                  <c:v>6.27</c:v>
                </c:pt>
                <c:pt idx="12">
                  <c:v>7.96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TLV</c:v>
                </c:pt>
              </c:strCache>
            </c:strRef>
          </c:tx>
          <c:spPr>
            <a:solidFill>
              <a:srgbClr val="00BE5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0.68</c:v>
                </c:pt>
                <c:pt idx="1">
                  <c:v>1.2</c:v>
                </c:pt>
                <c:pt idx="2">
                  <c:v>1.88</c:v>
                </c:pt>
                <c:pt idx="3">
                  <c:v>1.96</c:v>
                </c:pt>
                <c:pt idx="4">
                  <c:v>2.35</c:v>
                </c:pt>
                <c:pt idx="5">
                  <c:v>3.47</c:v>
                </c:pt>
                <c:pt idx="6">
                  <c:v>4.13</c:v>
                </c:pt>
                <c:pt idx="7">
                  <c:v>3.82</c:v>
                </c:pt>
                <c:pt idx="8">
                  <c:v>5</c:v>
                </c:pt>
                <c:pt idx="9">
                  <c:v>4.12</c:v>
                </c:pt>
                <c:pt idx="10">
                  <c:v>3.39</c:v>
                </c:pt>
                <c:pt idx="11">
                  <c:v>3.47</c:v>
                </c:pt>
                <c:pt idx="12">
                  <c:v>4.04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TIENDAS VIRTUALES</c:v>
                </c:pt>
              </c:strCache>
            </c:strRef>
          </c:tx>
          <c:spPr>
            <a:solidFill>
              <a:srgbClr val="005F1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0.45</c:v>
                </c:pt>
                <c:pt idx="5">
                  <c:v>0.24</c:v>
                </c:pt>
                <c:pt idx="6">
                  <c:v>0.23</c:v>
                </c:pt>
                <c:pt idx="7">
                  <c:v>0.94</c:v>
                </c:pt>
                <c:pt idx="8">
                  <c:v>1.38</c:v>
                </c:pt>
                <c:pt idx="9">
                  <c:v>0.85</c:v>
                </c:pt>
                <c:pt idx="10">
                  <c:v>0.84</c:v>
                </c:pt>
                <c:pt idx="11">
                  <c:v>0.97</c:v>
                </c:pt>
                <c:pt idx="12">
                  <c:v>0.45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VENDORS</c:v>
                </c:pt>
              </c:strCache>
            </c:strRef>
          </c:tx>
          <c:spPr>
            <a:solidFill>
              <a:srgbClr val="5B8DE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Sheet1!$E$2:$E$14</c:f>
              <c:numCache>
                <c:formatCode>General</c:formatCode>
                <c:ptCount val="13"/>
                <c:pt idx="0">
                  <c:v>0</c:v>
                </c:pt>
                <c:pt idx="1">
                  <c:v>0.47</c:v>
                </c:pt>
                <c:pt idx="2">
                  <c:v>0.35</c:v>
                </c:pt>
                <c:pt idx="3">
                  <c:v>0.75</c:v>
                </c:pt>
                <c:pt idx="4">
                  <c:v>0.22</c:v>
                </c:pt>
                <c:pt idx="5">
                  <c:v>0.3</c:v>
                </c:pt>
                <c:pt idx="6">
                  <c:v>0.27</c:v>
                </c:pt>
                <c:pt idx="7">
                  <c:v>1.26</c:v>
                </c:pt>
                <c:pt idx="8">
                  <c:v>0.92</c:v>
                </c:pt>
                <c:pt idx="9">
                  <c:v>2.99</c:v>
                </c:pt>
                <c:pt idx="10">
                  <c:v>1.31</c:v>
                </c:pt>
                <c:pt idx="11">
                  <c:v>1.17</c:v>
                </c:pt>
                <c:pt idx="12">
                  <c:v>1.57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ECOSISTEMAS</c:v>
                </c:pt>
              </c:strCache>
            </c:strRef>
          </c:tx>
          <c:spPr>
            <a:solidFill>
              <a:srgbClr val="A0AEC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Sheet1!$F$2:$F$14</c:f>
              <c:numCache>
                <c:formatCode>General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0.11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650" u="none">
                  <a:solidFill>
                    <a:srgbClr val="FFFFFF"/>
                  </a:solidFill>
                  <a:latin typeface="Poppins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≤25k</c:v>
                </c:pt>
              </c:strCache>
            </c:strRef>
          </c:tx>
          <c:spPr>
            <a:solidFill>
              <a:srgbClr val="A0AE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  <c:pt idx="4">
                  <c:v>0</c:v>
                </c:pt>
                <c:pt idx="5">
                  <c:v>4</c:v>
                </c:pt>
                <c:pt idx="6">
                  <c:v>3</c:v>
                </c:pt>
                <c:pt idx="7">
                  <c:v>6</c:v>
                </c:pt>
                <c:pt idx="8">
                  <c:v>0</c:v>
                </c:pt>
                <c:pt idx="9">
                  <c:v>1</c:v>
                </c:pt>
                <c:pt idx="10">
                  <c:v>3</c:v>
                </c:pt>
                <c:pt idx="11">
                  <c:v>1</c:v>
                </c:pt>
                <c:pt idx="12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25-50k</c:v>
                </c:pt>
              </c:strCache>
            </c:strRef>
          </c:tx>
          <c:spPr>
            <a:solidFill>
              <a:srgbClr val="5B8DE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9</c:v>
                </c:pt>
                <c:pt idx="1">
                  <c:v>6</c:v>
                </c:pt>
                <c:pt idx="2">
                  <c:v>2</c:v>
                </c:pt>
                <c:pt idx="3">
                  <c:v>14</c:v>
                </c:pt>
                <c:pt idx="4">
                  <c:v>7</c:v>
                </c:pt>
                <c:pt idx="5">
                  <c:v>6</c:v>
                </c:pt>
                <c:pt idx="6">
                  <c:v>9</c:v>
                </c:pt>
                <c:pt idx="7">
                  <c:v>5</c:v>
                </c:pt>
                <c:pt idx="8">
                  <c:v>9</c:v>
                </c:pt>
                <c:pt idx="9">
                  <c:v>12</c:v>
                </c:pt>
                <c:pt idx="10">
                  <c:v>14</c:v>
                </c:pt>
                <c:pt idx="11">
                  <c:v>14</c:v>
                </c:pt>
                <c:pt idx="12">
                  <c:v>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50-100k</c:v>
                </c:pt>
              </c:strCache>
            </c:strRef>
          </c:tx>
          <c:spPr>
            <a:solidFill>
              <a:srgbClr val="1F459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22</c:v>
                </c:pt>
                <c:pt idx="1">
                  <c:v>20</c:v>
                </c:pt>
                <c:pt idx="2">
                  <c:v>25</c:v>
                </c:pt>
                <c:pt idx="3">
                  <c:v>24</c:v>
                </c:pt>
                <c:pt idx="4">
                  <c:v>33</c:v>
                </c:pt>
                <c:pt idx="5">
                  <c:v>37</c:v>
                </c:pt>
                <c:pt idx="6">
                  <c:v>46</c:v>
                </c:pt>
                <c:pt idx="7">
                  <c:v>60</c:v>
                </c:pt>
                <c:pt idx="8">
                  <c:v>55</c:v>
                </c:pt>
                <c:pt idx="9">
                  <c:v>44</c:v>
                </c:pt>
                <c:pt idx="10">
                  <c:v>53</c:v>
                </c:pt>
                <c:pt idx="11">
                  <c:v>56</c:v>
                </c:pt>
                <c:pt idx="12">
                  <c:v>56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100-200k</c:v>
                </c:pt>
              </c:strCache>
            </c:strRef>
          </c:tx>
          <c:spPr>
            <a:solidFill>
              <a:srgbClr val="005F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Sheet1!$E$2:$E$14</c:f>
              <c:numCache>
                <c:formatCode>General</c:formatCode>
                <c:ptCount val="13"/>
                <c:pt idx="0">
                  <c:v>13</c:v>
                </c:pt>
                <c:pt idx="1">
                  <c:v>21</c:v>
                </c:pt>
                <c:pt idx="2">
                  <c:v>18</c:v>
                </c:pt>
                <c:pt idx="3">
                  <c:v>21</c:v>
                </c:pt>
                <c:pt idx="4">
                  <c:v>24</c:v>
                </c:pt>
                <c:pt idx="5">
                  <c:v>30</c:v>
                </c:pt>
                <c:pt idx="6">
                  <c:v>28</c:v>
                </c:pt>
                <c:pt idx="7">
                  <c:v>44</c:v>
                </c:pt>
                <c:pt idx="8">
                  <c:v>54</c:v>
                </c:pt>
                <c:pt idx="9">
                  <c:v>49</c:v>
                </c:pt>
                <c:pt idx="10">
                  <c:v>34</c:v>
                </c:pt>
                <c:pt idx="11">
                  <c:v>45</c:v>
                </c:pt>
                <c:pt idx="12">
                  <c:v>53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200-500k</c:v>
                </c:pt>
              </c:strCache>
            </c:strRef>
          </c:tx>
          <c:spPr>
            <a:solidFill>
              <a:srgbClr val="00BE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Sheet1!$F$2:$F$14</c:f>
              <c:numCache>
                <c:formatCode>General</c:formatCode>
                <c:ptCount val="13"/>
                <c:pt idx="0">
                  <c:v>4</c:v>
                </c:pt>
                <c:pt idx="1">
                  <c:v>3</c:v>
                </c:pt>
                <c:pt idx="2">
                  <c:v>5</c:v>
                </c:pt>
                <c:pt idx="3">
                  <c:v>8</c:v>
                </c:pt>
                <c:pt idx="4">
                  <c:v>15</c:v>
                </c:pt>
                <c:pt idx="5">
                  <c:v>21</c:v>
                </c:pt>
                <c:pt idx="6">
                  <c:v>11</c:v>
                </c:pt>
                <c:pt idx="7">
                  <c:v>23</c:v>
                </c:pt>
                <c:pt idx="8">
                  <c:v>19</c:v>
                </c:pt>
                <c:pt idx="9">
                  <c:v>14</c:v>
                </c:pt>
                <c:pt idx="10">
                  <c:v>22</c:v>
                </c:pt>
                <c:pt idx="11">
                  <c:v>30</c:v>
                </c:pt>
                <c:pt idx="12">
                  <c:v>31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&gt;500k</c:v>
                </c:pt>
              </c:strCache>
            </c:strRef>
          </c:tx>
          <c:spPr>
            <a:solidFill>
              <a:srgbClr val="7ED9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Sheet1!$G$2:$G$14</c:f>
              <c:numCache>
                <c:formatCode>General</c:formatCode>
                <c:ptCount val="13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0</c:v>
                </c:pt>
                <c:pt idx="1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650" u="none">
                  <a:solidFill>
                    <a:srgbClr val="FFFFFF"/>
                  </a:solidFill>
                  <a:latin typeface="Poppins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&lt;14%</c:v>
                </c:pt>
              </c:strCache>
            </c:strRef>
          </c:tx>
          <c:spPr>
            <a:solidFill>
              <a:srgbClr val="A0AE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3</c:v>
                </c:pt>
                <c:pt idx="1">
                  <c:v>1</c:v>
                </c:pt>
                <c:pt idx="2">
                  <c:v>1</c:v>
                </c:pt>
                <c:pt idx="3">
                  <c:v>4</c:v>
                </c:pt>
                <c:pt idx="4">
                  <c:v>4</c:v>
                </c:pt>
                <c:pt idx="5">
                  <c:v>6</c:v>
                </c:pt>
                <c:pt idx="6">
                  <c:v>5</c:v>
                </c:pt>
                <c:pt idx="7">
                  <c:v>9</c:v>
                </c:pt>
                <c:pt idx="8">
                  <c:v>4</c:v>
                </c:pt>
                <c:pt idx="9">
                  <c:v>6</c:v>
                </c:pt>
                <c:pt idx="10">
                  <c:v>6</c:v>
                </c:pt>
                <c:pt idx="11">
                  <c:v>6</c:v>
                </c:pt>
                <c:pt idx="12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14-16%</c:v>
                </c:pt>
              </c:strCache>
            </c:strRef>
          </c:tx>
          <c:spPr>
            <a:solidFill>
              <a:srgbClr val="5B8DE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16</c:v>
                </c:pt>
                <c:pt idx="1">
                  <c:v>13</c:v>
                </c:pt>
                <c:pt idx="2">
                  <c:v>21</c:v>
                </c:pt>
                <c:pt idx="3">
                  <c:v>14</c:v>
                </c:pt>
                <c:pt idx="4">
                  <c:v>18</c:v>
                </c:pt>
                <c:pt idx="5">
                  <c:v>29</c:v>
                </c:pt>
                <c:pt idx="6">
                  <c:v>36</c:v>
                </c:pt>
                <c:pt idx="7">
                  <c:v>43</c:v>
                </c:pt>
                <c:pt idx="8">
                  <c:v>45</c:v>
                </c:pt>
                <c:pt idx="9">
                  <c:v>27</c:v>
                </c:pt>
                <c:pt idx="10">
                  <c:v>40</c:v>
                </c:pt>
                <c:pt idx="11">
                  <c:v>37</c:v>
                </c:pt>
                <c:pt idx="12">
                  <c:v>45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16-18%</c:v>
                </c:pt>
              </c:strCache>
            </c:strRef>
          </c:tx>
          <c:spPr>
            <a:solidFill>
              <a:srgbClr val="1F459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10</c:v>
                </c:pt>
                <c:pt idx="1">
                  <c:v>7</c:v>
                </c:pt>
                <c:pt idx="2">
                  <c:v>10</c:v>
                </c:pt>
                <c:pt idx="3">
                  <c:v>16</c:v>
                </c:pt>
                <c:pt idx="4">
                  <c:v>15</c:v>
                </c:pt>
                <c:pt idx="5">
                  <c:v>25</c:v>
                </c:pt>
                <c:pt idx="6">
                  <c:v>24</c:v>
                </c:pt>
                <c:pt idx="7">
                  <c:v>33</c:v>
                </c:pt>
                <c:pt idx="8">
                  <c:v>40</c:v>
                </c:pt>
                <c:pt idx="9">
                  <c:v>35</c:v>
                </c:pt>
                <c:pt idx="10">
                  <c:v>30</c:v>
                </c:pt>
                <c:pt idx="11">
                  <c:v>53</c:v>
                </c:pt>
                <c:pt idx="12">
                  <c:v>47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18-20%</c:v>
                </c:pt>
              </c:strCache>
            </c:strRef>
          </c:tx>
          <c:spPr>
            <a:solidFill>
              <a:srgbClr val="005F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Sheet1!$E$2:$E$14</c:f>
              <c:numCache>
                <c:formatCode>General</c:formatCode>
                <c:ptCount val="13"/>
                <c:pt idx="0">
                  <c:v>10</c:v>
                </c:pt>
                <c:pt idx="1">
                  <c:v>18</c:v>
                </c:pt>
                <c:pt idx="2">
                  <c:v>6</c:v>
                </c:pt>
                <c:pt idx="3">
                  <c:v>19</c:v>
                </c:pt>
                <c:pt idx="4">
                  <c:v>20</c:v>
                </c:pt>
                <c:pt idx="5">
                  <c:v>26</c:v>
                </c:pt>
                <c:pt idx="6">
                  <c:v>19</c:v>
                </c:pt>
                <c:pt idx="7">
                  <c:v>32</c:v>
                </c:pt>
                <c:pt idx="8">
                  <c:v>31</c:v>
                </c:pt>
                <c:pt idx="9">
                  <c:v>25</c:v>
                </c:pt>
                <c:pt idx="10">
                  <c:v>31</c:v>
                </c:pt>
                <c:pt idx="11">
                  <c:v>26</c:v>
                </c:pt>
                <c:pt idx="12">
                  <c:v>28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20-25%</c:v>
                </c:pt>
              </c:strCache>
            </c:strRef>
          </c:tx>
          <c:spPr>
            <a:solidFill>
              <a:srgbClr val="00BE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Sheet1!$F$2:$F$14</c:f>
              <c:numCache>
                <c:formatCode>General</c:formatCode>
                <c:ptCount val="13"/>
                <c:pt idx="0">
                  <c:v>14</c:v>
                </c:pt>
                <c:pt idx="1">
                  <c:v>12</c:v>
                </c:pt>
                <c:pt idx="2">
                  <c:v>14</c:v>
                </c:pt>
                <c:pt idx="3">
                  <c:v>14</c:v>
                </c:pt>
                <c:pt idx="4">
                  <c:v>21</c:v>
                </c:pt>
                <c:pt idx="5">
                  <c:v>11</c:v>
                </c:pt>
                <c:pt idx="6">
                  <c:v>10</c:v>
                </c:pt>
                <c:pt idx="7">
                  <c:v>18</c:v>
                </c:pt>
                <c:pt idx="8">
                  <c:v>14</c:v>
                </c:pt>
                <c:pt idx="9">
                  <c:v>28</c:v>
                </c:pt>
                <c:pt idx="10">
                  <c:v>18</c:v>
                </c:pt>
                <c:pt idx="11">
                  <c:v>17</c:v>
                </c:pt>
                <c:pt idx="12">
                  <c:v>17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≥25%</c:v>
                </c:pt>
              </c:strCache>
            </c:strRef>
          </c:tx>
          <c:spPr>
            <a:solidFill>
              <a:srgbClr val="7ED9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Sheet1!$G$2:$G$14</c:f>
              <c:numCache>
                <c:formatCode>General</c:formatCode>
                <c:ptCount val="13"/>
                <c:pt idx="0">
                  <c:v>0</c:v>
                </c:pt>
                <c:pt idx="1">
                  <c:v>1</c:v>
                </c:pt>
                <c:pt idx="2">
                  <c:v>0</c:v>
                </c:pt>
                <c:pt idx="3">
                  <c:v>1</c:v>
                </c:pt>
                <c:pt idx="4">
                  <c:v>2</c:v>
                </c:pt>
                <c:pt idx="5">
                  <c:v>1</c:v>
                </c:pt>
                <c:pt idx="6">
                  <c:v>3</c:v>
                </c:pt>
                <c:pt idx="7">
                  <c:v>3</c:v>
                </c:pt>
                <c:pt idx="8">
                  <c:v>4</c:v>
                </c:pt>
                <c:pt idx="9">
                  <c:v>0</c:v>
                </c:pt>
                <c:pt idx="10">
                  <c:v>2</c:v>
                </c:pt>
                <c:pt idx="11">
                  <c:v>7</c:v>
                </c:pt>
                <c:pt idx="12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650" u="none">
                  <a:solidFill>
                    <a:srgbClr val="FFFFFF"/>
                  </a:solidFill>
                  <a:latin typeface="Poppins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 funnel · gestionado</c:v>
                </c:pt>
              </c:strCache>
            </c:strRef>
          </c:tx>
          <c:spPr>
            <a:solidFill>
              <a:srgbClr val="00BE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12</c:v>
                </c:pt>
                <c:pt idx="1">
                  <c:v>12</c:v>
                </c:pt>
                <c:pt idx="2">
                  <c:v>8</c:v>
                </c:pt>
                <c:pt idx="3">
                  <c:v>10</c:v>
                </c:pt>
                <c:pt idx="4">
                  <c:v>18</c:v>
                </c:pt>
                <c:pt idx="5">
                  <c:v>28</c:v>
                </c:pt>
                <c:pt idx="6">
                  <c:v>28</c:v>
                </c:pt>
                <c:pt idx="7">
                  <c:v>44</c:v>
                </c:pt>
                <c:pt idx="8">
                  <c:v>52</c:v>
                </c:pt>
                <c:pt idx="9">
                  <c:v>45</c:v>
                </c:pt>
                <c:pt idx="10">
                  <c:v>48</c:v>
                </c:pt>
                <c:pt idx="11">
                  <c:v>65</c:v>
                </c:pt>
                <c:pt idx="12">
                  <c:v>53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 funnel · no gestionado</c:v>
                </c:pt>
              </c:strCache>
            </c:strRef>
          </c:tx>
          <c:spPr>
            <a:solidFill>
              <a:srgbClr val="C431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19</c:v>
                </c:pt>
                <c:pt idx="1">
                  <c:v>15</c:v>
                </c:pt>
                <c:pt idx="2">
                  <c:v>15</c:v>
                </c:pt>
                <c:pt idx="3">
                  <c:v>33</c:v>
                </c:pt>
                <c:pt idx="4">
                  <c:v>32</c:v>
                </c:pt>
                <c:pt idx="5">
                  <c:v>37</c:v>
                </c:pt>
                <c:pt idx="6">
                  <c:v>44</c:v>
                </c:pt>
                <c:pt idx="7">
                  <c:v>57</c:v>
                </c:pt>
                <c:pt idx="8">
                  <c:v>57</c:v>
                </c:pt>
                <c:pt idx="9">
                  <c:v>58</c:v>
                </c:pt>
                <c:pt idx="10">
                  <c:v>64</c:v>
                </c:pt>
                <c:pt idx="11">
                  <c:v>53</c:v>
                </c:pt>
                <c:pt idx="12">
                  <c:v>72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Fuera de funnel</c:v>
                </c:pt>
              </c:strCache>
            </c:strRef>
          </c:tx>
          <c:spPr>
            <a:solidFill>
              <a:srgbClr val="A0AE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26</c:v>
                </c:pt>
                <c:pt idx="1">
                  <c:v>29</c:v>
                </c:pt>
                <c:pt idx="2">
                  <c:v>34</c:v>
                </c:pt>
                <c:pt idx="3">
                  <c:v>28</c:v>
                </c:pt>
                <c:pt idx="4">
                  <c:v>34</c:v>
                </c:pt>
                <c:pt idx="5">
                  <c:v>36</c:v>
                </c:pt>
                <c:pt idx="6">
                  <c:v>27</c:v>
                </c:pt>
                <c:pt idx="7">
                  <c:v>45</c:v>
                </c:pt>
                <c:pt idx="8">
                  <c:v>32</c:v>
                </c:pt>
                <c:pt idx="9">
                  <c:v>18</c:v>
                </c:pt>
                <c:pt idx="10">
                  <c:v>15</c:v>
                </c:pt>
                <c:pt idx="11">
                  <c:v>28</c:v>
                </c:pt>
                <c:pt idx="12">
                  <c:v>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650" u="none">
                  <a:solidFill>
                    <a:srgbClr val="FFFFFF"/>
                  </a:solidFill>
                  <a:latin typeface="Poppins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P1</c:v>
                </c:pt>
              </c:strCache>
            </c:strRef>
          </c:tx>
          <c:spPr>
            <a:solidFill>
              <a:srgbClr val="1F459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24</c:v>
                </c:pt>
                <c:pt idx="1">
                  <c:v>23</c:v>
                </c:pt>
                <c:pt idx="2">
                  <c:v>22</c:v>
                </c:pt>
                <c:pt idx="3">
                  <c:v>39</c:v>
                </c:pt>
                <c:pt idx="4">
                  <c:v>43</c:v>
                </c:pt>
                <c:pt idx="5">
                  <c:v>52</c:v>
                </c:pt>
                <c:pt idx="6">
                  <c:v>52</c:v>
                </c:pt>
                <c:pt idx="7">
                  <c:v>88</c:v>
                </c:pt>
                <c:pt idx="8">
                  <c:v>98</c:v>
                </c:pt>
                <c:pt idx="9">
                  <c:v>92</c:v>
                </c:pt>
                <c:pt idx="10">
                  <c:v>100</c:v>
                </c:pt>
                <c:pt idx="11">
                  <c:v>27</c:v>
                </c:pt>
                <c:pt idx="12">
                  <c:v>108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P2</c:v>
                </c:pt>
              </c:strCache>
            </c:strRef>
          </c:tx>
          <c:spPr>
            <a:solidFill>
              <a:srgbClr val="00BE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6</c:v>
                </c:pt>
                <c:pt idx="1">
                  <c:v>4</c:v>
                </c:pt>
                <c:pt idx="2">
                  <c:v>1</c:v>
                </c:pt>
                <c:pt idx="3">
                  <c:v>4</c:v>
                </c:pt>
                <c:pt idx="4">
                  <c:v>5</c:v>
                </c:pt>
                <c:pt idx="5">
                  <c:v>9</c:v>
                </c:pt>
                <c:pt idx="6">
                  <c:v>15</c:v>
                </c:pt>
                <c:pt idx="7">
                  <c:v>12</c:v>
                </c:pt>
                <c:pt idx="8">
                  <c:v>11</c:v>
                </c:pt>
                <c:pt idx="9">
                  <c:v>11</c:v>
                </c:pt>
                <c:pt idx="10">
                  <c:v>12</c:v>
                </c:pt>
                <c:pt idx="11">
                  <c:v>2</c:v>
                </c:pt>
                <c:pt idx="12">
                  <c:v>15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P3</c:v>
                </c:pt>
              </c:strCache>
            </c:strRef>
          </c:tx>
          <c:spPr>
            <a:solidFill>
              <a:srgbClr val="005F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2</c:v>
                </c:pt>
                <c:pt idx="5">
                  <c:v>4</c:v>
                </c:pt>
                <c:pt idx="6">
                  <c:v>3</c:v>
                </c:pt>
                <c:pt idx="7">
                  <c:v>1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1</c:v>
                </c:pt>
                <c:pt idx="12">
                  <c:v>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P4</c:v>
                </c:pt>
              </c:strCache>
            </c:strRef>
          </c:tx>
          <c:spPr>
            <a:solidFill>
              <a:srgbClr val="5B8DE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Sheet1!$E$2:$E$14</c:f>
              <c:numCache>
                <c:formatCode>General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2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P5</c:v>
                </c:pt>
              </c:strCache>
            </c:strRef>
          </c:tx>
          <c:spPr>
            <a:solidFill>
              <a:srgbClr val="A0AE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Sheet1!$F$2:$F$14</c:f>
              <c:numCache>
                <c:formatCode>General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88</c:v>
                </c:pt>
                <c:pt idx="12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650" u="none">
                  <a:solidFill>
                    <a:srgbClr val="FFFFFF"/>
                  </a:solidFill>
                  <a:latin typeface="Poppins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Tiendas</c:v>
                </c:pt>
              </c:strCache>
            </c:strRef>
          </c:tx>
          <c:spPr>
            <a:solidFill>
              <a:srgbClr val="1F459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4.65</c:v>
                </c:pt>
                <c:pt idx="1">
                  <c:v>3.34</c:v>
                </c:pt>
                <c:pt idx="2">
                  <c:v>3.2</c:v>
                </c:pt>
                <c:pt idx="3">
                  <c:v>5.18</c:v>
                </c:pt>
                <c:pt idx="4">
                  <c:v>5.73</c:v>
                </c:pt>
                <c:pt idx="5">
                  <c:v>7.52</c:v>
                </c:pt>
                <c:pt idx="6">
                  <c:v>4.68</c:v>
                </c:pt>
                <c:pt idx="7">
                  <c:v>10.19</c:v>
                </c:pt>
                <c:pt idx="8">
                  <c:v>8.87</c:v>
                </c:pt>
                <c:pt idx="9">
                  <c:v>8.02</c:v>
                </c:pt>
                <c:pt idx="10">
                  <c:v>7.5</c:v>
                </c:pt>
                <c:pt idx="11">
                  <c:v>10.85</c:v>
                </c:pt>
                <c:pt idx="12">
                  <c:v>12.88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Tiendas Virtuales</c:v>
                </c:pt>
              </c:strCache>
            </c:strRef>
          </c:tx>
          <c:spPr>
            <a:solidFill>
              <a:srgbClr val="00BE5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0.58</c:v>
                </c:pt>
                <c:pt idx="5">
                  <c:v>0.44</c:v>
                </c:pt>
                <c:pt idx="6">
                  <c:v>0.22</c:v>
                </c:pt>
                <c:pt idx="7">
                  <c:v>1.23</c:v>
                </c:pt>
                <c:pt idx="8">
                  <c:v>1.64</c:v>
                </c:pt>
                <c:pt idx="9">
                  <c:v>0.95</c:v>
                </c:pt>
                <c:pt idx="10">
                  <c:v>2.01</c:v>
                </c:pt>
                <c:pt idx="11">
                  <c:v>1.31</c:v>
                </c:pt>
                <c:pt idx="12">
                  <c:v>1.12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TLV</c:v>
                </c:pt>
              </c:strCache>
            </c:strRef>
          </c:tx>
          <c:spPr>
            <a:solidFill>
              <a:srgbClr val="005F1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0.85</c:v>
                </c:pt>
                <c:pt idx="1">
                  <c:v>1.71</c:v>
                </c:pt>
                <c:pt idx="2">
                  <c:v>2.27</c:v>
                </c:pt>
                <c:pt idx="3">
                  <c:v>2.59</c:v>
                </c:pt>
                <c:pt idx="4">
                  <c:v>3.29</c:v>
                </c:pt>
                <c:pt idx="5">
                  <c:v>4.44</c:v>
                </c:pt>
                <c:pt idx="6">
                  <c:v>5.25</c:v>
                </c:pt>
                <c:pt idx="7">
                  <c:v>5.77</c:v>
                </c:pt>
                <c:pt idx="8">
                  <c:v>7.21</c:v>
                </c:pt>
                <c:pt idx="9">
                  <c:v>6.59</c:v>
                </c:pt>
                <c:pt idx="10">
                  <c:v>6.39</c:v>
                </c:pt>
                <c:pt idx="11">
                  <c:v>6.64</c:v>
                </c:pt>
                <c:pt idx="12">
                  <c:v>7.07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600" u="none">
                  <a:solidFill>
                    <a:srgbClr val="FFFFFF"/>
                  </a:solidFill>
                  <a:latin typeface="Poppins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Tiendas</c:v>
                </c:pt>
              </c:strCache>
            </c:strRef>
          </c:tx>
          <c:spPr>
            <a:solidFill>
              <a:srgbClr val="1F4592"/>
            </a:solidFill>
            <a:ln w="38100" cap="flat">
              <a:solidFill>
                <a:srgbClr val="1F4592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4592"/>
              </a:solidFill>
              <a:ln w="9525" cap="flat">
                <a:solidFill>
                  <a:srgbClr val="1F459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133</c:v>
                </c:pt>
                <c:pt idx="1">
                  <c:v>124</c:v>
                </c:pt>
                <c:pt idx="2">
                  <c:v>123</c:v>
                </c:pt>
                <c:pt idx="3">
                  <c:v>157</c:v>
                </c:pt>
                <c:pt idx="4">
                  <c:v>151</c:v>
                </c:pt>
                <c:pt idx="5">
                  <c:v>164</c:v>
                </c:pt>
                <c:pt idx="6">
                  <c:v>120</c:v>
                </c:pt>
                <c:pt idx="7">
                  <c:v>164</c:v>
                </c:pt>
                <c:pt idx="8">
                  <c:v>150</c:v>
                </c:pt>
                <c:pt idx="9">
                  <c:v>164</c:v>
                </c:pt>
                <c:pt idx="10">
                  <c:v>150</c:v>
                </c:pt>
                <c:pt idx="11">
                  <c:v>151</c:v>
                </c:pt>
                <c:pt idx="12">
                  <c:v>179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Tiendas Virtuales</c:v>
                </c:pt>
              </c:strCache>
            </c:strRef>
          </c:tx>
          <c:spPr>
            <a:solidFill>
              <a:srgbClr val="00BE50"/>
            </a:solidFill>
            <a:ln w="38100" cap="flat">
              <a:solidFill>
                <a:srgbClr val="00BE50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BE50"/>
              </a:solidFill>
              <a:ln w="9525" cap="flat">
                <a:solidFill>
                  <a:srgbClr val="00BE5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>146</c:v>
                </c:pt>
                <c:pt idx="5">
                  <c:v>109</c:v>
                </c:pt>
                <c:pt idx="6">
                  <c:v>75</c:v>
                </c:pt>
                <c:pt idx="7">
                  <c:v>175</c:v>
                </c:pt>
                <c:pt idx="8">
                  <c:v>205</c:v>
                </c:pt>
                <c:pt idx="9">
                  <c:v>159</c:v>
                </c:pt>
                <c:pt idx="10">
                  <c:v>201</c:v>
                </c:pt>
                <c:pt idx="11">
                  <c:v>131</c:v>
                </c:pt>
                <c:pt idx="12">
                  <c:v>160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TLV</c:v>
                </c:pt>
              </c:strCache>
            </c:strRef>
          </c:tx>
          <c:spPr>
            <a:solidFill>
              <a:srgbClr val="005F1E"/>
            </a:solidFill>
            <a:ln w="38100" cap="flat">
              <a:solidFill>
                <a:srgbClr val="005F1E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5F1E"/>
              </a:solidFill>
              <a:ln w="9525" cap="flat">
                <a:solidFill>
                  <a:srgbClr val="005F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47</c:v>
                </c:pt>
                <c:pt idx="1">
                  <c:v>68</c:v>
                </c:pt>
                <c:pt idx="2">
                  <c:v>87</c:v>
                </c:pt>
                <c:pt idx="3">
                  <c:v>74</c:v>
                </c:pt>
                <c:pt idx="4">
                  <c:v>89</c:v>
                </c:pt>
                <c:pt idx="5">
                  <c:v>92</c:v>
                </c:pt>
                <c:pt idx="6">
                  <c:v>96</c:v>
                </c:pt>
                <c:pt idx="7">
                  <c:v>84</c:v>
                </c:pt>
                <c:pt idx="8">
                  <c:v>102</c:v>
                </c:pt>
                <c:pt idx="9">
                  <c:v>100</c:v>
                </c:pt>
                <c:pt idx="10">
                  <c:v>95</c:v>
                </c:pt>
                <c:pt idx="11">
                  <c:v>104</c:v>
                </c:pt>
                <c:pt idx="12">
                  <c:v>101</c:v>
                </c:pt>
              </c:numCache>
            </c:numRef>
          </c:val>
          <c:smooth val="1"/>
        </c:ser>
        <c:dLbls>
          <c:numFmt formatCode="0" sourceLinked="0"/>
          <c:txPr>
            <a:bodyPr/>
            <a:lstStyle/>
            <a:p>
              <a:pPr>
                <a:defRPr b="0" i="0" strike="noStrike" sz="700" u="none">
                  <a:solidFill>
                    <a:srgbClr val="16203A"/>
                  </a:solidFill>
                  <a:latin typeface="Poppins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Tiendas</c:v>
                </c:pt>
              </c:strCache>
            </c:strRef>
          </c:tx>
          <c:spPr>
            <a:solidFill>
              <a:srgbClr val="1F459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Jun-25</c:v>
                  </c:pt>
                  <c:pt idx="1">
                    <c:v>Jul-25</c:v>
                  </c:pt>
                  <c:pt idx="2">
                    <c:v>Ago-25</c:v>
                  </c:pt>
                  <c:pt idx="3">
                    <c:v>Sep-25</c:v>
                  </c:pt>
                  <c:pt idx="4">
                    <c:v>Oct-25</c:v>
                  </c:pt>
                  <c:pt idx="5">
                    <c:v>Nov-25</c:v>
                  </c:pt>
                  <c:pt idx="6">
                    <c:v>Dic-25</c:v>
                  </c:pt>
                  <c:pt idx="7">
                    <c:v>Ene-26</c:v>
                  </c:pt>
                  <c:pt idx="8">
                    <c:v>Feb-26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3.04</c:v>
                </c:pt>
                <c:pt idx="1">
                  <c:v>4.74</c:v>
                </c:pt>
                <c:pt idx="2">
                  <c:v>3.39</c:v>
                </c:pt>
                <c:pt idx="3">
                  <c:v>6.97</c:v>
                </c:pt>
                <c:pt idx="4">
                  <c:v>5.37</c:v>
                </c:pt>
                <c:pt idx="5">
                  <c:v>6.44</c:v>
                </c:pt>
                <c:pt idx="6">
                  <c:v>6.61</c:v>
                </c:pt>
                <c:pt idx="7">
                  <c:v>9.01</c:v>
                </c:pt>
                <c:pt idx="8">
                  <c:v>10.73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Tiendas Virtuales</c:v>
                </c:pt>
              </c:strCache>
            </c:strRef>
          </c:tx>
          <c:spPr>
            <a:solidFill>
              <a:srgbClr val="00BE5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Jun-25</c:v>
                  </c:pt>
                  <c:pt idx="1">
                    <c:v>Jul-25</c:v>
                  </c:pt>
                  <c:pt idx="2">
                    <c:v>Ago-25</c:v>
                  </c:pt>
                  <c:pt idx="3">
                    <c:v>Sep-25</c:v>
                  </c:pt>
                  <c:pt idx="4">
                    <c:v>Oct-25</c:v>
                  </c:pt>
                  <c:pt idx="5">
                    <c:v>Nov-25</c:v>
                  </c:pt>
                  <c:pt idx="6">
                    <c:v>Dic-25</c:v>
                  </c:pt>
                  <c:pt idx="7">
                    <c:v>Ene-26</c:v>
                  </c:pt>
                  <c:pt idx="8">
                    <c:v>Feb-26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1.47</c:v>
                </c:pt>
                <c:pt idx="1">
                  <c:v>1.86</c:v>
                </c:pt>
                <c:pt idx="2">
                  <c:v>2.21</c:v>
                </c:pt>
                <c:pt idx="3">
                  <c:v>2.28</c:v>
                </c:pt>
                <c:pt idx="4">
                  <c:v>4.36</c:v>
                </c:pt>
                <c:pt idx="5">
                  <c:v>3.43</c:v>
                </c:pt>
                <c:pt idx="6">
                  <c:v>3.03</c:v>
                </c:pt>
                <c:pt idx="7">
                  <c:v>0.63</c:v>
                </c:pt>
                <c:pt idx="8">
                  <c:v>1.16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Televentas</c:v>
                </c:pt>
              </c:strCache>
            </c:strRef>
          </c:tx>
          <c:spPr>
            <a:solidFill>
              <a:srgbClr val="005F1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Jun-25</c:v>
                  </c:pt>
                  <c:pt idx="1">
                    <c:v>Jul-25</c:v>
                  </c:pt>
                  <c:pt idx="2">
                    <c:v>Ago-25</c:v>
                  </c:pt>
                  <c:pt idx="3">
                    <c:v>Sep-25</c:v>
                  </c:pt>
                  <c:pt idx="4">
                    <c:v>Oct-25</c:v>
                  </c:pt>
                  <c:pt idx="5">
                    <c:v>Nov-25</c:v>
                  </c:pt>
                  <c:pt idx="6">
                    <c:v>Dic-25</c:v>
                  </c:pt>
                  <c:pt idx="7">
                    <c:v>Ene-26</c:v>
                  </c:pt>
                  <c:pt idx="8">
                    <c:v>Feb-26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0.32</c:v>
                </c:pt>
                <c:pt idx="1">
                  <c:v>0.28</c:v>
                </c:pt>
                <c:pt idx="2">
                  <c:v>0.3</c:v>
                </c:pt>
                <c:pt idx="3">
                  <c:v>0.13</c:v>
                </c:pt>
                <c:pt idx="4">
                  <c:v>0.38</c:v>
                </c:pt>
                <c:pt idx="5">
                  <c:v>0.53</c:v>
                </c:pt>
                <c:pt idx="6">
                  <c:v>0.38</c:v>
                </c:pt>
                <c:pt idx="7">
                  <c:v>0.51</c:v>
                </c:pt>
                <c:pt idx="8">
                  <c:v>0.5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Sin Asignación</c:v>
                </c:pt>
              </c:strCache>
            </c:strRef>
          </c:tx>
          <c:spPr>
            <a:solidFill>
              <a:srgbClr val="A0AEC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Jun-25</c:v>
                  </c:pt>
                  <c:pt idx="1">
                    <c:v>Jul-25</c:v>
                  </c:pt>
                  <c:pt idx="2">
                    <c:v>Ago-25</c:v>
                  </c:pt>
                  <c:pt idx="3">
                    <c:v>Sep-25</c:v>
                  </c:pt>
                  <c:pt idx="4">
                    <c:v>Oct-25</c:v>
                  </c:pt>
                  <c:pt idx="5">
                    <c:v>Nov-25</c:v>
                  </c:pt>
                  <c:pt idx="6">
                    <c:v>Dic-25</c:v>
                  </c:pt>
                  <c:pt idx="7">
                    <c:v>Ene-26</c:v>
                  </c:pt>
                  <c:pt idx="8">
                    <c:v>Feb-26</c:v>
                  </c:pt>
                </c:lvl>
              </c:multiLvlStrCache>
            </c:multiLvl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2</c:v>
                </c:pt>
                <c:pt idx="1">
                  <c:v>2.63</c:v>
                </c:pt>
                <c:pt idx="2">
                  <c:v>1.9</c:v>
                </c:pt>
                <c:pt idx="3">
                  <c:v>3.47</c:v>
                </c:pt>
                <c:pt idx="4">
                  <c:v>2.36</c:v>
                </c:pt>
                <c:pt idx="5">
                  <c:v>1.14</c:v>
                </c:pt>
                <c:pt idx="6">
                  <c:v>1.05</c:v>
                </c:pt>
                <c:pt idx="7">
                  <c:v>1.73</c:v>
                </c:pt>
                <c:pt idx="8">
                  <c:v>2.03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600" u="none">
                  <a:solidFill>
                    <a:srgbClr val="FFFFFF"/>
                  </a:solidFill>
                  <a:latin typeface="Poppins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Cartera</c:v>
                </c:pt>
              </c:strCache>
            </c:strRef>
          </c:tx>
          <c:spPr>
            <a:solidFill>
              <a:srgbClr val="1F459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Jun-25</c:v>
                  </c:pt>
                  <c:pt idx="1">
                    <c:v>Jul-25</c:v>
                  </c:pt>
                  <c:pt idx="2">
                    <c:v>Ago-25</c:v>
                  </c:pt>
                  <c:pt idx="3">
                    <c:v>Sep-25</c:v>
                  </c:pt>
                  <c:pt idx="4">
                    <c:v>Oct-25</c:v>
                  </c:pt>
                  <c:pt idx="5">
                    <c:v>Nov-25</c:v>
                  </c:pt>
                  <c:pt idx="6">
                    <c:v>Dic-25</c:v>
                  </c:pt>
                  <c:pt idx="7">
                    <c:v>Ene-26</c:v>
                  </c:pt>
                  <c:pt idx="8">
                    <c:v>Feb-26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4.31</c:v>
                </c:pt>
                <c:pt idx="1">
                  <c:v>6.6</c:v>
                </c:pt>
                <c:pt idx="2">
                  <c:v>5.33</c:v>
                </c:pt>
                <c:pt idx="3">
                  <c:v>8.58</c:v>
                </c:pt>
                <c:pt idx="4">
                  <c:v>9.45</c:v>
                </c:pt>
                <c:pt idx="5">
                  <c:v>8.69</c:v>
                </c:pt>
                <c:pt idx="6">
                  <c:v>9.43</c:v>
                </c:pt>
                <c:pt idx="7">
                  <c:v>8.4</c:v>
                </c:pt>
                <c:pt idx="8">
                  <c:v>10.84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 carterizado</c:v>
                </c:pt>
              </c:strCache>
            </c:strRef>
          </c:tx>
          <c:spPr>
            <a:solidFill>
              <a:srgbClr val="00BE5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Jun-25</c:v>
                  </c:pt>
                  <c:pt idx="1">
                    <c:v>Jul-25</c:v>
                  </c:pt>
                  <c:pt idx="2">
                    <c:v>Ago-25</c:v>
                  </c:pt>
                  <c:pt idx="3">
                    <c:v>Sep-25</c:v>
                  </c:pt>
                  <c:pt idx="4">
                    <c:v>Oct-25</c:v>
                  </c:pt>
                  <c:pt idx="5">
                    <c:v>Nov-25</c:v>
                  </c:pt>
                  <c:pt idx="6">
                    <c:v>Dic-25</c:v>
                  </c:pt>
                  <c:pt idx="7">
                    <c:v>Ene-26</c:v>
                  </c:pt>
                  <c:pt idx="8">
                    <c:v>Feb-26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2.52</c:v>
                </c:pt>
                <c:pt idx="1">
                  <c:v>2.91</c:v>
                </c:pt>
                <c:pt idx="2">
                  <c:v>2.47</c:v>
                </c:pt>
                <c:pt idx="3">
                  <c:v>4.27</c:v>
                </c:pt>
                <c:pt idx="4">
                  <c:v>3.02</c:v>
                </c:pt>
                <c:pt idx="5">
                  <c:v>2.84</c:v>
                </c:pt>
                <c:pt idx="6">
                  <c:v>1.64</c:v>
                </c:pt>
                <c:pt idx="7">
                  <c:v>3.49</c:v>
                </c:pt>
                <c:pt idx="8">
                  <c:v>3.57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600" u="none">
                  <a:solidFill>
                    <a:srgbClr val="FFFFFF"/>
                  </a:solidFill>
                  <a:latin typeface="Poppins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chart" Target="/ppt/charts/chart10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chart" Target="/ppt/charts/chart1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chart" Target="/ppt/charts/chart1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5.xml"/><Relationship Id="rId2" Type="http://schemas.openxmlformats.org/officeDocument/2006/relationships/chart" Target="/ppt/charts/chart1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7.xml"/><Relationship Id="rId2" Type="http://schemas.openxmlformats.org/officeDocument/2006/relationships/chart" Target="/ppt/charts/chart1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0.xml"/><Relationship Id="rId2" Type="http://schemas.openxmlformats.org/officeDocument/2006/relationships/chart" Target="/ppt/charts/chart21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2.xml"/><Relationship Id="rId2" Type="http://schemas.openxmlformats.org/officeDocument/2006/relationships/chart" Target="/ppt/charts/chart2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4.xml"/><Relationship Id="rId2" Type="http://schemas.openxmlformats.org/officeDocument/2006/relationships/chart" Target="/ppt/charts/chart2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8.xml"/><Relationship Id="rId2" Type="http://schemas.openxmlformats.org/officeDocument/2006/relationships/chart" Target="/ppt/charts/chart29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59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554480"/>
            <a:ext cx="4206240" cy="4206240"/>
          </a:xfrm>
          <a:prstGeom prst="ellipse">
            <a:avLst/>
          </a:prstGeom>
          <a:solidFill>
            <a:srgbClr val="005F1E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3291840" cy="3291840"/>
          </a:xfrm>
          <a:prstGeom prst="ellipse">
            <a:avLst/>
          </a:prstGeom>
          <a:solidFill>
            <a:srgbClr val="00BE5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6FF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NBC EMPRESAS · BANCA NEGOCIO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Análisis de Fuga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3246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6FF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Créditos comprados por otra entidad financiera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Periodo de compra: Feb-2025 a Feb-2026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1,357 créditos · S/ 116.8 MM de saldo fugado · Fuente: DATA_FUGA.xlsx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RESUMEN EJECUTIVO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S/ 116.8 MM fugados y el 72% ya estaba en nuestro funnel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7830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1,357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créditos fugados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10712" y="160020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02152" y="17830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S/ 116.8 MM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3502152" y="24688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saldo fugado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72784" y="160020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64224" y="17830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72%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6364224" y="24688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estaba en el funnel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134856" y="160020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26296" y="17830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C431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437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9226296" y="24688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carterizados sin gestión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337560"/>
            <a:ext cx="11064240" cy="2651760"/>
          </a:xfrm>
          <a:prstGeom prst="roundRect">
            <a:avLst>
              <a:gd name="adj" fmla="val 2759"/>
            </a:avLst>
          </a:prstGeom>
          <a:solidFill>
            <a:srgbClr val="F7FAFC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68680" y="36118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Llamado a la acción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4114800"/>
            <a:ext cx="10424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de cada 10 créditos fugados estaban en el funnel comercial, pero solo el 43% recibió gestión: activar contacto sobre lo identificado.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47% del volumen (S/100k–500k) explica ~70% del saldo perdido: priorizar por saldo, no por número de casos.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fuga mensual se multiplicó por 2.6 en un año: fijar meta de retención y monitoreo mensual.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Más de la mitad del saldo fugado eran clientes carterizados: cerrar el lazo entre prioridad y gestión.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HALLAZGOS PRIORIZADOS POR IMPACTO EN RETENCIÓN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Seis lecturas que ordenan el plan de acción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01952"/>
            <a:ext cx="566928" cy="566928"/>
          </a:xfrm>
          <a:prstGeom prst="ellipse">
            <a:avLst/>
          </a:prstGeom>
          <a:solidFill>
            <a:srgbClr val="1F459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193852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GESTIÓN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95528" y="25603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Solo gestionamos al 43% de los que estaban en el funnel; 437 carterizados se fugaron sin contacto.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25112" y="164592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53712" y="1901952"/>
            <a:ext cx="566928" cy="566928"/>
          </a:xfrm>
          <a:prstGeom prst="ellipse">
            <a:avLst/>
          </a:prstGeom>
          <a:solidFill>
            <a:srgbClr val="1F4592"/>
          </a:solidFill>
          <a:ln/>
        </p:spPr>
      </p:sp>
      <p:sp>
        <p:nvSpPr>
          <p:cNvPr id="12" name="Text 10"/>
          <p:cNvSpPr/>
          <p:nvPr/>
        </p:nvSpPr>
        <p:spPr>
          <a:xfrm>
            <a:off x="4553712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85232" y="193852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SALDO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25603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47% de los créditos (S/100k–500k) concentra ~70% del saldo fugado.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01584" y="164592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30184" y="1901952"/>
            <a:ext cx="566928" cy="566928"/>
          </a:xfrm>
          <a:prstGeom prst="ellipse">
            <a:avLst/>
          </a:prstGeom>
          <a:solidFill>
            <a:srgbClr val="1F4592"/>
          </a:solidFill>
          <a:ln/>
        </p:spPr>
      </p:sp>
      <p:sp>
        <p:nvSpPr>
          <p:cNvPr id="17" name="Text 15"/>
          <p:cNvSpPr/>
          <p:nvPr/>
        </p:nvSpPr>
        <p:spPr>
          <a:xfrm>
            <a:off x="8330184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061704" y="193852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TENDENCIA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48472" y="25603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fuga mensual se multiplicó por 2.6 en un año; tendencia sostenida.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630168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3886200"/>
            <a:ext cx="566928" cy="566928"/>
          </a:xfrm>
          <a:prstGeom prst="ellipse">
            <a:avLst/>
          </a:prstGeom>
          <a:solidFill>
            <a:srgbClr val="1F4592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886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08760" y="392277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PRECIO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95528" y="4544568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Casi 1 de cada 5 se fugó con tasa ≥20%: sensibles a recompra por precio.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25112" y="3630168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53712" y="3886200"/>
            <a:ext cx="566928" cy="566928"/>
          </a:xfrm>
          <a:prstGeom prst="ellipse">
            <a:avLst/>
          </a:prstGeom>
          <a:solidFill>
            <a:srgbClr val="1F4592"/>
          </a:solidFill>
          <a:ln/>
        </p:spPr>
      </p:sp>
      <p:sp>
        <p:nvSpPr>
          <p:cNvPr id="27" name="Text 25"/>
          <p:cNvSpPr/>
          <p:nvPr/>
        </p:nvSpPr>
        <p:spPr>
          <a:xfrm>
            <a:off x="4553712" y="3886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285232" y="392277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TIEMPO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0" y="4544568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Dos relojes: Tiendas/TLV ~9 meses; Vendors/T. Virtuales ~2–5 meses.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101584" y="3630168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30184" y="3886200"/>
            <a:ext cx="566928" cy="566928"/>
          </a:xfrm>
          <a:prstGeom prst="ellipse">
            <a:avLst/>
          </a:prstGeom>
          <a:solidFill>
            <a:srgbClr val="1F4592"/>
          </a:solidFill>
          <a:ln/>
        </p:spPr>
      </p:sp>
      <p:sp>
        <p:nvSpPr>
          <p:cNvPr id="32" name="Text 30"/>
          <p:cNvSpPr/>
          <p:nvPr/>
        </p:nvSpPr>
        <p:spPr>
          <a:xfrm>
            <a:off x="8330184" y="3886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061704" y="392277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MODELO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348472" y="4544568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mayoría de fugados en funnel eran P1: el modelo ya los marcaba.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ANÁLISIS 1 · PERFIL DE LA COLOCACIÓN FUGADA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fuga se triplicó: de 57 a 151 créditos/mes (S/ 14.4 MM en Feb-26)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4708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Créditos fugados por mes de compra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58368" y="2286000"/>
          <a:ext cx="523036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172200" y="1691640"/>
            <a:ext cx="544068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0" y="18470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Saldo fugado por mes (S/ MM)</a:t>
            </a:r>
            <a:endParaRPr lang="en-US" sz="12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281928" y="2286000"/>
          <a:ext cx="518464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ANÁLISIS 1 · PERFIL DE LA COLOCACIÓN FUGADA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Tiendas concentra el 50% del saldo fugado: S/ 58 MM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4708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Créditos por canal de desembolso (CANAL_FINAL)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58368" y="2286000"/>
          <a:ext cx="523036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172200" y="1691640"/>
            <a:ext cx="544068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0" y="18470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Saldo fugado por canal de desembolso (S/ MM)</a:t>
            </a:r>
            <a:endParaRPr lang="en-US" sz="12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281928" y="2286000"/>
          <a:ext cx="518464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ANÁLISIS 1 · PERFIL DE LA COLOCACIÓN FUGADA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fuga golpea temprano en Vendors y T. Virtuales: a los 2–5 meses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4708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Antigüedad promedio por canal (meses)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58368" y="2286000"/>
          <a:ext cx="523036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172200" y="1691640"/>
            <a:ext cx="544068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0" y="18470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Campañas de origen (CAMPANA_BASE) — Top 8</a:t>
            </a:r>
            <a:endParaRPr lang="en-US" sz="12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281928" y="2286000"/>
          <a:ext cx="518464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ANÁLISIS 1 · ANTIGÜEDAD DEL DESEMBOLSO AL MOMENTO DE LA FUGA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Casi la mitad se fuga en los primeros 6 meses; el mayor saldo, en los primeros 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690372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47088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Meses entre el desembolso y la fuga — nº créditos (barras) y saldo S/ MM (línea)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58368" y="2286000"/>
          <a:ext cx="664768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635240" y="1691640"/>
            <a:ext cx="3977640" cy="4251960"/>
          </a:xfrm>
          <a:prstGeom prst="roundRect">
            <a:avLst>
              <a:gd name="adj" fmla="val 1839"/>
            </a:avLst>
          </a:prstGeom>
          <a:solidFill>
            <a:srgbClr val="F7FAFC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863840" y="19019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Ventana de fuga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863840" y="2286000"/>
            <a:ext cx="3566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meses</a:t>
            </a:r>
            <a:endParaRPr lang="en-US" sz="2300" dirty="0"/>
          </a:p>
          <a:p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mediana hasta la fuga</a:t>
            </a:r>
            <a:endParaRPr lang="en-US" sz="2300" dirty="0"/>
          </a:p>
          <a:p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2200" b="1" dirty="0">
                <a:solidFill>
                  <a:srgbClr val="C431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49%</a:t>
            </a:r>
            <a:endParaRPr lang="en-US" sz="2300" dirty="0"/>
          </a:p>
          <a:p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 fuga en ≤ 6 meses</a:t>
            </a:r>
            <a:endParaRPr lang="en-US" sz="2300" dirty="0"/>
          </a:p>
          <a:p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74%</a:t>
            </a:r>
            <a:endParaRPr lang="en-US" sz="2300" dirty="0"/>
          </a:p>
          <a:p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 fuga en ≤ 12 meses</a:t>
            </a:r>
            <a:endParaRPr lang="en-US" sz="2300" dirty="0"/>
          </a:p>
          <a:p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S/ 37 MM</a:t>
            </a:r>
            <a:endParaRPr lang="en-US" sz="2300" dirty="0"/>
          </a:p>
          <a:p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mayor saldo está en 1–3 meses</a:t>
            </a:r>
            <a:endParaRPr lang="en-US" sz="2300" dirty="0"/>
          </a:p>
          <a:p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</a:t>
            </a:r>
            <a:endParaRPr lang="en-US" sz="2300" dirty="0"/>
          </a:p>
          <a:p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50" i="1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≤0 = 76 casos con desembolso posterior a la compra (posibles regiros).</a:t>
            </a:r>
            <a:endParaRPr lang="en-US" sz="2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ANÁLISIS 1 · COMPORTAMIENTO DE PAGO DE LOS FUGADOS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competencia nos quita clientes sanos: 99% estaba al día al fugarse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690372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47088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Peor atraso histórico de pago (ATRASO_MAXPAG, días) — nº créditos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58368" y="2286000"/>
          <a:ext cx="664768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635240" y="1691640"/>
            <a:ext cx="3977640" cy="4251960"/>
          </a:xfrm>
          <a:prstGeom prst="roundRect">
            <a:avLst>
              <a:gd name="adj" fmla="val 1839"/>
            </a:avLst>
          </a:prstGeom>
          <a:solidFill>
            <a:srgbClr val="F7FAFC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863840" y="19019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Perfil de pago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863840" y="2286000"/>
            <a:ext cx="3566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00BE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99%</a:t>
            </a:r>
            <a:endParaRPr lang="en-US" sz="2400" dirty="0"/>
          </a:p>
          <a:p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estaba al día al fugarse (0 días vencidos)</a:t>
            </a:r>
            <a:endParaRPr lang="en-US" sz="2400" dirty="0"/>
          </a:p>
          <a:p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22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82%</a:t>
            </a:r>
            <a:endParaRPr lang="en-US" sz="2400" dirty="0"/>
          </a:p>
          <a:p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 atraso histórico ≤ 4 días</a:t>
            </a:r>
            <a:endParaRPr lang="en-US" sz="2400" dirty="0"/>
          </a:p>
          <a:p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936</a:t>
            </a:r>
            <a:endParaRPr lang="en-US" sz="2400" dirty="0"/>
          </a:p>
          <a:p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puntaje de scoring (mediana) — riesgo bajo</a:t>
            </a:r>
            <a:endParaRPr lang="en-US" sz="2400" dirty="0"/>
          </a:p>
          <a:p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S/ 92.4 MM</a:t>
            </a:r>
            <a:endParaRPr lang="en-US" sz="2400" dirty="0"/>
          </a:p>
          <a:p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saldo fugado eran clientes al día</a:t>
            </a:r>
            <a:endParaRPr lang="en-US" sz="2400" dirty="0"/>
          </a:p>
          <a:p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</a:t>
            </a:r>
            <a:endParaRPr lang="en-US" sz="2400" dirty="0"/>
          </a:p>
          <a:p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50" i="1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es mora: es fuga competitiva de buenos pagadores. Base: 974 créditos con info de pago (63%).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RANGOS SOBRE MONTO DESEMBOLSADO Y TASA DE DESEMBOLSO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 que más se fuga: créditos de S/ 50–100k (531) y tasa 14–16% (384)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4708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Rango de monto desembolsado (S/)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58368" y="2286000"/>
          <a:ext cx="523036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172200" y="1691640"/>
            <a:ext cx="544068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0" y="18470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Rango de tasa de desembolso (%)</a:t>
            </a:r>
            <a:endParaRPr lang="en-US" sz="12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281928" y="2286000"/>
          <a:ext cx="518464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ANÁLISIS 2 · PERFIL EN EL FUNNEL COMERCIAL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Tuvimos al 72% en el funnel, pero solo gestionamos al 43%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4708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Cobertura y gestión por mes (%)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% en funnel y % gestionado de los que estaban en funnel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58368" y="2542032"/>
          <a:ext cx="5230368" cy="33284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6172200" y="1691640"/>
            <a:ext cx="544068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00800" y="18470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Embudo de oportunidad perdida</a:t>
            </a:r>
            <a:endParaRPr lang="en-US" sz="1200" dirty="0"/>
          </a:p>
        </p:txBody>
      </p:sp>
      <p:graphicFrame>
        <p:nvGraphicFramePr>
          <p:cNvPr id="11" name="Chart 1" descr=""/>
          <p:cNvGraphicFramePr/>
          <p:nvPr/>
        </p:nvGraphicFramePr>
        <p:xfrm>
          <a:off x="6281928" y="2286000"/>
          <a:ext cx="518464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ANÁLISIS 2 · PERFIL EN EL FUNNEL COMERCIAL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768 fugados eran P1 y 625 de Tiendas: el modelo ya los marcaba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4708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Prioridad final (PRIORIDAD_GRUPO_FINAL)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58368" y="2286000"/>
          <a:ext cx="523036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172200" y="1691640"/>
            <a:ext cx="544068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0" y="18470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Canal del funnel (ID_CANAL)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0" y="2194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Tiendas · 2 Tiendas Virtuales · 3 Televentas</a:t>
            </a:r>
            <a:endParaRPr lang="en-US" sz="900" dirty="0"/>
          </a:p>
        </p:txBody>
      </p:sp>
      <p:graphicFrame>
        <p:nvGraphicFramePr>
          <p:cNvPr id="11" name="Chart 1" descr=""/>
          <p:cNvGraphicFramePr/>
          <p:nvPr/>
        </p:nvGraphicFramePr>
        <p:xfrm>
          <a:off x="6281928" y="2542032"/>
          <a:ext cx="5184648" cy="33284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ANÁLISIS 2 · RESPONSABLES DE LOS FUGADOS CON CAMPAÑA ACTIVA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fuga se reparte entre 110 ejecutivos, pero se concentra en 7 supervisores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4708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Ejecutivos con más fuga — Top 8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Solo fugados con una campaña activa del funnel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58368" y="2542032"/>
          <a:ext cx="5230368" cy="33284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6172200" y="1691640"/>
            <a:ext cx="544068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00800" y="18470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Supervisores con más fuga — Top 7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0" y="2194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Solo fugados con una campaña activa del funnel</a:t>
            </a:r>
            <a:endParaRPr lang="en-US" sz="900" dirty="0"/>
          </a:p>
        </p:txBody>
      </p:sp>
      <p:graphicFrame>
        <p:nvGraphicFramePr>
          <p:cNvPr id="12" name="Chart 1" descr=""/>
          <p:cNvGraphicFramePr/>
          <p:nvPr/>
        </p:nvGraphicFramePr>
        <p:xfrm>
          <a:off x="6281928" y="2542032"/>
          <a:ext cx="5184648" cy="33284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ANÁLISIS 2 · CAMPAÑAS DEL FUNNEL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'Gestión Cartera': 40% de la fuga (S/ 40 MM) y solo 12% gestionada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4708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Créditos fugados por tipo de campaña (CAMPANHA_FUNNEL)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979 fugados con campaña activa del funnel (72% del total)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58368" y="2542032"/>
          <a:ext cx="5230368" cy="33284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6172200" y="1691640"/>
            <a:ext cx="544068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00800" y="18470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% gestionado por tipo de campaña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0" y="2194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campaña de mayor fuga es la que menos se gestionó</a:t>
            </a:r>
            <a:endParaRPr lang="en-US" sz="900" dirty="0"/>
          </a:p>
        </p:txBody>
      </p:sp>
      <p:graphicFrame>
        <p:nvGraphicFramePr>
          <p:cNvPr id="12" name="Chart 1" descr=""/>
          <p:cNvGraphicFramePr/>
          <p:nvPr/>
        </p:nvGraphicFramePr>
        <p:xfrm>
          <a:off x="6281928" y="2542032"/>
          <a:ext cx="5184648" cy="33284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ANÁLISIS 2 · PERFIL EN EL FUNNEL COMERCIAL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437 carterizados se fugaron sin gestión: S/ 43 MM perdidos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74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los clientes que estaban en el funnel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03120" y="225856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Gestionado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050792" y="225856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gestionado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22960" y="2971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Cartera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22960" y="43251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cart.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103120" y="2514600"/>
            <a:ext cx="1783080" cy="1188720"/>
          </a:xfrm>
          <a:prstGeom prst="roundRect">
            <a:avLst>
              <a:gd name="adj" fmla="val 4615"/>
            </a:avLst>
          </a:prstGeom>
          <a:solidFill>
            <a:srgbClr val="00BE50"/>
          </a:solidFill>
          <a:ln/>
        </p:spPr>
      </p:sp>
      <p:sp>
        <p:nvSpPr>
          <p:cNvPr id="12" name="Text 10"/>
          <p:cNvSpPr/>
          <p:nvPr/>
        </p:nvSpPr>
        <p:spPr>
          <a:xfrm>
            <a:off x="2103120" y="2660904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299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2194560" y="32644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cart. gestionado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050792" y="2514600"/>
            <a:ext cx="1783080" cy="1188720"/>
          </a:xfrm>
          <a:prstGeom prst="roundRect">
            <a:avLst>
              <a:gd name="adj" fmla="val 4615"/>
            </a:avLst>
          </a:prstGeom>
          <a:solidFill>
            <a:srgbClr val="C4314B"/>
          </a:solidFill>
          <a:ln/>
        </p:spPr>
      </p:sp>
      <p:sp>
        <p:nvSpPr>
          <p:cNvPr id="15" name="Text 13"/>
          <p:cNvSpPr/>
          <p:nvPr/>
        </p:nvSpPr>
        <p:spPr>
          <a:xfrm>
            <a:off x="4050792" y="2660904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437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4142232" y="32644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cart. SIN gestión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103120" y="3867912"/>
            <a:ext cx="1783080" cy="1188720"/>
          </a:xfrm>
          <a:prstGeom prst="roundRect">
            <a:avLst>
              <a:gd name="adj" fmla="val 4615"/>
            </a:avLst>
          </a:prstGeom>
          <a:solidFill>
            <a:srgbClr val="1F4592"/>
          </a:solidFill>
          <a:ln/>
        </p:spPr>
      </p:sp>
      <p:sp>
        <p:nvSpPr>
          <p:cNvPr id="18" name="Text 16"/>
          <p:cNvSpPr/>
          <p:nvPr/>
        </p:nvSpPr>
        <p:spPr>
          <a:xfrm>
            <a:off x="2103120" y="4014216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80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2194560" y="4617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cart. gestionado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050792" y="3867912"/>
            <a:ext cx="1783080" cy="1188720"/>
          </a:xfrm>
          <a:prstGeom prst="roundRect">
            <a:avLst>
              <a:gd name="adj" fmla="val 4615"/>
            </a:avLst>
          </a:prstGeom>
          <a:solidFill>
            <a:srgbClr val="A0AEC0"/>
          </a:solidFill>
          <a:ln/>
        </p:spPr>
      </p:sp>
      <p:sp>
        <p:nvSpPr>
          <p:cNvPr id="21" name="Text 19"/>
          <p:cNvSpPr/>
          <p:nvPr/>
        </p:nvSpPr>
        <p:spPr>
          <a:xfrm>
            <a:off x="4050792" y="4014216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118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4142232" y="4617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cart. sin gestión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72200" y="1691640"/>
            <a:ext cx="544068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0" y="18470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Estado de gestión de los fugados</a:t>
            </a:r>
            <a:endParaRPr lang="en-US" sz="12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6281928" y="2286000"/>
          <a:ext cx="518464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COMPOSICIÓN POR PERIODO · BARRAS APILADAS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Tiendas y TLV: 86% de los créditos fugados, y en aumento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4708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Créditos por canal de desembolso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58368" y="2286000"/>
          <a:ext cx="523036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172200" y="1691640"/>
            <a:ext cx="544068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0" y="18470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Saldo fugado por canal de desembolso (S/ MM)</a:t>
            </a:r>
            <a:endParaRPr lang="en-US" sz="12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281928" y="2286000"/>
          <a:ext cx="518464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COMPOSICIÓN POR PERIODO · BARRAS APILADAS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fuga crece pareja en todos los rangos de monto y tasa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4708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Créditos por rango de monto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58368" y="2286000"/>
          <a:ext cx="523036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172200" y="1691640"/>
            <a:ext cx="544068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0" y="18470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Créditos por rango de tasa</a:t>
            </a:r>
            <a:endParaRPr lang="en-US" sz="12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281928" y="2286000"/>
          <a:ext cx="518464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COMPOSICIÓN POR PERIODO · BARRAS APILADAS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gap de gestión se amplía: cada mes más fugas sin contacto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4708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Estado de gestión en el funnel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58368" y="2286000"/>
          <a:ext cx="523036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172200" y="1691640"/>
            <a:ext cx="544068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0" y="18470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Créditos por prioridad final</a:t>
            </a:r>
            <a:endParaRPr lang="en-US" sz="12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281928" y="2286000"/>
          <a:ext cx="518464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COMPOSICIÓN POR PERIODO · BARRAS APILADAS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Tiendas (S/ 93 MM) y TLV (S/ 60 MM) concentran el monto desembolsado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690372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47088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Monto desembolsado por canal de desembolso — CANAL (S/ MM)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58368" y="2286000"/>
          <a:ext cx="664768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635240" y="1691640"/>
            <a:ext cx="3977640" cy="4251960"/>
          </a:xfrm>
          <a:prstGeom prst="roundRect">
            <a:avLst>
              <a:gd name="adj" fmla="val 1839"/>
            </a:avLst>
          </a:prstGeom>
          <a:solidFill>
            <a:srgbClr val="F7FAFC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863840" y="19019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Monto desembolsado por canal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863840" y="2331720"/>
            <a:ext cx="3566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S/ 92.6 MM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Tiendas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S/ 60.1 MM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TLV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S/ 9.5 MM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Tiendas Virtuales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i="1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CANAL reparte Vendors dentro de Tiendas y TLV.</a:t>
            </a:r>
            <a:endParaRPr lang="en-US" sz="1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TICKET PROMEDIO POR CANAL DE DESEMBOLSO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ticket que se fuga crece: Tiendas Virtuales bordea S/ 200k; Tiendas, S/ 179k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690372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47088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Ticket promedio por canal — monto desembolsado / crédito (miles de S/)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58368" y="2286000"/>
          <a:ext cx="664768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635240" y="1691640"/>
            <a:ext cx="3977640" cy="4251960"/>
          </a:xfrm>
          <a:prstGeom prst="roundRect">
            <a:avLst>
              <a:gd name="adj" fmla="val 1839"/>
            </a:avLst>
          </a:prstGeom>
          <a:solidFill>
            <a:srgbClr val="F7FAFC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863840" y="19019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Ticket promedio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863840" y="2331720"/>
            <a:ext cx="3566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00BE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S/ 161k</a:t>
            </a:r>
            <a:endParaRPr lang="en-US" sz="1900" dirty="0"/>
          </a:p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Tiendas Virtuales — el más alto</a:t>
            </a:r>
            <a:endParaRPr lang="en-US" sz="1900" dirty="0"/>
          </a:p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S/ 152k</a:t>
            </a:r>
            <a:endParaRPr lang="en-US" sz="1900" dirty="0"/>
          </a:p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Tiendas</a:t>
            </a:r>
            <a:endParaRPr lang="en-US" sz="1900" dirty="0"/>
          </a:p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S/ 92k</a:t>
            </a:r>
            <a:endParaRPr lang="en-US" sz="1900" dirty="0"/>
          </a:p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TLV — el más bajo</a:t>
            </a:r>
            <a:endParaRPr lang="en-US" sz="1900" dirty="0"/>
          </a:p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</a:t>
            </a:r>
            <a:endParaRPr lang="en-US" sz="1900" dirty="0"/>
          </a:p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050" i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Los créditos que se fugan son cada vez más grandes, sobre todo en Tiendas y Tiendas Virtuales.</a:t>
            </a:r>
            <a:endParaRPr lang="en-US" sz="1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SALDO DE FUGA · CANAL DE GESTIÓN Y CARTERA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fuga viene de adentro: la cartera pasó del 63% al 75% del saldo fugado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28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Saldo por canal de gestión — ID_CANAL (S/ MM)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58368" y="2240280"/>
          <a:ext cx="5230368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172200" y="1691640"/>
            <a:ext cx="54406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0" y="182880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Saldo: cartera vs no carterizado (S/ MM)</a:t>
            </a:r>
            <a:endParaRPr lang="en-US" sz="12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281928" y="2240280"/>
          <a:ext cx="5184648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5120640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F7FAFC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822960" y="5138928"/>
            <a:ext cx="105156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fuga viene de adentro.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Cada vez se va más cliente carterizado: su peso en el saldo subió del 63% (Jun-25) al 75% (Feb-26), y S/ 52.5 MM se gestionaban desde Tiendas.  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Acción: blindar primero la cartera de Tiendas — el riesgo está dentro de la base, no en captar nuevos.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F459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5F1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FF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LOS HALLAZGOS A LA ACCIÓN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Tres movimientos que atacan el 70% del saldo en riesgo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2331720"/>
            <a:ext cx="640080" cy="640080"/>
          </a:xfrm>
          <a:prstGeom prst="ellipse">
            <a:avLst/>
          </a:prstGeom>
          <a:solidFill>
            <a:srgbClr val="00BE5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22860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Activar gestión sobre lo identificado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00200" y="271576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Contacto obligatorio y trazable sobre P1 carterizado en el funnel — es el 72% del universo y hoy la mayoría no se gestiona.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630168"/>
            <a:ext cx="640080" cy="640080"/>
          </a:xfrm>
          <a:prstGeom prst="ellipse">
            <a:avLst/>
          </a:prstGeom>
          <a:solidFill>
            <a:srgbClr val="00BE5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6301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00200" y="358444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Priorizar por saldo, no por volumen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600200" y="4014216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Alertas tempranas en créditos de S/100k–500k y en la cola de tasa ≥20%, donde se concentra el valor perdido.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928616"/>
            <a:ext cx="640080" cy="640080"/>
          </a:xfrm>
          <a:prstGeom prst="ellipse">
            <a:avLst/>
          </a:prstGeom>
          <a:solidFill>
            <a:srgbClr val="00BE5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9286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00200" y="4882896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Diferenciar por canal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600200" y="5312664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Contacto temprano en Vendors y Tiendas Virtuales; seguimiento sostenido en Tiendas y TLV, que concentran el 84% del saldo.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90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 Fuga</dc:title>
  <dc:subject>PptxGenJS Presentation</dc:subject>
  <dc:creator>NBC Empresas</dc:creator>
  <cp:lastModifiedBy>NBC Empresas</cp:lastModifiedBy>
  <cp:revision>1</cp:revision>
  <dcterms:created xsi:type="dcterms:W3CDTF">2026-06-10T22:30:13Z</dcterms:created>
  <dcterms:modified xsi:type="dcterms:W3CDTF">2026-06-10T22:30:13Z</dcterms:modified>
</cp:coreProperties>
</file>