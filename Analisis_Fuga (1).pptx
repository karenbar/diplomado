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9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8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5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57</c:v>
                </c:pt>
                <c:pt idx="1">
                  <c:v>56</c:v>
                </c:pt>
                <c:pt idx="2">
                  <c:v>57</c:v>
                </c:pt>
                <c:pt idx="3">
                  <c:v>71</c:v>
                </c:pt>
                <c:pt idx="4">
                  <c:v>84</c:v>
                </c:pt>
                <c:pt idx="5">
                  <c:v>101</c:v>
                </c:pt>
                <c:pt idx="6">
                  <c:v>99</c:v>
                </c:pt>
                <c:pt idx="7">
                  <c:v>146</c:v>
                </c:pt>
                <c:pt idx="8">
                  <c:v>141</c:v>
                </c:pt>
                <c:pt idx="9">
                  <c:v>121</c:v>
                </c:pt>
                <c:pt idx="10">
                  <c:v>127</c:v>
                </c:pt>
                <c:pt idx="11">
                  <c:v>146</c:v>
                </c:pt>
                <c:pt idx="12">
                  <c:v>151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Saldo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4.22</c:v>
                </c:pt>
                <c:pt idx="1">
                  <c:v>4.18</c:v>
                </c:pt>
                <c:pt idx="2">
                  <c:v>4.29</c:v>
                </c:pt>
                <c:pt idx="3">
                  <c:v>5.78</c:v>
                </c:pt>
                <c:pt idx="4">
                  <c:v>6.83</c:v>
                </c:pt>
                <c:pt idx="5">
                  <c:v>9.51</c:v>
                </c:pt>
                <c:pt idx="6">
                  <c:v>7.8</c:v>
                </c:pt>
                <c:pt idx="7">
                  <c:v>12.85</c:v>
                </c:pt>
                <c:pt idx="8">
                  <c:v>12.47</c:v>
                </c:pt>
                <c:pt idx="9">
                  <c:v>11.53</c:v>
                </c:pt>
                <c:pt idx="10">
                  <c:v>11.07</c:v>
                </c:pt>
                <c:pt idx="11">
                  <c:v>11.89</c:v>
                </c:pt>
                <c:pt idx="12">
                  <c:v>14.42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592"/>
              </a:solidFill>
              <a:effectLst/>
            </c:spPr>
          </c:dPt>
          <c:dPt>
            <c:idx val="1"/>
            <c:bubble3D val="0"/>
            <c:spPr>
              <a:solidFill>
                <a:srgbClr val="00BE50"/>
              </a:solidFill>
              <a:effectLst/>
            </c:spPr>
          </c:dPt>
          <c:dPt>
            <c:idx val="2"/>
            <c:bubble3D val="0"/>
            <c:spPr>
              <a:solidFill>
                <a:srgbClr val="005F1E"/>
              </a:solidFill>
              <a:effectLst/>
            </c:spPr>
          </c:dPt>
          <c:dPt>
            <c:idx val="3"/>
            <c:bubble3D val="0"/>
            <c:spPr>
              <a:solidFill>
                <a:srgbClr val="5B8DEF"/>
              </a:solidFill>
              <a:effectLst/>
            </c:spPr>
          </c:dPt>
          <c:dPt>
            <c:idx val="4"/>
            <c:bubble3D val="0"/>
            <c:spPr>
              <a:solidFill>
                <a:srgbClr val="A0AEC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TLV</c:v>
                </c:pt>
                <c:pt idx="1">
                  <c:v>TIENDAS</c:v>
                </c:pt>
                <c:pt idx="2">
                  <c:v>VENDORS</c:v>
                </c:pt>
                <c:pt idx="3">
                  <c:v>TIENDAS VIRTUALES</c:v>
                </c:pt>
                <c:pt idx="4">
                  <c:v>ECOSISTEMAS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612</c:v>
                </c:pt>
                <c:pt idx="1">
                  <c:v>553</c:v>
                </c:pt>
                <c:pt idx="2">
                  <c:v>101</c:v>
                </c:pt>
                <c:pt idx="3">
                  <c:v>52</c:v>
                </c:pt>
                <c:pt idx="4">
                  <c:v>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Saldo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TIENDAS</c:v>
                  </c:pt>
                  <c:pt idx="1">
                    <c:v>TLV</c:v>
                  </c:pt>
                  <c:pt idx="2">
                    <c:v>VENDORS</c:v>
                  </c:pt>
                  <c:pt idx="3">
                    <c:v>TIENDAS VIRTUALES</c:v>
                  </c:pt>
                  <c:pt idx="4">
                    <c:v>ECOSISTEMAS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58.1</c:v>
                </c:pt>
                <c:pt idx="1">
                  <c:v>39.5</c:v>
                </c:pt>
                <c:pt idx="2">
                  <c:v>11.6</c:v>
                </c:pt>
                <c:pt idx="3">
                  <c:v>6.3</c:v>
                </c:pt>
                <c:pt idx="4">
                  <c:v>0.1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Antigüedad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ECOSISTEMAS</c:v>
                  </c:pt>
                  <c:pt idx="1">
                    <c:v>TIENDAS</c:v>
                  </c:pt>
                  <c:pt idx="2">
                    <c:v>TIENDAS VIRTUALES</c:v>
                  </c:pt>
                  <c:pt idx="3">
                    <c:v>TLV</c:v>
                  </c:pt>
                  <c:pt idx="4">
                    <c:v>VENDORS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8.9</c:v>
                </c:pt>
                <c:pt idx="2">
                  <c:v>2.2</c:v>
                </c:pt>
                <c:pt idx="3">
                  <c:v>8.5</c:v>
                </c:pt>
                <c:pt idx="4">
                  <c:v>4.8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Impulso Mixto</c:v>
                  </c:pt>
                  <c:pt idx="1">
                    <c:v>Nuevo Aprobado</c:v>
                  </c:pt>
                  <c:pt idx="2">
                    <c:v>CDD APROBADO</c:v>
                  </c:pt>
                  <c:pt idx="3">
                    <c:v>GIRO DE LINEA</c:v>
                  </c:pt>
                  <c:pt idx="4">
                    <c:v>Ágil Recurrente CEM</c:v>
                  </c:pt>
                  <c:pt idx="5">
                    <c:v>Impulso Solo</c:v>
                  </c:pt>
                  <c:pt idx="6">
                    <c:v>Nuevo Aprobado Ágil</c:v>
                  </c:pt>
                  <c:pt idx="7">
                    <c:v>Nuevo pre Aprobado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178</c:v>
                </c:pt>
                <c:pt idx="1">
                  <c:v>172</c:v>
                </c:pt>
                <c:pt idx="2">
                  <c:v>157</c:v>
                </c:pt>
                <c:pt idx="3">
                  <c:v>148</c:v>
                </c:pt>
                <c:pt idx="4">
                  <c:v>127</c:v>
                </c:pt>
                <c:pt idx="5">
                  <c:v>116</c:v>
                </c:pt>
                <c:pt idx="6">
                  <c:v>93</c:v>
                </c:pt>
                <c:pt idx="7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≤25k</c:v>
                  </c:pt>
                  <c:pt idx="1">
                    <c:v>25-50k</c:v>
                  </c:pt>
                  <c:pt idx="2">
                    <c:v>50-100k</c:v>
                  </c:pt>
                  <c:pt idx="3">
                    <c:v>100-200k</c:v>
                  </c:pt>
                  <c:pt idx="4">
                    <c:v>200-500k</c:v>
                  </c:pt>
                  <c:pt idx="5">
                    <c:v>&gt;500k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</c:v>
                </c:pt>
                <c:pt idx="1">
                  <c:v>113</c:v>
                </c:pt>
                <c:pt idx="2">
                  <c:v>531</c:v>
                </c:pt>
                <c:pt idx="3">
                  <c:v>434</c:v>
                </c:pt>
                <c:pt idx="4">
                  <c:v>206</c:v>
                </c:pt>
                <c:pt idx="5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Saldo (S/ MM)</c:v>
                </c:pt>
              </c:strCache>
            </c:strRef>
          </c:tx>
          <c:spPr>
            <a:solidFill>
              <a:srgbClr val="C4314B"/>
            </a:solidFill>
            <a:ln w="38100" cap="flat">
              <a:solidFill>
                <a:srgbClr val="C431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314B"/>
              </a:solidFill>
              <a:ln w="9525" cap="flat">
                <a:solidFill>
                  <a:srgbClr val="C431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≤25k</c:v>
                  </c:pt>
                  <c:pt idx="1">
                    <c:v>25-50k</c:v>
                  </c:pt>
                  <c:pt idx="2">
                    <c:v>50-100k</c:v>
                  </c:pt>
                  <c:pt idx="3">
                    <c:v>100-200k</c:v>
                  </c:pt>
                  <c:pt idx="4">
                    <c:v>200-500k</c:v>
                  </c:pt>
                  <c:pt idx="5">
                    <c:v>&gt;500k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0.4</c:v>
                </c:pt>
                <c:pt idx="1">
                  <c:v>2.9</c:v>
                </c:pt>
                <c:pt idx="2">
                  <c:v>26.2</c:v>
                </c:pt>
                <c:pt idx="3">
                  <c:v>42.7</c:v>
                </c:pt>
                <c:pt idx="4">
                  <c:v>39.4</c:v>
                </c:pt>
                <c:pt idx="5">
                  <c:v>3.9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1"/>
        <c:axPos val="r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&lt;14%</c:v>
                  </c:pt>
                  <c:pt idx="1">
                    <c:v>14-16%</c:v>
                  </c:pt>
                  <c:pt idx="2">
                    <c:v>16-18%</c:v>
                  </c:pt>
                  <c:pt idx="3">
                    <c:v>18-20%</c:v>
                  </c:pt>
                  <c:pt idx="4">
                    <c:v>20-25%</c:v>
                  </c:pt>
                  <c:pt idx="5">
                    <c:v>≥25%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384</c:v>
                </c:pt>
                <c:pt idx="2">
                  <c:v>345</c:v>
                </c:pt>
                <c:pt idx="3">
                  <c:v>291</c:v>
                </c:pt>
                <c:pt idx="4">
                  <c:v>208</c:v>
                </c:pt>
                <c:pt idx="5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Saldo (S/ MM)</c:v>
                </c:pt>
              </c:strCache>
            </c:strRef>
          </c:tx>
          <c:spPr>
            <a:solidFill>
              <a:srgbClr val="C4314B"/>
            </a:solidFill>
            <a:ln w="38100" cap="flat">
              <a:solidFill>
                <a:srgbClr val="C431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314B"/>
              </a:solidFill>
              <a:ln w="9525" cap="flat">
                <a:solidFill>
                  <a:srgbClr val="C431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&lt;14%</c:v>
                  </c:pt>
                  <c:pt idx="1">
                    <c:v>14-16%</c:v>
                  </c:pt>
                  <c:pt idx="2">
                    <c:v>16-18%</c:v>
                  </c:pt>
                  <c:pt idx="3">
                    <c:v>18-20%</c:v>
                  </c:pt>
                  <c:pt idx="4">
                    <c:v>20-25%</c:v>
                  </c:pt>
                  <c:pt idx="5">
                    <c:v>≥25%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12.7</c:v>
                </c:pt>
                <c:pt idx="1">
                  <c:v>29.2</c:v>
                </c:pt>
                <c:pt idx="2">
                  <c:v>38.8</c:v>
                </c:pt>
                <c:pt idx="3">
                  <c:v>23</c:v>
                </c:pt>
                <c:pt idx="4">
                  <c:v>10.8</c:v>
                </c:pt>
                <c:pt idx="5">
                  <c:v>1.2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1"/>
        <c:axPos val="r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≤25k</c:v>
                  </c:pt>
                  <c:pt idx="1">
                    <c:v>25-50k</c:v>
                  </c:pt>
                  <c:pt idx="2">
                    <c:v>50-100k</c:v>
                  </c:pt>
                  <c:pt idx="3">
                    <c:v>100-200k</c:v>
                  </c:pt>
                  <c:pt idx="4">
                    <c:v>200-500k</c:v>
                  </c:pt>
                  <c:pt idx="5">
                    <c:v>&gt;500k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234</c:v>
                </c:pt>
                <c:pt idx="1">
                  <c:v>280</c:v>
                </c:pt>
                <c:pt idx="2">
                  <c:v>433</c:v>
                </c:pt>
                <c:pt idx="3">
                  <c:v>312</c:v>
                </c:pt>
                <c:pt idx="4">
                  <c:v>93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Saldo (S/ MM)</c:v>
                </c:pt>
              </c:strCache>
            </c:strRef>
          </c:tx>
          <c:spPr>
            <a:solidFill>
              <a:srgbClr val="C4314B"/>
            </a:solidFill>
            <a:ln w="38100" cap="flat">
              <a:solidFill>
                <a:srgbClr val="C431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314B"/>
              </a:solidFill>
              <a:ln w="9525" cap="flat">
                <a:solidFill>
                  <a:srgbClr val="C431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≤25k</c:v>
                  </c:pt>
                  <c:pt idx="1">
                    <c:v>25-50k</c:v>
                  </c:pt>
                  <c:pt idx="2">
                    <c:v>50-100k</c:v>
                  </c:pt>
                  <c:pt idx="3">
                    <c:v>100-200k</c:v>
                  </c:pt>
                  <c:pt idx="4">
                    <c:v>200-500k</c:v>
                  </c:pt>
                  <c:pt idx="5">
                    <c:v>&gt;500k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3.2</c:v>
                </c:pt>
                <c:pt idx="1">
                  <c:v>10.6</c:v>
                </c:pt>
                <c:pt idx="2">
                  <c:v>30.6</c:v>
                </c:pt>
                <c:pt idx="3">
                  <c:v>43.7</c:v>
                </c:pt>
                <c:pt idx="4">
                  <c:v>25.3</c:v>
                </c:pt>
                <c:pt idx="5">
                  <c:v>3.4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1"/>
        <c:axPos val="r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en funnel</c:v>
                </c:pt>
              </c:strCache>
            </c:strRef>
          </c:tx>
          <c:spPr>
            <a:solidFill>
              <a:srgbClr val="1F4592"/>
            </a:solidFill>
            <a:ln w="38100" cap="flat">
              <a:solidFill>
                <a:srgbClr val="1F4592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4592"/>
              </a:solidFill>
              <a:ln w="9525" cap="flat">
                <a:solidFill>
                  <a:srgbClr val="1F459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54.4</c:v>
                </c:pt>
                <c:pt idx="1">
                  <c:v>48.2</c:v>
                </c:pt>
                <c:pt idx="2">
                  <c:v>40.4</c:v>
                </c:pt>
                <c:pt idx="3">
                  <c:v>60.6</c:v>
                </c:pt>
                <c:pt idx="4">
                  <c:v>59.5</c:v>
                </c:pt>
                <c:pt idx="5">
                  <c:v>64.4</c:v>
                </c:pt>
                <c:pt idx="6">
                  <c:v>72.7</c:v>
                </c:pt>
                <c:pt idx="7">
                  <c:v>69.2</c:v>
                </c:pt>
                <c:pt idx="8">
                  <c:v>77.3</c:v>
                </c:pt>
                <c:pt idx="9">
                  <c:v>85.1</c:v>
                </c:pt>
                <c:pt idx="10">
                  <c:v>88.2</c:v>
                </c:pt>
                <c:pt idx="11">
                  <c:v>80.8</c:v>
                </c:pt>
                <c:pt idx="12">
                  <c:v>82.8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gestionado</c:v>
                </c:pt>
              </c:strCache>
            </c:strRef>
          </c:tx>
          <c:spPr>
            <a:solidFill>
              <a:srgbClr val="C4314B"/>
            </a:solidFill>
            <a:ln w="38100" cap="flat">
              <a:solidFill>
                <a:srgbClr val="C4314B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314B"/>
              </a:solidFill>
              <a:ln w="9525" cap="flat">
                <a:solidFill>
                  <a:srgbClr val="C431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38.7</c:v>
                </c:pt>
                <c:pt idx="1">
                  <c:v>44.4</c:v>
                </c:pt>
                <c:pt idx="2">
                  <c:v>34.8</c:v>
                </c:pt>
                <c:pt idx="3">
                  <c:v>23.3</c:v>
                </c:pt>
                <c:pt idx="4">
                  <c:v>36</c:v>
                </c:pt>
                <c:pt idx="5">
                  <c:v>43.1</c:v>
                </c:pt>
                <c:pt idx="6">
                  <c:v>38.9</c:v>
                </c:pt>
                <c:pt idx="7">
                  <c:v>43.6</c:v>
                </c:pt>
                <c:pt idx="8">
                  <c:v>47.7</c:v>
                </c:pt>
                <c:pt idx="9">
                  <c:v>43.7</c:v>
                </c:pt>
                <c:pt idx="10">
                  <c:v>42.9</c:v>
                </c:pt>
                <c:pt idx="11">
                  <c:v>55.1</c:v>
                </c:pt>
                <c:pt idx="12">
                  <c:v>42.4</c:v>
                </c:pt>
              </c:numCache>
            </c:numRef>
          </c:val>
          <c:smooth val="1"/>
        </c:ser>
        <c:dLbls>
          <c:numFmt formatCode="0" sourceLinked="0"/>
          <c:txPr>
            <a:bodyPr/>
            <a:lstStyle/>
            <a:p>
              <a:pPr>
                <a:defRPr b="0" i="0" strike="noStrike" sz="750" u="none">
                  <a:solidFill>
                    <a:srgbClr val="16203A"/>
                  </a:solidFill>
                  <a:latin typeface="Poppins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Fugados</c:v>
                  </c:pt>
                  <c:pt idx="1">
                    <c:v>En funnel</c:v>
                  </c:pt>
                  <c:pt idx="2">
                    <c:v>Carterizados</c:v>
                  </c:pt>
                  <c:pt idx="3">
                    <c:v>Gestionados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1357</c:v>
                </c:pt>
                <c:pt idx="1">
                  <c:v>979</c:v>
                </c:pt>
                <c:pt idx="2">
                  <c:v>736</c:v>
                </c:pt>
                <c:pt idx="3">
                  <c:v>423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Prioridad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592"/>
              </a:solidFill>
              <a:effectLst/>
            </c:spPr>
          </c:dPt>
          <c:dPt>
            <c:idx val="1"/>
            <c:bubble3D val="0"/>
            <c:spPr>
              <a:solidFill>
                <a:srgbClr val="00BE50"/>
              </a:solidFill>
              <a:effectLst/>
            </c:spPr>
          </c:dPt>
          <c:dPt>
            <c:idx val="2"/>
            <c:bubble3D val="0"/>
            <c:spPr>
              <a:solidFill>
                <a:srgbClr val="005F1E"/>
              </a:solidFill>
              <a:effectLst/>
            </c:spPr>
          </c:dPt>
          <c:dPt>
            <c:idx val="3"/>
            <c:bubble3D val="0"/>
            <c:spPr>
              <a:solidFill>
                <a:srgbClr val="5B8DEF"/>
              </a:solidFill>
              <a:effectLst/>
            </c:spPr>
          </c:dPt>
          <c:dPt>
            <c:idx val="4"/>
            <c:bubble3D val="0"/>
            <c:spPr>
              <a:solidFill>
                <a:srgbClr val="A0AEC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P1</c:v>
                </c:pt>
                <c:pt idx="1">
                  <c:v>P2</c:v>
                </c:pt>
                <c:pt idx="2">
                  <c:v>P5</c:v>
                </c:pt>
                <c:pt idx="3">
                  <c:v>P3</c:v>
                </c:pt>
                <c:pt idx="4">
                  <c:v>P4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768</c:v>
                </c:pt>
                <c:pt idx="1">
                  <c:v>107</c:v>
                </c:pt>
                <c:pt idx="2">
                  <c:v>88</c:v>
                </c:pt>
                <c:pt idx="3">
                  <c:v>14</c:v>
                </c:pt>
                <c:pt idx="4">
                  <c:v>2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Canal funnel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592"/>
              </a:solidFill>
              <a:effectLst/>
            </c:spPr>
          </c:dPt>
          <c:dPt>
            <c:idx val="1"/>
            <c:bubble3D val="0"/>
            <c:spPr>
              <a:solidFill>
                <a:srgbClr val="00BE50"/>
              </a:solidFill>
              <a:effectLst/>
            </c:spPr>
          </c:dPt>
          <c:dPt>
            <c:idx val="2"/>
            <c:bubble3D val="0"/>
            <c:spPr>
              <a:solidFill>
                <a:srgbClr val="005F1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Tiendas</c:v>
                </c:pt>
                <c:pt idx="1">
                  <c:v>Tiendas Virtuales</c:v>
                </c:pt>
                <c:pt idx="2">
                  <c:v>Televentas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625</c:v>
                </c:pt>
                <c:pt idx="1">
                  <c:v>309</c:v>
                </c:pt>
                <c:pt idx="2">
                  <c:v>45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Gestion Cartera</c:v>
                  </c:pt>
                  <c:pt idx="1">
                    <c:v>Recurrente Ágil CEM</c:v>
                  </c:pt>
                  <c:pt idx="2">
                    <c:v>Recurrente Agil Estacional</c:v>
                  </c:pt>
                  <c:pt idx="3">
                    <c:v>Oportunidad Garantías</c:v>
                  </c:pt>
                  <c:pt idx="4">
                    <c:v>Recurrente Aprobado CD</c:v>
                  </c:pt>
                  <c:pt idx="5">
                    <c:v>Giro de Línea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390</c:v>
                </c:pt>
                <c:pt idx="1">
                  <c:v>301</c:v>
                </c:pt>
                <c:pt idx="2">
                  <c:v>73</c:v>
                </c:pt>
                <c:pt idx="3">
                  <c:v>49</c:v>
                </c:pt>
                <c:pt idx="4">
                  <c:v>39</c:v>
                </c:pt>
                <c:pt idx="5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Pecho Llacta</c:v>
                  </c:pt>
                  <c:pt idx="1">
                    <c:v>Palpa Ramos Luis Carlos</c:v>
                  </c:pt>
                  <c:pt idx="2">
                    <c:v>Loayza Rivas</c:v>
                  </c:pt>
                  <c:pt idx="3">
                    <c:v>Caceda Vertiz</c:v>
                  </c:pt>
                  <c:pt idx="4">
                    <c:v>Ugaz Vasquez Maria Susana</c:v>
                  </c:pt>
                  <c:pt idx="5">
                    <c:v>Casimiro Fernandez Edith Doris</c:v>
                  </c:pt>
                  <c:pt idx="6">
                    <c:v>Roca Ramos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171</c:v>
                </c:pt>
                <c:pt idx="1">
                  <c:v>123</c:v>
                </c:pt>
                <c:pt idx="2">
                  <c:v>110</c:v>
                </c:pt>
                <c:pt idx="3">
                  <c:v>108</c:v>
                </c:pt>
                <c:pt idx="4">
                  <c:v>108</c:v>
                </c:pt>
                <c:pt idx="5">
                  <c:v>89</c:v>
                </c:pt>
                <c:pt idx="6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Otras (13 campañas)</c:v>
                  </c:pt>
                  <c:pt idx="1">
                    <c:v>Garantias</c:v>
                  </c:pt>
                  <c:pt idx="2">
                    <c:v>SIN CAMPAÑA</c:v>
                  </c:pt>
                  <c:pt idx="3">
                    <c:v>Giro de Línea</c:v>
                  </c:pt>
                  <c:pt idx="4">
                    <c:v>Recurrente Aprobado CD</c:v>
                  </c:pt>
                  <c:pt idx="5">
                    <c:v>Oportunidad Garantías</c:v>
                  </c:pt>
                  <c:pt idx="6">
                    <c:v>Recurrente Agil Estacional</c:v>
                  </c:pt>
                  <c:pt idx="7">
                    <c:v>Recurrente Ágil CEM</c:v>
                  </c:pt>
                  <c:pt idx="8">
                    <c:v>Gestion Cartera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74</c:v>
                </c:pt>
                <c:pt idx="1">
                  <c:v>11</c:v>
                </c:pt>
                <c:pt idx="2">
                  <c:v>20</c:v>
                </c:pt>
                <c:pt idx="3">
                  <c:v>22</c:v>
                </c:pt>
                <c:pt idx="4">
                  <c:v>39</c:v>
                </c:pt>
                <c:pt idx="5">
                  <c:v>49</c:v>
                </c:pt>
                <c:pt idx="6">
                  <c:v>73</c:v>
                </c:pt>
                <c:pt idx="7">
                  <c:v>301</c:v>
                </c:pt>
                <c:pt idx="8">
                  <c:v>390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gestionado</c:v>
                </c:pt>
              </c:strCache>
            </c:strRef>
          </c:tx>
          <c:spPr>
            <a:solidFill>
              <a:srgbClr val="C431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Otras (13 campañas)</c:v>
                  </c:pt>
                  <c:pt idx="1">
                    <c:v>Garantias</c:v>
                  </c:pt>
                  <c:pt idx="2">
                    <c:v>SIN CAMPAÑA</c:v>
                  </c:pt>
                  <c:pt idx="3">
                    <c:v>Giro de Línea</c:v>
                  </c:pt>
                  <c:pt idx="4">
                    <c:v>Recurrente Aprobado CD</c:v>
                  </c:pt>
                  <c:pt idx="5">
                    <c:v>Oportunidad Garantías</c:v>
                  </c:pt>
                  <c:pt idx="6">
                    <c:v>Recurrente Agil Estacional</c:v>
                  </c:pt>
                  <c:pt idx="7">
                    <c:v>Recurrente Ágil CEM</c:v>
                  </c:pt>
                  <c:pt idx="8">
                    <c:v>Gestion Cartera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73</c:v>
                </c:pt>
                <c:pt idx="1">
                  <c:v>0</c:v>
                </c:pt>
                <c:pt idx="2">
                  <c:v>95</c:v>
                </c:pt>
                <c:pt idx="3">
                  <c:v>100</c:v>
                </c:pt>
                <c:pt idx="4">
                  <c:v>64</c:v>
                </c:pt>
                <c:pt idx="5">
                  <c:v>31</c:v>
                </c:pt>
                <c:pt idx="6">
                  <c:v>45</c:v>
                </c:pt>
                <c:pt idx="7">
                  <c:v>69</c:v>
                </c:pt>
                <c:pt idx="8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Gestión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E50"/>
              </a:solidFill>
              <a:effectLst/>
            </c:spPr>
          </c:dPt>
          <c:dPt>
            <c:idx val="1"/>
            <c:bubble3D val="0"/>
            <c:spPr>
              <a:solidFill>
                <a:srgbClr val="C4314B"/>
              </a:solidFill>
              <a:effectLst/>
            </c:spPr>
          </c:dPt>
          <c:dPt>
            <c:idx val="2"/>
            <c:bubble3D val="0"/>
            <c:spPr>
              <a:solidFill>
                <a:srgbClr val="A0AEC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En funnel · gestionado</c:v>
                </c:pt>
                <c:pt idx="1">
                  <c:v>En funnel · no gestionado</c:v>
                </c:pt>
                <c:pt idx="2">
                  <c:v>Fuera de funnel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423</c:v>
                </c:pt>
                <c:pt idx="1">
                  <c:v>556</c:v>
                </c:pt>
                <c:pt idx="2">
                  <c:v>378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TIENDAS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35</c:v>
                </c:pt>
                <c:pt idx="1">
                  <c:v>24</c:v>
                </c:pt>
                <c:pt idx="2">
                  <c:v>24</c:v>
                </c:pt>
                <c:pt idx="3">
                  <c:v>29</c:v>
                </c:pt>
                <c:pt idx="4">
                  <c:v>35</c:v>
                </c:pt>
                <c:pt idx="5">
                  <c:v>45</c:v>
                </c:pt>
                <c:pt idx="6">
                  <c:v>36</c:v>
                </c:pt>
                <c:pt idx="7">
                  <c:v>54</c:v>
                </c:pt>
                <c:pt idx="8">
                  <c:v>54</c:v>
                </c:pt>
                <c:pt idx="9">
                  <c:v>38</c:v>
                </c:pt>
                <c:pt idx="10">
                  <c:v>46</c:v>
                </c:pt>
                <c:pt idx="11">
                  <c:v>68</c:v>
                </c:pt>
                <c:pt idx="12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TLV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18</c:v>
                </c:pt>
                <c:pt idx="1">
                  <c:v>22</c:v>
                </c:pt>
                <c:pt idx="2">
                  <c:v>25</c:v>
                </c:pt>
                <c:pt idx="3">
                  <c:v>33</c:v>
                </c:pt>
                <c:pt idx="4">
                  <c:v>37</c:v>
                </c:pt>
                <c:pt idx="5">
                  <c:v>45</c:v>
                </c:pt>
                <c:pt idx="6">
                  <c:v>54</c:v>
                </c:pt>
                <c:pt idx="7">
                  <c:v>66</c:v>
                </c:pt>
                <c:pt idx="8">
                  <c:v>67</c:v>
                </c:pt>
                <c:pt idx="9">
                  <c:v>59</c:v>
                </c:pt>
                <c:pt idx="10">
                  <c:v>62</c:v>
                </c:pt>
                <c:pt idx="11">
                  <c:v>57</c:v>
                </c:pt>
                <c:pt idx="12">
                  <c:v>67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TIENDAS VIRTUALES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</c:v>
                </c:pt>
                <c:pt idx="5">
                  <c:v>3</c:v>
                </c:pt>
                <c:pt idx="6">
                  <c:v>3</c:v>
                </c:pt>
                <c:pt idx="7">
                  <c:v>6</c:v>
                </c:pt>
                <c:pt idx="8">
                  <c:v>7</c:v>
                </c:pt>
                <c:pt idx="9">
                  <c:v>6</c:v>
                </c:pt>
                <c:pt idx="10">
                  <c:v>9</c:v>
                </c:pt>
                <c:pt idx="11">
                  <c:v>10</c:v>
                </c:pt>
                <c:pt idx="12">
                  <c:v>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VENDORS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0</c:v>
                </c:pt>
                <c:pt idx="1">
                  <c:v>6</c:v>
                </c:pt>
                <c:pt idx="2">
                  <c:v>3</c:v>
                </c:pt>
                <c:pt idx="3">
                  <c:v>6</c:v>
                </c:pt>
                <c:pt idx="4">
                  <c:v>3</c:v>
                </c:pt>
                <c:pt idx="5">
                  <c:v>5</c:v>
                </c:pt>
                <c:pt idx="6">
                  <c:v>4</c:v>
                </c:pt>
                <c:pt idx="7">
                  <c:v>12</c:v>
                </c:pt>
                <c:pt idx="8">
                  <c:v>10</c:v>
                </c:pt>
                <c:pt idx="9">
                  <c:v>18</c:v>
                </c:pt>
                <c:pt idx="10">
                  <c:v>10</c:v>
                </c:pt>
                <c:pt idx="11">
                  <c:v>11</c:v>
                </c:pt>
                <c:pt idx="12">
                  <c:v>13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ECOSISTEMAS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TIENDAS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3.42</c:v>
                </c:pt>
                <c:pt idx="1">
                  <c:v>2.43</c:v>
                </c:pt>
                <c:pt idx="2">
                  <c:v>1.94</c:v>
                </c:pt>
                <c:pt idx="3">
                  <c:v>3.03</c:v>
                </c:pt>
                <c:pt idx="4">
                  <c:v>3.65</c:v>
                </c:pt>
                <c:pt idx="5">
                  <c:v>5.45</c:v>
                </c:pt>
                <c:pt idx="6">
                  <c:v>3.12</c:v>
                </c:pt>
                <c:pt idx="7">
                  <c:v>6.66</c:v>
                </c:pt>
                <c:pt idx="8">
                  <c:v>5.04</c:v>
                </c:pt>
                <c:pt idx="9">
                  <c:v>3.58</c:v>
                </c:pt>
                <c:pt idx="10">
                  <c:v>5.53</c:v>
                </c:pt>
                <c:pt idx="11">
                  <c:v>6.27</c:v>
                </c:pt>
                <c:pt idx="12">
                  <c:v>7.96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TLV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0.68</c:v>
                </c:pt>
                <c:pt idx="1">
                  <c:v>1.2</c:v>
                </c:pt>
                <c:pt idx="2">
                  <c:v>1.88</c:v>
                </c:pt>
                <c:pt idx="3">
                  <c:v>1.96</c:v>
                </c:pt>
                <c:pt idx="4">
                  <c:v>2.35</c:v>
                </c:pt>
                <c:pt idx="5">
                  <c:v>3.47</c:v>
                </c:pt>
                <c:pt idx="6">
                  <c:v>4.13</c:v>
                </c:pt>
                <c:pt idx="7">
                  <c:v>3.82</c:v>
                </c:pt>
                <c:pt idx="8">
                  <c:v>5</c:v>
                </c:pt>
                <c:pt idx="9">
                  <c:v>4.12</c:v>
                </c:pt>
                <c:pt idx="10">
                  <c:v>3.39</c:v>
                </c:pt>
                <c:pt idx="11">
                  <c:v>3.47</c:v>
                </c:pt>
                <c:pt idx="12">
                  <c:v>4.04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TIENDAS VIRTUALES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0.45</c:v>
                </c:pt>
                <c:pt idx="5">
                  <c:v>0.24</c:v>
                </c:pt>
                <c:pt idx="6">
                  <c:v>0.23</c:v>
                </c:pt>
                <c:pt idx="7">
                  <c:v>0.94</c:v>
                </c:pt>
                <c:pt idx="8">
                  <c:v>1.38</c:v>
                </c:pt>
                <c:pt idx="9">
                  <c:v>0.85</c:v>
                </c:pt>
                <c:pt idx="10">
                  <c:v>0.84</c:v>
                </c:pt>
                <c:pt idx="11">
                  <c:v>0.97</c:v>
                </c:pt>
                <c:pt idx="12">
                  <c:v>0.45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VENDORS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0</c:v>
                </c:pt>
                <c:pt idx="1">
                  <c:v>0.47</c:v>
                </c:pt>
                <c:pt idx="2">
                  <c:v>0.35</c:v>
                </c:pt>
                <c:pt idx="3">
                  <c:v>0.75</c:v>
                </c:pt>
                <c:pt idx="4">
                  <c:v>0.22</c:v>
                </c:pt>
                <c:pt idx="5">
                  <c:v>0.3</c:v>
                </c:pt>
                <c:pt idx="6">
                  <c:v>0.27</c:v>
                </c:pt>
                <c:pt idx="7">
                  <c:v>1.26</c:v>
                </c:pt>
                <c:pt idx="8">
                  <c:v>0.92</c:v>
                </c:pt>
                <c:pt idx="9">
                  <c:v>2.99</c:v>
                </c:pt>
                <c:pt idx="10">
                  <c:v>1.31</c:v>
                </c:pt>
                <c:pt idx="11">
                  <c:v>1.17</c:v>
                </c:pt>
                <c:pt idx="12">
                  <c:v>1.57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ECOSISTEMAS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0.11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≤25k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0</c:v>
                </c:pt>
                <c:pt idx="5">
                  <c:v>4</c:v>
                </c:pt>
                <c:pt idx="6">
                  <c:v>3</c:v>
                </c:pt>
                <c:pt idx="7">
                  <c:v>6</c:v>
                </c:pt>
                <c:pt idx="8">
                  <c:v>0</c:v>
                </c:pt>
                <c:pt idx="9">
                  <c:v>1</c:v>
                </c:pt>
                <c:pt idx="10">
                  <c:v>3</c:v>
                </c:pt>
                <c:pt idx="11">
                  <c:v>1</c:v>
                </c:pt>
                <c:pt idx="1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25-50k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9</c:v>
                </c:pt>
                <c:pt idx="1">
                  <c:v>6</c:v>
                </c:pt>
                <c:pt idx="2">
                  <c:v>2</c:v>
                </c:pt>
                <c:pt idx="3">
                  <c:v>14</c:v>
                </c:pt>
                <c:pt idx="4">
                  <c:v>7</c:v>
                </c:pt>
                <c:pt idx="5">
                  <c:v>6</c:v>
                </c:pt>
                <c:pt idx="6">
                  <c:v>9</c:v>
                </c:pt>
                <c:pt idx="7">
                  <c:v>5</c:v>
                </c:pt>
                <c:pt idx="8">
                  <c:v>9</c:v>
                </c:pt>
                <c:pt idx="9">
                  <c:v>12</c:v>
                </c:pt>
                <c:pt idx="10">
                  <c:v>14</c:v>
                </c:pt>
                <c:pt idx="11">
                  <c:v>14</c:v>
                </c:pt>
                <c:pt idx="12">
                  <c:v>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50-100k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22</c:v>
                </c:pt>
                <c:pt idx="1">
                  <c:v>20</c:v>
                </c:pt>
                <c:pt idx="2">
                  <c:v>25</c:v>
                </c:pt>
                <c:pt idx="3">
                  <c:v>24</c:v>
                </c:pt>
                <c:pt idx="4">
                  <c:v>33</c:v>
                </c:pt>
                <c:pt idx="5">
                  <c:v>37</c:v>
                </c:pt>
                <c:pt idx="6">
                  <c:v>46</c:v>
                </c:pt>
                <c:pt idx="7">
                  <c:v>60</c:v>
                </c:pt>
                <c:pt idx="8">
                  <c:v>55</c:v>
                </c:pt>
                <c:pt idx="9">
                  <c:v>44</c:v>
                </c:pt>
                <c:pt idx="10">
                  <c:v>53</c:v>
                </c:pt>
                <c:pt idx="11">
                  <c:v>56</c:v>
                </c:pt>
                <c:pt idx="12">
                  <c:v>56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100-200k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13</c:v>
                </c:pt>
                <c:pt idx="1">
                  <c:v>21</c:v>
                </c:pt>
                <c:pt idx="2">
                  <c:v>18</c:v>
                </c:pt>
                <c:pt idx="3">
                  <c:v>21</c:v>
                </c:pt>
                <c:pt idx="4">
                  <c:v>24</c:v>
                </c:pt>
                <c:pt idx="5">
                  <c:v>30</c:v>
                </c:pt>
                <c:pt idx="6">
                  <c:v>28</c:v>
                </c:pt>
                <c:pt idx="7">
                  <c:v>44</c:v>
                </c:pt>
                <c:pt idx="8">
                  <c:v>54</c:v>
                </c:pt>
                <c:pt idx="9">
                  <c:v>49</c:v>
                </c:pt>
                <c:pt idx="10">
                  <c:v>34</c:v>
                </c:pt>
                <c:pt idx="11">
                  <c:v>45</c:v>
                </c:pt>
                <c:pt idx="12">
                  <c:v>53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200-500k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8</c:v>
                </c:pt>
                <c:pt idx="4">
                  <c:v>15</c:v>
                </c:pt>
                <c:pt idx="5">
                  <c:v>21</c:v>
                </c:pt>
                <c:pt idx="6">
                  <c:v>11</c:v>
                </c:pt>
                <c:pt idx="7">
                  <c:v>23</c:v>
                </c:pt>
                <c:pt idx="8">
                  <c:v>19</c:v>
                </c:pt>
                <c:pt idx="9">
                  <c:v>14</c:v>
                </c:pt>
                <c:pt idx="10">
                  <c:v>22</c:v>
                </c:pt>
                <c:pt idx="11">
                  <c:v>30</c:v>
                </c:pt>
                <c:pt idx="12">
                  <c:v>31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&gt;500k</c:v>
                </c:pt>
              </c:strCache>
            </c:strRef>
          </c:tx>
          <c:spPr>
            <a:solidFill>
              <a:srgbClr val="7ED9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Sheet1!$G$2:$G$14</c:f>
              <c:numCache>
                <c:formatCode>General</c:formatCode>
                <c:ptCount val="13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&lt;14%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4</c:v>
                </c:pt>
                <c:pt idx="4">
                  <c:v>4</c:v>
                </c:pt>
                <c:pt idx="5">
                  <c:v>6</c:v>
                </c:pt>
                <c:pt idx="6">
                  <c:v>5</c:v>
                </c:pt>
                <c:pt idx="7">
                  <c:v>9</c:v>
                </c:pt>
                <c:pt idx="8">
                  <c:v>4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14-16%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16</c:v>
                </c:pt>
                <c:pt idx="1">
                  <c:v>13</c:v>
                </c:pt>
                <c:pt idx="2">
                  <c:v>21</c:v>
                </c:pt>
                <c:pt idx="3">
                  <c:v>14</c:v>
                </c:pt>
                <c:pt idx="4">
                  <c:v>18</c:v>
                </c:pt>
                <c:pt idx="5">
                  <c:v>29</c:v>
                </c:pt>
                <c:pt idx="6">
                  <c:v>36</c:v>
                </c:pt>
                <c:pt idx="7">
                  <c:v>43</c:v>
                </c:pt>
                <c:pt idx="8">
                  <c:v>45</c:v>
                </c:pt>
                <c:pt idx="9">
                  <c:v>27</c:v>
                </c:pt>
                <c:pt idx="10">
                  <c:v>40</c:v>
                </c:pt>
                <c:pt idx="11">
                  <c:v>37</c:v>
                </c:pt>
                <c:pt idx="12">
                  <c:v>45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16-18%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10</c:v>
                </c:pt>
                <c:pt idx="1">
                  <c:v>7</c:v>
                </c:pt>
                <c:pt idx="2">
                  <c:v>10</c:v>
                </c:pt>
                <c:pt idx="3">
                  <c:v>16</c:v>
                </c:pt>
                <c:pt idx="4">
                  <c:v>15</c:v>
                </c:pt>
                <c:pt idx="5">
                  <c:v>25</c:v>
                </c:pt>
                <c:pt idx="6">
                  <c:v>24</c:v>
                </c:pt>
                <c:pt idx="7">
                  <c:v>33</c:v>
                </c:pt>
                <c:pt idx="8">
                  <c:v>40</c:v>
                </c:pt>
                <c:pt idx="9">
                  <c:v>35</c:v>
                </c:pt>
                <c:pt idx="10">
                  <c:v>30</c:v>
                </c:pt>
                <c:pt idx="11">
                  <c:v>53</c:v>
                </c:pt>
                <c:pt idx="12">
                  <c:v>47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18-20%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10</c:v>
                </c:pt>
                <c:pt idx="1">
                  <c:v>18</c:v>
                </c:pt>
                <c:pt idx="2">
                  <c:v>6</c:v>
                </c:pt>
                <c:pt idx="3">
                  <c:v>19</c:v>
                </c:pt>
                <c:pt idx="4">
                  <c:v>20</c:v>
                </c:pt>
                <c:pt idx="5">
                  <c:v>26</c:v>
                </c:pt>
                <c:pt idx="6">
                  <c:v>19</c:v>
                </c:pt>
                <c:pt idx="7">
                  <c:v>32</c:v>
                </c:pt>
                <c:pt idx="8">
                  <c:v>31</c:v>
                </c:pt>
                <c:pt idx="9">
                  <c:v>25</c:v>
                </c:pt>
                <c:pt idx="10">
                  <c:v>31</c:v>
                </c:pt>
                <c:pt idx="11">
                  <c:v>26</c:v>
                </c:pt>
                <c:pt idx="12">
                  <c:v>28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20-25%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14</c:v>
                </c:pt>
                <c:pt idx="1">
                  <c:v>12</c:v>
                </c:pt>
                <c:pt idx="2">
                  <c:v>14</c:v>
                </c:pt>
                <c:pt idx="3">
                  <c:v>14</c:v>
                </c:pt>
                <c:pt idx="4">
                  <c:v>21</c:v>
                </c:pt>
                <c:pt idx="5">
                  <c:v>11</c:v>
                </c:pt>
                <c:pt idx="6">
                  <c:v>10</c:v>
                </c:pt>
                <c:pt idx="7">
                  <c:v>18</c:v>
                </c:pt>
                <c:pt idx="8">
                  <c:v>14</c:v>
                </c:pt>
                <c:pt idx="9">
                  <c:v>28</c:v>
                </c:pt>
                <c:pt idx="10">
                  <c:v>18</c:v>
                </c:pt>
                <c:pt idx="11">
                  <c:v>17</c:v>
                </c:pt>
                <c:pt idx="12">
                  <c:v>17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≥25%</c:v>
                </c:pt>
              </c:strCache>
            </c:strRef>
          </c:tx>
          <c:spPr>
            <a:solidFill>
              <a:srgbClr val="7ED9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Sheet1!$G$2:$G$14</c:f>
              <c:numCache>
                <c:formatCode>General</c:formatCode>
                <c:ptCount val="13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3</c:v>
                </c:pt>
                <c:pt idx="7">
                  <c:v>3</c:v>
                </c:pt>
                <c:pt idx="8">
                  <c:v>4</c:v>
                </c:pt>
                <c:pt idx="9">
                  <c:v>0</c:v>
                </c:pt>
                <c:pt idx="10">
                  <c:v>2</c:v>
                </c:pt>
                <c:pt idx="11">
                  <c:v>7</c:v>
                </c:pt>
                <c:pt idx="1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 funnel · gestionado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12</c:v>
                </c:pt>
                <c:pt idx="1">
                  <c:v>12</c:v>
                </c:pt>
                <c:pt idx="2">
                  <c:v>8</c:v>
                </c:pt>
                <c:pt idx="3">
                  <c:v>10</c:v>
                </c:pt>
                <c:pt idx="4">
                  <c:v>18</c:v>
                </c:pt>
                <c:pt idx="5">
                  <c:v>28</c:v>
                </c:pt>
                <c:pt idx="6">
                  <c:v>28</c:v>
                </c:pt>
                <c:pt idx="7">
                  <c:v>44</c:v>
                </c:pt>
                <c:pt idx="8">
                  <c:v>52</c:v>
                </c:pt>
                <c:pt idx="9">
                  <c:v>45</c:v>
                </c:pt>
                <c:pt idx="10">
                  <c:v>48</c:v>
                </c:pt>
                <c:pt idx="11">
                  <c:v>65</c:v>
                </c:pt>
                <c:pt idx="12">
                  <c:v>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 funnel · no gestionado</c:v>
                </c:pt>
              </c:strCache>
            </c:strRef>
          </c:tx>
          <c:spPr>
            <a:solidFill>
              <a:srgbClr val="C431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19</c:v>
                </c:pt>
                <c:pt idx="1">
                  <c:v>15</c:v>
                </c:pt>
                <c:pt idx="2">
                  <c:v>15</c:v>
                </c:pt>
                <c:pt idx="3">
                  <c:v>33</c:v>
                </c:pt>
                <c:pt idx="4">
                  <c:v>32</c:v>
                </c:pt>
                <c:pt idx="5">
                  <c:v>37</c:v>
                </c:pt>
                <c:pt idx="6">
                  <c:v>44</c:v>
                </c:pt>
                <c:pt idx="7">
                  <c:v>57</c:v>
                </c:pt>
                <c:pt idx="8">
                  <c:v>57</c:v>
                </c:pt>
                <c:pt idx="9">
                  <c:v>58</c:v>
                </c:pt>
                <c:pt idx="10">
                  <c:v>64</c:v>
                </c:pt>
                <c:pt idx="11">
                  <c:v>53</c:v>
                </c:pt>
                <c:pt idx="12">
                  <c:v>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Fuera de funnel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26</c:v>
                </c:pt>
                <c:pt idx="1">
                  <c:v>29</c:v>
                </c:pt>
                <c:pt idx="2">
                  <c:v>34</c:v>
                </c:pt>
                <c:pt idx="3">
                  <c:v>28</c:v>
                </c:pt>
                <c:pt idx="4">
                  <c:v>34</c:v>
                </c:pt>
                <c:pt idx="5">
                  <c:v>36</c:v>
                </c:pt>
                <c:pt idx="6">
                  <c:v>27</c:v>
                </c:pt>
                <c:pt idx="7">
                  <c:v>45</c:v>
                </c:pt>
                <c:pt idx="8">
                  <c:v>32</c:v>
                </c:pt>
                <c:pt idx="9">
                  <c:v>18</c:v>
                </c:pt>
                <c:pt idx="10">
                  <c:v>15</c:v>
                </c:pt>
                <c:pt idx="11">
                  <c:v>28</c:v>
                </c:pt>
                <c:pt idx="12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24</c:v>
                </c:pt>
                <c:pt idx="1">
                  <c:v>23</c:v>
                </c:pt>
                <c:pt idx="2">
                  <c:v>22</c:v>
                </c:pt>
                <c:pt idx="3">
                  <c:v>39</c:v>
                </c:pt>
                <c:pt idx="4">
                  <c:v>43</c:v>
                </c:pt>
                <c:pt idx="5">
                  <c:v>52</c:v>
                </c:pt>
                <c:pt idx="6">
                  <c:v>52</c:v>
                </c:pt>
                <c:pt idx="7">
                  <c:v>88</c:v>
                </c:pt>
                <c:pt idx="8">
                  <c:v>98</c:v>
                </c:pt>
                <c:pt idx="9">
                  <c:v>92</c:v>
                </c:pt>
                <c:pt idx="10">
                  <c:v>100</c:v>
                </c:pt>
                <c:pt idx="11">
                  <c:v>27</c:v>
                </c:pt>
                <c:pt idx="12">
                  <c:v>108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6</c:v>
                </c:pt>
                <c:pt idx="1">
                  <c:v>4</c:v>
                </c:pt>
                <c:pt idx="2">
                  <c:v>1</c:v>
                </c:pt>
                <c:pt idx="3">
                  <c:v>4</c:v>
                </c:pt>
                <c:pt idx="4">
                  <c:v>5</c:v>
                </c:pt>
                <c:pt idx="5">
                  <c:v>9</c:v>
                </c:pt>
                <c:pt idx="6">
                  <c:v>15</c:v>
                </c:pt>
                <c:pt idx="7">
                  <c:v>12</c:v>
                </c:pt>
                <c:pt idx="8">
                  <c:v>11</c:v>
                </c:pt>
                <c:pt idx="9">
                  <c:v>11</c:v>
                </c:pt>
                <c:pt idx="10">
                  <c:v>12</c:v>
                </c:pt>
                <c:pt idx="11">
                  <c:v>2</c:v>
                </c:pt>
                <c:pt idx="12">
                  <c:v>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  <c:pt idx="5">
                  <c:v>4</c:v>
                </c:pt>
                <c:pt idx="6">
                  <c:v>3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P4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P5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88</c:v>
                </c:pt>
                <c:pt idx="1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TIENDAS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4.65</c:v>
                </c:pt>
                <c:pt idx="1">
                  <c:v>3.12</c:v>
                </c:pt>
                <c:pt idx="2">
                  <c:v>2.85</c:v>
                </c:pt>
                <c:pt idx="3">
                  <c:v>4.51</c:v>
                </c:pt>
                <c:pt idx="4">
                  <c:v>5.41</c:v>
                </c:pt>
                <c:pt idx="5">
                  <c:v>7.42</c:v>
                </c:pt>
                <c:pt idx="6">
                  <c:v>4.38</c:v>
                </c:pt>
                <c:pt idx="7">
                  <c:v>9.13</c:v>
                </c:pt>
                <c:pt idx="8">
                  <c:v>8.11</c:v>
                </c:pt>
                <c:pt idx="9">
                  <c:v>5.24</c:v>
                </c:pt>
                <c:pt idx="10">
                  <c:v>6.76</c:v>
                </c:pt>
                <c:pt idx="11">
                  <c:v>10.15</c:v>
                </c:pt>
                <c:pt idx="12">
                  <c:v>11.57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TLV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0.85</c:v>
                </c:pt>
                <c:pt idx="1">
                  <c:v>1.4</c:v>
                </c:pt>
                <c:pt idx="2">
                  <c:v>2.21</c:v>
                </c:pt>
                <c:pt idx="3">
                  <c:v>2.4</c:v>
                </c:pt>
                <c:pt idx="4">
                  <c:v>3.29</c:v>
                </c:pt>
                <c:pt idx="5">
                  <c:v>4.27</c:v>
                </c:pt>
                <c:pt idx="6">
                  <c:v>5.21</c:v>
                </c:pt>
                <c:pt idx="7">
                  <c:v>5.33</c:v>
                </c:pt>
                <c:pt idx="8">
                  <c:v>6.86</c:v>
                </c:pt>
                <c:pt idx="9">
                  <c:v>5.84</c:v>
                </c:pt>
                <c:pt idx="10">
                  <c:v>5.75</c:v>
                </c:pt>
                <c:pt idx="11">
                  <c:v>5.61</c:v>
                </c:pt>
                <c:pt idx="12">
                  <c:v>6.66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TIENDAS VIRTUALES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0.58</c:v>
                </c:pt>
                <c:pt idx="5">
                  <c:v>0.34</c:v>
                </c:pt>
                <c:pt idx="6">
                  <c:v>0.22</c:v>
                </c:pt>
                <c:pt idx="7">
                  <c:v>1.06</c:v>
                </c:pt>
                <c:pt idx="8">
                  <c:v>1.54</c:v>
                </c:pt>
                <c:pt idx="9">
                  <c:v>0.95</c:v>
                </c:pt>
                <c:pt idx="10">
                  <c:v>1.73</c:v>
                </c:pt>
                <c:pt idx="11">
                  <c:v>1.31</c:v>
                </c:pt>
                <c:pt idx="12">
                  <c:v>0.58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VENDORS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0</c:v>
                </c:pt>
                <c:pt idx="1">
                  <c:v>0.53</c:v>
                </c:pt>
                <c:pt idx="2">
                  <c:v>0.41</c:v>
                </c:pt>
                <c:pt idx="3">
                  <c:v>0.85</c:v>
                </c:pt>
                <c:pt idx="4">
                  <c:v>0.32</c:v>
                </c:pt>
                <c:pt idx="5">
                  <c:v>0.37</c:v>
                </c:pt>
                <c:pt idx="6">
                  <c:v>0.34</c:v>
                </c:pt>
                <c:pt idx="7">
                  <c:v>1.67</c:v>
                </c:pt>
                <c:pt idx="8">
                  <c:v>1.21</c:v>
                </c:pt>
                <c:pt idx="9">
                  <c:v>3.52</c:v>
                </c:pt>
                <c:pt idx="10">
                  <c:v>1.66</c:v>
                </c:pt>
                <c:pt idx="11">
                  <c:v>1.73</c:v>
                </c:pt>
                <c:pt idx="12">
                  <c:v>2.27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ECOSISTEMAS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0.12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Tiendas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2.79</c:v>
                </c:pt>
                <c:pt idx="1">
                  <c:v>2.06</c:v>
                </c:pt>
                <c:pt idx="2">
                  <c:v>1.09</c:v>
                </c:pt>
                <c:pt idx="3">
                  <c:v>2.34</c:v>
                </c:pt>
                <c:pt idx="4">
                  <c:v>3.04</c:v>
                </c:pt>
                <c:pt idx="5">
                  <c:v>4.74</c:v>
                </c:pt>
                <c:pt idx="6">
                  <c:v>3.39</c:v>
                </c:pt>
                <c:pt idx="7">
                  <c:v>6.97</c:v>
                </c:pt>
                <c:pt idx="8">
                  <c:v>5.37</c:v>
                </c:pt>
                <c:pt idx="9">
                  <c:v>6.44</c:v>
                </c:pt>
                <c:pt idx="10">
                  <c:v>6.61</c:v>
                </c:pt>
                <c:pt idx="11">
                  <c:v>9.01</c:v>
                </c:pt>
                <c:pt idx="12">
                  <c:v>10.73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Tiendas Virtuales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0.53</c:v>
                </c:pt>
                <c:pt idx="3">
                  <c:v>1.36</c:v>
                </c:pt>
                <c:pt idx="4">
                  <c:v>1.47</c:v>
                </c:pt>
                <c:pt idx="5">
                  <c:v>1.86</c:v>
                </c:pt>
                <c:pt idx="6">
                  <c:v>2.21</c:v>
                </c:pt>
                <c:pt idx="7">
                  <c:v>2.28</c:v>
                </c:pt>
                <c:pt idx="8">
                  <c:v>4.36</c:v>
                </c:pt>
                <c:pt idx="9">
                  <c:v>3.43</c:v>
                </c:pt>
                <c:pt idx="10">
                  <c:v>3.03</c:v>
                </c:pt>
                <c:pt idx="11">
                  <c:v>0.63</c:v>
                </c:pt>
                <c:pt idx="12">
                  <c:v>1.16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Televentas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0.05</c:v>
                </c:pt>
                <c:pt idx="1">
                  <c:v>0.26</c:v>
                </c:pt>
                <c:pt idx="2">
                  <c:v>0.11</c:v>
                </c:pt>
                <c:pt idx="3">
                  <c:v>0.12</c:v>
                </c:pt>
                <c:pt idx="4">
                  <c:v>0.32</c:v>
                </c:pt>
                <c:pt idx="5">
                  <c:v>0.28</c:v>
                </c:pt>
                <c:pt idx="6">
                  <c:v>0.3</c:v>
                </c:pt>
                <c:pt idx="7">
                  <c:v>0.13</c:v>
                </c:pt>
                <c:pt idx="8">
                  <c:v>0.38</c:v>
                </c:pt>
                <c:pt idx="9">
                  <c:v>0.53</c:v>
                </c:pt>
                <c:pt idx="10">
                  <c:v>0.38</c:v>
                </c:pt>
                <c:pt idx="11">
                  <c:v>0.51</c:v>
                </c:pt>
                <c:pt idx="12">
                  <c:v>0.5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Fuera de funnel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1.37</c:v>
                </c:pt>
                <c:pt idx="1">
                  <c:v>1.87</c:v>
                </c:pt>
                <c:pt idx="2">
                  <c:v>2.56</c:v>
                </c:pt>
                <c:pt idx="3">
                  <c:v>1.97</c:v>
                </c:pt>
                <c:pt idx="4">
                  <c:v>2</c:v>
                </c:pt>
                <c:pt idx="5">
                  <c:v>2.63</c:v>
                </c:pt>
                <c:pt idx="6">
                  <c:v>1.9</c:v>
                </c:pt>
                <c:pt idx="7">
                  <c:v>3.47</c:v>
                </c:pt>
                <c:pt idx="8">
                  <c:v>2.36</c:v>
                </c:pt>
                <c:pt idx="9">
                  <c:v>1.14</c:v>
                </c:pt>
                <c:pt idx="10">
                  <c:v>1.05</c:v>
                </c:pt>
                <c:pt idx="11">
                  <c:v>1.73</c:v>
                </c:pt>
                <c:pt idx="12">
                  <c:v>2.03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Cartera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4.31</c:v>
                </c:pt>
                <c:pt idx="5">
                  <c:v>6.6</c:v>
                </c:pt>
                <c:pt idx="6">
                  <c:v>5.33</c:v>
                </c:pt>
                <c:pt idx="7">
                  <c:v>8.58</c:v>
                </c:pt>
                <c:pt idx="8">
                  <c:v>9.45</c:v>
                </c:pt>
                <c:pt idx="9">
                  <c:v>8.69</c:v>
                </c:pt>
                <c:pt idx="10">
                  <c:v>9.43</c:v>
                </c:pt>
                <c:pt idx="11">
                  <c:v>8.4</c:v>
                </c:pt>
                <c:pt idx="12">
                  <c:v>10.84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carterizado</c:v>
                </c:pt>
              </c:strCache>
            </c:strRef>
          </c:tx>
          <c:spPr>
            <a:solidFill>
              <a:srgbClr val="C4314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4.22</c:v>
                </c:pt>
                <c:pt idx="1">
                  <c:v>4.18</c:v>
                </c:pt>
                <c:pt idx="2">
                  <c:v>4.29</c:v>
                </c:pt>
                <c:pt idx="3">
                  <c:v>5.78</c:v>
                </c:pt>
                <c:pt idx="4">
                  <c:v>2.52</c:v>
                </c:pt>
                <c:pt idx="5">
                  <c:v>2.91</c:v>
                </c:pt>
                <c:pt idx="6">
                  <c:v>2.47</c:v>
                </c:pt>
                <c:pt idx="7">
                  <c:v>4.27</c:v>
                </c:pt>
                <c:pt idx="8">
                  <c:v>3.02</c:v>
                </c:pt>
                <c:pt idx="9">
                  <c:v>2.84</c:v>
                </c:pt>
                <c:pt idx="10">
                  <c:v>1.64</c:v>
                </c:pt>
                <c:pt idx="11">
                  <c:v>3.49</c:v>
                </c:pt>
                <c:pt idx="12">
                  <c:v>3.57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chart" Target="/ppt/charts/chart1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chart" Target="/ppt/charts/chart1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chart" Target="/ppt/charts/chart1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chart" Target="/ppt/charts/chart1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chart" Target="/ppt/charts/chart2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chart" Target="/ppt/charts/chart2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chart" Target="/ppt/charts/chart2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chart" Target="/ppt/charts/chart2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5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206240" cy="4206240"/>
          </a:xfrm>
          <a:prstGeom prst="ellipse">
            <a:avLst/>
          </a:prstGeom>
          <a:solidFill>
            <a:srgbClr val="005F1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291840" cy="3291840"/>
          </a:xfrm>
          <a:prstGeom prst="ellipse">
            <a:avLst/>
          </a:prstGeom>
          <a:solidFill>
            <a:srgbClr val="00BE5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6FF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NBC EMPRESAS · BANCA NEGOCIO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de Fuga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6FF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comprados por otra entidad financiera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Periodo de compra: Feb-2025 a Feb-2026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1,357 créditos · S/ 116.8 MM de saldo fugado · Fuente: DATA_FUGA.xlsx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RESUMEN EJECUTIVO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no es un problema de detección, es de ejecución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1,357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fugados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0712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02152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116.8 MM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502152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fugado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72784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64224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72%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364224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estaba en el funnel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34856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26296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431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437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9226296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carterizados sin gestión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F7FAFC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3611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Llamado a la acción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114800"/>
            <a:ext cx="10424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de cada 10 créditos fugados estaban en el funnel comercial, pero solo el 43% recibió gestión: activar contacto sobre lo identificado.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47% del volumen (S/100k–500k) explica ~70% del saldo perdido: priorizar por saldo, no por número de casos.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mensual se multiplicó por 2.6 en un año: fijar meta de retención y monitoreo mensual.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Más de la mitad del saldo fugado eran clientes carterizados: cerrar el lazo entre prioridad y gestión.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HALLAZGOS PRIORIZADOS POR IMPACTO EN RETENCIÓN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Seis lecturas que ordenan el plan de acción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01952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9385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" y="2560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Solo gestionamos al 43% de los que estaban en el funnel; 437 carterizados se fugaron sin contacto.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1645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3712" y="1901952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85232" y="19385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560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47% de los créditos (S/100k–500k) concentra ~70% del saldo fugado.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1584" y="1645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0184" y="1901952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17" name="Text 15"/>
          <p:cNvSpPr/>
          <p:nvPr/>
        </p:nvSpPr>
        <p:spPr>
          <a:xfrm>
            <a:off x="833018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61704" y="19385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TENDENCIA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48472" y="2560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mensual se multiplicó por 2.6 en un año; tendencia sostenida.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630168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886200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39227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5528" y="454456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Casi 1 de cada 5 se fugó con tasa ≥20%: sensibles a recompra por precio.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25112" y="3630168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53712" y="3886200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27" name="Text 25"/>
          <p:cNvSpPr/>
          <p:nvPr/>
        </p:nvSpPr>
        <p:spPr>
          <a:xfrm>
            <a:off x="4553712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85232" y="39227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TIEMPO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0" y="454456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Dos relojes: Tiendas/TLV ~9 meses; Vendors/T. Virtuales ~2–5 meses.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01584" y="3630168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30184" y="3886200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32" name="Text 30"/>
          <p:cNvSpPr/>
          <p:nvPr/>
        </p:nvSpPr>
        <p:spPr>
          <a:xfrm>
            <a:off x="8330184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61704" y="39227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48472" y="454456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mayoría de fugados en funnel eran P1: el modelo ya los marcaba.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1 · PERFIL DE LA COLOCACIÓN FUGADA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se acelera: de 57 a 151 créditos al mes en un año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fugados por mes de compra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fugado por mes (S/ MM)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1 · PERFIL DE LA COLOCACIÓN FUGADA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 concentra el saldo fugado: foco de retención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por canal de desembolso (CANAL_FINAL)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fugado por canal de desembolso (S/ MM)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1 · PERFIL DE LA COLOCACIÓN FUGADA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Vendors y T. Virtuales se fugan temprano: anticipar el contacto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Antigüedad promedio por canal (meses)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Campañas de origen (CAMPANA_BASE) — Top 8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RANGOS DE MONTO, SALDO Y TASA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valor está en montos altos y tasas elevadas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Rango de monto desembolsado (S/)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Rango de tasa de desembolso (%)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RANGOS DE MONTO, SALDO Y TASA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70% del saldo fugado está en créditos de S/100k–500k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9037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Rango de saldo fugado (S/) — créditos (barras) y saldo (línea)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664768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635240" y="1691640"/>
            <a:ext cx="3977640" cy="425196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0" y="1901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Lectura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63840" y="233172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~70%</a:t>
            </a:r>
            <a:endParaRPr lang="en-US" sz="24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 saldo fugado está en créditos de S/100k–500k</a:t>
            </a:r>
            <a:endParaRPr lang="en-US" sz="24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C431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18%</a:t>
            </a:r>
            <a:endParaRPr lang="en-US" sz="24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la fuga ocurre en tasas ≥20%, perfil sensible a recompra por precio</a:t>
            </a:r>
            <a:endParaRPr lang="en-US" sz="24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50–100k</a:t>
            </a:r>
            <a:endParaRPr lang="en-US" sz="24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 el rango con más créditos fugados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2 · PERFIL EN EL FUNNEL COMERCIAL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Llegamos a tenerlos en el funnel, pero la gestión cae al 43%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Cobertura y gestión por mes (%)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 en funnel y % gestionado de los que estaban en funnel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58368" y="2542032"/>
          <a:ext cx="5230368" cy="33284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Embudo de oportunidad perdida</a:t>
            </a:r>
            <a:endParaRPr lang="en-US" sz="12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2 · PERFIL EN EL FUNNEL COMERCIAL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es P1 y de Tiendas: el modelo ya los priorizaba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Prioridad final (PRIORIDAD_GRUPO_FINAL)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Canal del funnel (ID_CANAL)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Tiendas · 2 Tiendas Virtuales · 3 Televentas</a:t>
            </a:r>
            <a:endParaRPr lang="en-US" sz="9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281928" y="2542032"/>
          <a:ext cx="5184648" cy="33284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2 · PERFIL EN EL FUNNEL COMERCIAL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Pocos supervisores concentran la fuga gestionable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Campañas del funnel (CAMPANHA_FUNNEL) — Top 6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Supervisores con más fuga (en funnel) — Top 7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2 · CAMPAÑAS DEL FUNNEL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'Gestión Cartera' concentra la fuga y solo se gestionó al 12%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fugados por tipo de campaña (CAMPANHA_FUNNEL)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 gestionado por tipo de campaña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campaña de mayor fuga es la que menos se gestionó</a:t>
            </a:r>
            <a:endParaRPr lang="en-US" sz="9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281928" y="2542032"/>
          <a:ext cx="5184648" cy="33284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2 · PERFIL EN EL FUNNEL COMERCIAL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437 clientes carterizados se fugaron sin gestión registrada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74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los clientes que estaban en el funnel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22585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Gestionado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050792" y="22585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gestionado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Cartera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4325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cart.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03120" y="2514600"/>
            <a:ext cx="1783080" cy="1188720"/>
          </a:xfrm>
          <a:prstGeom prst="roundRect">
            <a:avLst>
              <a:gd name="adj" fmla="val 4615"/>
            </a:avLst>
          </a:prstGeom>
          <a:solidFill>
            <a:srgbClr val="00BE50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266090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299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2194560" y="32644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cart. gestionado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50792" y="2514600"/>
            <a:ext cx="1783080" cy="1188720"/>
          </a:xfrm>
          <a:prstGeom prst="roundRect">
            <a:avLst>
              <a:gd name="adj" fmla="val 4615"/>
            </a:avLst>
          </a:prstGeom>
          <a:solidFill>
            <a:srgbClr val="C4314B"/>
          </a:solidFill>
          <a:ln/>
        </p:spPr>
      </p:sp>
      <p:sp>
        <p:nvSpPr>
          <p:cNvPr id="15" name="Text 13"/>
          <p:cNvSpPr/>
          <p:nvPr/>
        </p:nvSpPr>
        <p:spPr>
          <a:xfrm>
            <a:off x="4050792" y="266090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437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4142232" y="32644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cart. SIN gestión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03120" y="3867912"/>
            <a:ext cx="1783080" cy="1188720"/>
          </a:xfrm>
          <a:prstGeom prst="roundRect">
            <a:avLst>
              <a:gd name="adj" fmla="val 4615"/>
            </a:avLst>
          </a:prstGeom>
          <a:solidFill>
            <a:srgbClr val="1F4592"/>
          </a:solidFill>
          <a:ln/>
        </p:spPr>
      </p:sp>
      <p:sp>
        <p:nvSpPr>
          <p:cNvPr id="18" name="Text 16"/>
          <p:cNvSpPr/>
          <p:nvPr/>
        </p:nvSpPr>
        <p:spPr>
          <a:xfrm>
            <a:off x="2103120" y="401421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2194560" y="4617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cart. gestionado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50792" y="3867912"/>
            <a:ext cx="1783080" cy="1188720"/>
          </a:xfrm>
          <a:prstGeom prst="roundRect">
            <a:avLst>
              <a:gd name="adj" fmla="val 4615"/>
            </a:avLst>
          </a:prstGeom>
          <a:solidFill>
            <a:srgbClr val="A0AEC0"/>
          </a:solidFill>
          <a:ln/>
        </p:spPr>
      </p:sp>
      <p:sp>
        <p:nvSpPr>
          <p:cNvPr id="21" name="Text 19"/>
          <p:cNvSpPr/>
          <p:nvPr/>
        </p:nvSpPr>
        <p:spPr>
          <a:xfrm>
            <a:off x="4050792" y="401421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118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4142232" y="4617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cart. sin gestión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Estado de gestión de los fugados</a:t>
            </a:r>
            <a:endParaRPr lang="en-US" sz="12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COMPOSICIÓN POR PERIODO · BARRAS APILADAS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 y TLV sostienen el crecimiento de la fuga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por canal de desembolso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fugado por canal de desembolso (S/ MM)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COMPOSICIÓN POR PERIODO · BARRAS APILADAS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mix por monto y tasa se mantiene estable mes a mes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por rango de monto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por rango de tasa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COMPOSICIÓN POR PERIODO · BARRAS APILADAS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gap de gestión crece: cada mes más clientes sin contacto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Estado de gestión en el funnel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por prioridad final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COMPOSICIÓN POR PERIODO · BARRAS APILADAS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monto fugado se concentra en Tiendas (S/83 MM) y TLV (S/56 MM)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9037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Monto desembolsado por canal de desembolso — CANAL_FINAL (S/ MM)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664768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635240" y="1691640"/>
            <a:ext cx="3977640" cy="425196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0" y="1901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Concentración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63840" y="2359152"/>
            <a:ext cx="3566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83.3 MM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55.7 MM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TLV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14.9 MM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8.3 MM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 Virtuales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DE FUGA · CANAL DE GESTIÓN Y CARTERA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Más de la mitad del saldo fugado eran clientes carterizados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por canal de gestión — ID_CANAL (S/ MM)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Saldo: cartera vs no carterizado (S/ MM)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45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5F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LOS HALLAZGOS A LA ACCIÓN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Tres movimientos que atacan el 70% del saldo en riesgo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640080" cy="640080"/>
          </a:xfrm>
          <a:prstGeom prst="ellipse">
            <a:avLst/>
          </a:prstGeom>
          <a:solidFill>
            <a:srgbClr val="00BE5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2860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Activar gestión sobre lo identificado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7157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Contacto obligatorio y trazable sobre P1 carterizado en el funnel — es el 72% del universo y hoy la mayoría no se gestiona.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630168"/>
            <a:ext cx="640080" cy="640080"/>
          </a:xfrm>
          <a:prstGeom prst="ellipse">
            <a:avLst/>
          </a:prstGeom>
          <a:solidFill>
            <a:srgbClr val="00BE5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30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358444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Priorizar por saldo, no por volumen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00200" y="401421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Alertas tempranas en créditos de S/100k–500k y en la cola de tasa ≥20%, donde se concentra el valor perdido.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928616"/>
            <a:ext cx="640080" cy="640080"/>
          </a:xfrm>
          <a:prstGeom prst="ellipse">
            <a:avLst/>
          </a:prstGeom>
          <a:solidFill>
            <a:srgbClr val="00BE5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9286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488289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Diferenciar por canal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00200" y="531266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Contacto temprano en Vendors y Tiendas Virtuales; seguimiento sostenido en Tiendas y TLV, que concentran el 84% del saldo.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0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Fuga</dc:title>
  <dc:subject>PptxGenJS Presentation</dc:subject>
  <dc:creator>NBC Empresas</dc:creator>
  <cp:lastModifiedBy>NBC Empresas</cp:lastModifiedBy>
  <cp:revision>1</cp:revision>
  <dcterms:created xsi:type="dcterms:W3CDTF">2026-06-10T20:12:43Z</dcterms:created>
  <dcterms:modified xsi:type="dcterms:W3CDTF">2026-06-10T20:12:43Z</dcterms:modified>
</cp:coreProperties>
</file>