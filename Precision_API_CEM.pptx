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Precisión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FFB800"/>
              </a:solidFill>
              <a:effectLst/>
            </c:spPr>
          </c:dPt>
          <c:dPt>
            <c:idx val="2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OK ≤2%</c:v>
                </c:pt>
                <c:pt idx="1">
                  <c:v>DIFF 2-10%</c:v>
                </c:pt>
                <c:pt idx="2">
                  <c:v>DIFF &gt;10%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184</c:v>
                </c:pt>
                <c:pt idx="1">
                  <c:v>20</c:v>
                </c:pt>
                <c:pt idx="2">
                  <c:v>76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≤ S/100</c:v>
                  </c:pt>
                  <c:pt idx="1">
                    <c:v>S/100–500</c:v>
                  </c:pt>
                  <c:pt idx="2">
                    <c:v>S/500–1K</c:v>
                  </c:pt>
                  <c:pt idx="3">
                    <c:v>S/1K–2K</c:v>
                  </c:pt>
                  <c:pt idx="4">
                    <c:v>S/2K–5K</c:v>
                  </c:pt>
                  <c:pt idx="5">
                    <c:v>S/5K–10K</c:v>
                  </c:pt>
                  <c:pt idx="6">
                    <c:v>&gt;S/10K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48</c:v>
                </c:pt>
                <c:pt idx="2">
                  <c:v>31</c:v>
                </c:pt>
                <c:pt idx="3">
                  <c:v>33</c:v>
                </c:pt>
                <c:pt idx="4">
                  <c:v>55</c:v>
                </c:pt>
                <c:pt idx="5">
                  <c:v>33</c:v>
                </c:pt>
                <c:pt idx="6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A30">
              <a:alpha val="40000"/>
            </a:srgbClr>
          </a:solidFill>
          <a:ln w="12700">
            <a:solidFill>
              <a:srgbClr val="00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04A18">
              <a:alpha val="40000"/>
            </a:srgbClr>
          </a:solidFill>
          <a:ln w="12700">
            <a:solidFill>
              <a:srgbClr val="004A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F1E"/>
                </a:solidFill>
              </a:rPr>
              <a:t>INTERBANK  NBC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Precisión del API CEM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6FFD0"/>
                </a:solidFill>
              </a:rPr>
              <a:t>Análisis de resultados sobre 280 casos de validación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7A30">
              <a:alpha val="70000"/>
            </a:srgbClr>
          </a:solidFill>
          <a:ln w="12700">
            <a:solidFill>
              <a:srgbClr val="009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E50"/>
                </a:solidFill>
              </a:rPr>
              <a:t>280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Casos validados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2004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7A30">
              <a:alpha val="70000"/>
            </a:srgbClr>
          </a:solidFill>
          <a:ln w="12700">
            <a:solidFill>
              <a:srgbClr val="009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E50"/>
                </a:solidFill>
              </a:rPr>
              <a:t>65.7%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Precisión ≤ 2%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7A30">
              <a:alpha val="70000"/>
            </a:srgbClr>
          </a:solidFill>
          <a:ln w="12700">
            <a:solidFill>
              <a:srgbClr val="009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E50"/>
                </a:solidFill>
              </a:rPr>
              <a:t>S/ 3,478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Diff. GF promedio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2004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07A30">
              <a:alpha val="70000"/>
            </a:srgbClr>
          </a:solidFill>
          <a:ln w="12700">
            <a:solidFill>
              <a:srgbClr val="009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E50"/>
                </a:solidFill>
              </a:rPr>
              <a:t>94.3%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FI coincide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896"/>
                </a:solidFill>
              </a:rPr>
              <a:t>Junio 2026  |  Interbank · Banca Negocio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F1E"/>
          </a:solidFill>
          <a:ln w="12700">
            <a:solidFill>
              <a:srgbClr val="005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Precisión global del API CEM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FFD0"/>
                </a:solidFill>
              </a:rPr>
              <a:t>Fórmula: VPA × FI × Margen − GF − GFam  |  280 casos  |  Periodos 202605–202606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BE50"/>
                </a:solidFill>
              </a:rPr>
              <a:t>65.7%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de los casos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calcula correctamente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(Δ ≤ 2%)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0" y="1005840"/>
          <a:ext cx="2743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Por tolerancia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246888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 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45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7947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2F8F4"/>
          </a:solidFill>
          <a:ln w="12700">
            <a:solidFill>
              <a:srgbClr val="C6FF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Mediana de diferencia: 0.00%  —  El 61% de casos es exacto. La media alta (35.7%) se debe a 96 casos atípicos con NVE distinto.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592"/>
          </a:solidFill>
          <a:ln w="12700">
            <a:solidFill>
              <a:srgbClr val="1F45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Causa raíz del 34% con diferencia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AEF"/>
                </a:solidFill>
              </a:rPr>
              <a:t>Diagnóstico de los 96 casos con Δ &gt; 2%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Causa principal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El Excel aplica NVE = max(VPA × FI, VM)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API solo calcula: </a:t>
            </a:r>
            <a:pPr indent="0" marL="0">
              <a:buNone/>
            </a:pPr>
            <a:r>
              <a:rPr lang="en-US" sz="1100" b="1" dirty="0">
                <a:solidFill>
                  <a:srgbClr val="1F4592"/>
                </a:solidFill>
              </a:rPr>
              <a:t>VPA × FI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Excel usa la Venta Manifestada (VM) como tope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cuando VM &gt; VPA × FI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9B1C1C"/>
                </a:solidFill>
              </a:rPr>
              <a:t>96 casos — 80% del total con DIFF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2F8F4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5F1E"/>
                </a:solidFill>
              </a:rPr>
              <a:t>Solución: recibir Venta Manifestada en el API y aplicar max(VPA × FI, VM)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05156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143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Causa secundaria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1417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FI nueva tabla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≠ FI Excel 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2084832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0848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16 casos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16.7%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269748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697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3.8x → 2.0x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269748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697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2.4x → 1.1x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3081528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081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6.3x → 4.1x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3081528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081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10.0x → 6.6x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3465576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34655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6.3x → 2.5x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3465576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34655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3.8x → 1.5x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Ambas causas son corregibles — la principal requiere un campo adicional de entrada en el API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F1E"/>
          </a:solidFill>
          <a:ln w="12700">
            <a:solidFill>
              <a:srgbClr val="005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Diferencia en Gasto Financiero (GF)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FFD0"/>
                </a:solidFill>
              </a:rPr>
              <a:t>GF declarado por ejecutivo vs cuota_sf de la BD  |  259 casos con match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592"/>
                </a:solidFill>
              </a:rPr>
              <a:t>S/ 3,478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Diferencia media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GF Excel &gt; BD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F1E"/>
                </a:solidFill>
              </a:rPr>
              <a:t>S/ 1,349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Diferencia mediana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(más representativa)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S/ 94,949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Diferencia máxima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observada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Distribución de diferencia absoluta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297180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48640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Impacto en precisión del CEM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971800"/>
          <a:ext cx="3383280" cy="118872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GF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≤2%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 Excel (ejecutivo)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cuota_sf 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486400" y="42519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2F8F4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4251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F1E"/>
                </a:solidFill>
              </a:rPr>
              <a:t>El ejecutivo debe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5F1E"/>
                </a:solidFill>
              </a:rPr>
              <a:t>siempre declarar el GF real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592"/>
          </a:solidFill>
          <a:ln w="12700">
            <a:solidFill>
              <a:srgbClr val="1F45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Factor de Informalidad (FI) — Tabla actualizada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CAEF"/>
                </a:solidFill>
              </a:rPr>
              <a:t>Nueva tabla FI aplicada en el API  vs  tabla original del Excel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F2F8F4"/>
          </a:solidFill>
          <a:ln w="12700">
            <a:solidFill>
              <a:srgbClr val="00BE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5F1E"/>
                </a:solidFill>
              </a:rPr>
              <a:t>94.3%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 API = FI Excel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264 de 280 casos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051560"/>
          <a:ext cx="4389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nueva tabla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Excel orig.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1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S/7,500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S/7,500 – 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S/10K – 15K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S/15K – 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S/20K – 25K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S/25K – 30K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S/30K – 40K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S/40K – 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1.5–1.8x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S/60K – 200K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1.1–1.4x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2.4–3.0x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S/200K+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5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323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16 casos con FI diferente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0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Los tramos intermedios (S/30K–200K)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cambiaron significativamente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 la nueva tabla FI.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0" y="24231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Impacto: -2.1%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en precisión global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Las celdas en rojo indican tramos donde la nueva tabla FI difiere de la tabla original del Excel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07A30">
              <a:alpha val="40000"/>
            </a:srgbClr>
          </a:solidFill>
          <a:ln w="12700">
            <a:solidFill>
              <a:srgbClr val="007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04A18">
              <a:alpha val="40000"/>
            </a:srgbClr>
          </a:solidFill>
          <a:ln w="12700">
            <a:solidFill>
              <a:srgbClr val="004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 y recomendaciones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F1E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149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 API calcula correctamente el 65.7%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7101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184 de 280 casos con diferencia ≤ 2%. Mediana de diferencia es exactamente 0.00%.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F1E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 causa principal: NVE con tope VM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391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El Excel usa max(VPA×FI, Venta Manifestada). Agregar Venta Manifestada como input mejoraría la cobertura.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F1E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511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GF siempre debe declararlo el ejecutivo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072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Usar cuota_sf de la BD baja la precisión a 13.9%. El GF real es S/ 3,478 mayor en promedio.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F1E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192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Cuota SF de la BD es correcta (100%)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753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cuota_sf = cuota_total_rrll + cuota_total_empresa exactamente en los 439 registros.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E50"/>
          </a:solidFill>
          <a:ln w="12700">
            <a:solidFill>
              <a:srgbClr val="00B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F1E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087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 nueva tabla difiere en 16 casos (5.7%)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E8C0"/>
                </a:solidFill>
              </a:rPr>
              <a:t>Tramos S/30K–200K cambiaron. Revisar si la tabla original debe usarse para esos rangos.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Precisión API CEM — Interbank NBC Empresas</dc:title>
  <dc:subject>PptxGenJS Presentation</dc:subject>
  <dc:creator>PptxGenJS</dc:creator>
  <cp:lastModifiedBy>PptxGenJS</cp:lastModifiedBy>
  <cp:revision>1</cp:revision>
  <dcterms:created xsi:type="dcterms:W3CDTF">2026-06-11T13:11:56Z</dcterms:created>
  <dcterms:modified xsi:type="dcterms:W3CDTF">2026-06-11T13:11:56Z</dcterms:modified>
</cp:coreProperties>
</file>