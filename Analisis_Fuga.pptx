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57</c:v>
                </c:pt>
                <c:pt idx="1">
                  <c:v>56</c:v>
                </c:pt>
                <c:pt idx="2">
                  <c:v>57</c:v>
                </c:pt>
                <c:pt idx="3">
                  <c:v>71</c:v>
                </c:pt>
                <c:pt idx="4">
                  <c:v>84</c:v>
                </c:pt>
                <c:pt idx="5">
                  <c:v>101</c:v>
                </c:pt>
                <c:pt idx="6">
                  <c:v>99</c:v>
                </c:pt>
                <c:pt idx="7">
                  <c:v>146</c:v>
                </c:pt>
                <c:pt idx="8">
                  <c:v>141</c:v>
                </c:pt>
                <c:pt idx="9">
                  <c:v>121</c:v>
                </c:pt>
                <c:pt idx="10">
                  <c:v>127</c:v>
                </c:pt>
                <c:pt idx="11">
                  <c:v>146</c:v>
                </c:pt>
                <c:pt idx="12">
                  <c:v>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 fugado (S/ MM)</c:v>
                </c:pt>
              </c:strCache>
            </c:strRef>
          </c:tx>
          <c:spPr>
            <a:solidFill>
              <a:srgbClr val="00BE50">
                <a:alpha val="4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4.22</c:v>
                </c:pt>
                <c:pt idx="1">
                  <c:v>4.18</c:v>
                </c:pt>
                <c:pt idx="2">
                  <c:v>4.29</c:v>
                </c:pt>
                <c:pt idx="3">
                  <c:v>5.78</c:v>
                </c:pt>
                <c:pt idx="4">
                  <c:v>6.83</c:v>
                </c:pt>
                <c:pt idx="5">
                  <c:v>9.51</c:v>
                </c:pt>
                <c:pt idx="6">
                  <c:v>7.8</c:v>
                </c:pt>
                <c:pt idx="7">
                  <c:v>12.85</c:v>
                </c:pt>
                <c:pt idx="8">
                  <c:v>12.47</c:v>
                </c:pt>
                <c:pt idx="9">
                  <c:v>11.53</c:v>
                </c:pt>
                <c:pt idx="10">
                  <c:v>11.07</c:v>
                </c:pt>
                <c:pt idx="11">
                  <c:v>11.89</c:v>
                </c:pt>
                <c:pt idx="12">
                  <c:v>14.42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592"/>
              </a:solidFill>
              <a:effectLst/>
            </c:spPr>
          </c:dPt>
          <c:dPt>
            <c:idx val="1"/>
            <c:bubble3D val="0"/>
            <c:spPr>
              <a:solidFill>
                <a:srgbClr val="00BE50"/>
              </a:solidFill>
              <a:effectLst/>
            </c:spPr>
          </c:dPt>
          <c:dPt>
            <c:idx val="2"/>
            <c:bubble3D val="0"/>
            <c:spPr>
              <a:solidFill>
                <a:srgbClr val="005F1E"/>
              </a:solidFill>
              <a:effectLst/>
            </c:spPr>
          </c:dPt>
          <c:dPt>
            <c:idx val="3"/>
            <c:bubble3D val="0"/>
            <c:spPr>
              <a:solidFill>
                <a:srgbClr val="5B8DEF"/>
              </a:solidFill>
              <a:effectLst/>
            </c:spPr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TLV</c:v>
                </c:pt>
                <c:pt idx="1">
                  <c:v>TIENDAS</c:v>
                </c:pt>
                <c:pt idx="2">
                  <c:v>VENDORS</c:v>
                </c:pt>
                <c:pt idx="3">
                  <c:v>TIENDAS VIRTUALES</c:v>
                </c:pt>
                <c:pt idx="4">
                  <c:v>ECOSISTEMAS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612</c:v>
                </c:pt>
                <c:pt idx="1">
                  <c:v>553</c:v>
                </c:pt>
                <c:pt idx="2">
                  <c:v>101</c:v>
                </c:pt>
                <c:pt idx="3">
                  <c:v>52</c:v>
                </c:pt>
                <c:pt idx="4">
                  <c:v>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Antigüedad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ECOSISTEMAS</c:v>
                  </c:pt>
                  <c:pt idx="1">
                    <c:v>TIENDAS</c:v>
                  </c:pt>
                  <c:pt idx="2">
                    <c:v>TIENDAS VIRTUALES</c:v>
                  </c:pt>
                  <c:pt idx="3">
                    <c:v>TLV</c:v>
                  </c:pt>
                  <c:pt idx="4">
                    <c:v>VENDORS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8.9</c:v>
                </c:pt>
                <c:pt idx="2">
                  <c:v>2.2</c:v>
                </c:pt>
                <c:pt idx="3">
                  <c:v>8.5</c:v>
                </c:pt>
                <c:pt idx="4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≤25k</c:v>
                  </c:pt>
                  <c:pt idx="1">
                    <c:v>25-50k</c:v>
                  </c:pt>
                  <c:pt idx="2">
                    <c:v>50-100k</c:v>
                  </c:pt>
                  <c:pt idx="3">
                    <c:v>100-200k</c:v>
                  </c:pt>
                  <c:pt idx="4">
                    <c:v>200-500k</c:v>
                  </c:pt>
                  <c:pt idx="5">
                    <c:v>&gt;500k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113</c:v>
                </c:pt>
                <c:pt idx="2">
                  <c:v>531</c:v>
                </c:pt>
                <c:pt idx="3">
                  <c:v>434</c:v>
                </c:pt>
                <c:pt idx="4">
                  <c:v>206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Créditos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&lt;14%</c:v>
                  </c:pt>
                  <c:pt idx="1">
                    <c:v>14-16%</c:v>
                  </c:pt>
                  <c:pt idx="2">
                    <c:v>16-18%</c:v>
                  </c:pt>
                  <c:pt idx="3">
                    <c:v>18-20%</c:v>
                  </c:pt>
                  <c:pt idx="4">
                    <c:v>20-25%</c:v>
                  </c:pt>
                  <c:pt idx="5">
                    <c:v>≥25%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384</c:v>
                </c:pt>
                <c:pt idx="2">
                  <c:v>345</c:v>
                </c:pt>
                <c:pt idx="3">
                  <c:v>291</c:v>
                </c:pt>
                <c:pt idx="4">
                  <c:v>208</c:v>
                </c:pt>
                <c:pt idx="5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Fugados</c:v>
                  </c:pt>
                  <c:pt idx="1">
                    <c:v>En funnel</c:v>
                  </c:pt>
                  <c:pt idx="2">
                    <c:v>Carterizados</c:v>
                  </c:pt>
                  <c:pt idx="3">
                    <c:v>Gestionados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1357</c:v>
                </c:pt>
                <c:pt idx="1">
                  <c:v>979</c:v>
                </c:pt>
                <c:pt idx="2">
                  <c:v>736</c:v>
                </c:pt>
                <c:pt idx="3">
                  <c:v>423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0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E50"/>
              </a:solidFill>
              <a:effectLst/>
            </c:spPr>
          </c:dPt>
          <c:dPt>
            <c:idx val="1"/>
            <c:bubble3D val="0"/>
            <c:spPr>
              <a:solidFill>
                <a:srgbClr val="C4314B"/>
              </a:solidFill>
              <a:effectLst/>
            </c:spPr>
          </c:dPt>
          <c:dPt>
            <c:idx val="2"/>
            <c:bubble3D val="0"/>
            <c:spPr>
              <a:solidFill>
                <a:srgbClr val="9AA3B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Poppi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 funnel · gestionado</c:v>
                </c:pt>
                <c:pt idx="1">
                  <c:v>En funnel · no gestionado</c:v>
                </c:pt>
                <c:pt idx="2">
                  <c:v>Fuera de funnel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423</c:v>
                </c:pt>
                <c:pt idx="1">
                  <c:v>556</c:v>
                </c:pt>
                <c:pt idx="2">
                  <c:v>378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</c:v>
                </c:pt>
                <c:pt idx="1">
                  <c:v>24</c:v>
                </c:pt>
                <c:pt idx="2">
                  <c:v>24</c:v>
                </c:pt>
                <c:pt idx="3">
                  <c:v>29</c:v>
                </c:pt>
                <c:pt idx="4">
                  <c:v>35</c:v>
                </c:pt>
                <c:pt idx="5">
                  <c:v>45</c:v>
                </c:pt>
                <c:pt idx="6">
                  <c:v>36</c:v>
                </c:pt>
                <c:pt idx="7">
                  <c:v>54</c:v>
                </c:pt>
                <c:pt idx="8">
                  <c:v>54</c:v>
                </c:pt>
                <c:pt idx="9">
                  <c:v>38</c:v>
                </c:pt>
                <c:pt idx="10">
                  <c:v>46</c:v>
                </c:pt>
                <c:pt idx="11">
                  <c:v>68</c:v>
                </c:pt>
                <c:pt idx="1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33</c:v>
                </c:pt>
                <c:pt idx="4">
                  <c:v>37</c:v>
                </c:pt>
                <c:pt idx="5">
                  <c:v>45</c:v>
                </c:pt>
                <c:pt idx="6">
                  <c:v>54</c:v>
                </c:pt>
                <c:pt idx="7">
                  <c:v>66</c:v>
                </c:pt>
                <c:pt idx="8">
                  <c:v>67</c:v>
                </c:pt>
                <c:pt idx="9">
                  <c:v>59</c:v>
                </c:pt>
                <c:pt idx="10">
                  <c:v>62</c:v>
                </c:pt>
                <c:pt idx="11">
                  <c:v>57</c:v>
                </c:pt>
                <c:pt idx="12">
                  <c:v>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6</c:v>
                </c:pt>
                <c:pt idx="8">
                  <c:v>7</c:v>
                </c:pt>
                <c:pt idx="9">
                  <c:v>6</c:v>
                </c:pt>
                <c:pt idx="10">
                  <c:v>9</c:v>
                </c:pt>
                <c:pt idx="11">
                  <c:v>10</c:v>
                </c:pt>
                <c:pt idx="12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6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5</c:v>
                </c:pt>
                <c:pt idx="6">
                  <c:v>4</c:v>
                </c:pt>
                <c:pt idx="7">
                  <c:v>12</c:v>
                </c:pt>
                <c:pt idx="8">
                  <c:v>10</c:v>
                </c:pt>
                <c:pt idx="9">
                  <c:v>18</c:v>
                </c:pt>
                <c:pt idx="10">
                  <c:v>10</c:v>
                </c:pt>
                <c:pt idx="11">
                  <c:v>11</c:v>
                </c:pt>
                <c:pt idx="12">
                  <c:v>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funnel · gestionado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12</c:v>
                </c:pt>
                <c:pt idx="2">
                  <c:v>8</c:v>
                </c:pt>
                <c:pt idx="3">
                  <c:v>10</c:v>
                </c:pt>
                <c:pt idx="4">
                  <c:v>18</c:v>
                </c:pt>
                <c:pt idx="5">
                  <c:v>28</c:v>
                </c:pt>
                <c:pt idx="6">
                  <c:v>28</c:v>
                </c:pt>
                <c:pt idx="7">
                  <c:v>44</c:v>
                </c:pt>
                <c:pt idx="8">
                  <c:v>52</c:v>
                </c:pt>
                <c:pt idx="9">
                  <c:v>45</c:v>
                </c:pt>
                <c:pt idx="10">
                  <c:v>48</c:v>
                </c:pt>
                <c:pt idx="11">
                  <c:v>65</c:v>
                </c:pt>
                <c:pt idx="12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funnel · no gestionado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19</c:v>
                </c:pt>
                <c:pt idx="1">
                  <c:v>15</c:v>
                </c:pt>
                <c:pt idx="2">
                  <c:v>15</c:v>
                </c:pt>
                <c:pt idx="3">
                  <c:v>33</c:v>
                </c:pt>
                <c:pt idx="4">
                  <c:v>32</c:v>
                </c:pt>
                <c:pt idx="5">
                  <c:v>37</c:v>
                </c:pt>
                <c:pt idx="6">
                  <c:v>44</c:v>
                </c:pt>
                <c:pt idx="7">
                  <c:v>57</c:v>
                </c:pt>
                <c:pt idx="8">
                  <c:v>57</c:v>
                </c:pt>
                <c:pt idx="9">
                  <c:v>58</c:v>
                </c:pt>
                <c:pt idx="10">
                  <c:v>64</c:v>
                </c:pt>
                <c:pt idx="11">
                  <c:v>53</c:v>
                </c:pt>
                <c:pt idx="12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Fuera de funnel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26</c:v>
                </c:pt>
                <c:pt idx="1">
                  <c:v>29</c:v>
                </c:pt>
                <c:pt idx="2">
                  <c:v>34</c:v>
                </c:pt>
                <c:pt idx="3">
                  <c:v>28</c:v>
                </c:pt>
                <c:pt idx="4">
                  <c:v>34</c:v>
                </c:pt>
                <c:pt idx="5">
                  <c:v>36</c:v>
                </c:pt>
                <c:pt idx="6">
                  <c:v>27</c:v>
                </c:pt>
                <c:pt idx="7">
                  <c:v>45</c:v>
                </c:pt>
                <c:pt idx="8">
                  <c:v>32</c:v>
                </c:pt>
                <c:pt idx="9">
                  <c:v>18</c:v>
                </c:pt>
                <c:pt idx="10">
                  <c:v>15</c:v>
                </c:pt>
                <c:pt idx="11">
                  <c:v>28</c:v>
                </c:pt>
                <c:pt idx="1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2.79</c:v>
                </c:pt>
                <c:pt idx="1">
                  <c:v>2.06</c:v>
                </c:pt>
                <c:pt idx="2">
                  <c:v>1.09</c:v>
                </c:pt>
                <c:pt idx="3">
                  <c:v>2.34</c:v>
                </c:pt>
                <c:pt idx="4">
                  <c:v>3.04</c:v>
                </c:pt>
                <c:pt idx="5">
                  <c:v>4.74</c:v>
                </c:pt>
                <c:pt idx="6">
                  <c:v>3.39</c:v>
                </c:pt>
                <c:pt idx="7">
                  <c:v>6.97</c:v>
                </c:pt>
                <c:pt idx="8">
                  <c:v>5.37</c:v>
                </c:pt>
                <c:pt idx="9">
                  <c:v>6.44</c:v>
                </c:pt>
                <c:pt idx="10">
                  <c:v>6.61</c:v>
                </c:pt>
                <c:pt idx="11">
                  <c:v>9.01</c:v>
                </c:pt>
                <c:pt idx="12">
                  <c:v>10.73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0.53</c:v>
                </c:pt>
                <c:pt idx="3">
                  <c:v>1.36</c:v>
                </c:pt>
                <c:pt idx="4">
                  <c:v>1.47</c:v>
                </c:pt>
                <c:pt idx="5">
                  <c:v>1.86</c:v>
                </c:pt>
                <c:pt idx="6">
                  <c:v>2.21</c:v>
                </c:pt>
                <c:pt idx="7">
                  <c:v>2.28</c:v>
                </c:pt>
                <c:pt idx="8">
                  <c:v>4.36</c:v>
                </c:pt>
                <c:pt idx="9">
                  <c:v>3.43</c:v>
                </c:pt>
                <c:pt idx="10">
                  <c:v>3.03</c:v>
                </c:pt>
                <c:pt idx="11">
                  <c:v>0.63</c:v>
                </c:pt>
                <c:pt idx="12">
                  <c:v>1.16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Televentas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0.05</c:v>
                </c:pt>
                <c:pt idx="1">
                  <c:v>0.26</c:v>
                </c:pt>
                <c:pt idx="2">
                  <c:v>0.11</c:v>
                </c:pt>
                <c:pt idx="3">
                  <c:v>0.12</c:v>
                </c:pt>
                <c:pt idx="4">
                  <c:v>0.32</c:v>
                </c:pt>
                <c:pt idx="5">
                  <c:v>0.28</c:v>
                </c:pt>
                <c:pt idx="6">
                  <c:v>0.3</c:v>
                </c:pt>
                <c:pt idx="7">
                  <c:v>0.13</c:v>
                </c:pt>
                <c:pt idx="8">
                  <c:v>0.38</c:v>
                </c:pt>
                <c:pt idx="9">
                  <c:v>0.53</c:v>
                </c:pt>
                <c:pt idx="10">
                  <c:v>0.38</c:v>
                </c:pt>
                <c:pt idx="11">
                  <c:v>0.51</c:v>
                </c:pt>
                <c:pt idx="12">
                  <c:v>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Fuera de funnel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1.37</c:v>
                </c:pt>
                <c:pt idx="1">
                  <c:v>1.87</c:v>
                </c:pt>
                <c:pt idx="2">
                  <c:v>2.56</c:v>
                </c:pt>
                <c:pt idx="3">
                  <c:v>1.97</c:v>
                </c:pt>
                <c:pt idx="4">
                  <c:v>2</c:v>
                </c:pt>
                <c:pt idx="5">
                  <c:v>2.63</c:v>
                </c:pt>
                <c:pt idx="6">
                  <c:v>1.9</c:v>
                </c:pt>
                <c:pt idx="7">
                  <c:v>3.47</c:v>
                </c:pt>
                <c:pt idx="8">
                  <c:v>2.36</c:v>
                </c:pt>
                <c:pt idx="9">
                  <c:v>1.14</c:v>
                </c:pt>
                <c:pt idx="10">
                  <c:v>1.05</c:v>
                </c:pt>
                <c:pt idx="11">
                  <c:v>1.73</c:v>
                </c:pt>
                <c:pt idx="12">
                  <c:v>2.03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4.31</c:v>
                </c:pt>
                <c:pt idx="5">
                  <c:v>6.6</c:v>
                </c:pt>
                <c:pt idx="6">
                  <c:v>5.33</c:v>
                </c:pt>
                <c:pt idx="7">
                  <c:v>8.58</c:v>
                </c:pt>
                <c:pt idx="8">
                  <c:v>9.45</c:v>
                </c:pt>
                <c:pt idx="9">
                  <c:v>8.69</c:v>
                </c:pt>
                <c:pt idx="10">
                  <c:v>9.43</c:v>
                </c:pt>
                <c:pt idx="11">
                  <c:v>8.4</c:v>
                </c:pt>
                <c:pt idx="12">
                  <c:v>10.84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carterizado</c:v>
                </c:pt>
              </c:strCache>
            </c:strRef>
          </c:tx>
          <c:spPr>
            <a:solidFill>
              <a:srgbClr val="C431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4.22</c:v>
                </c:pt>
                <c:pt idx="1">
                  <c:v>4.18</c:v>
                </c:pt>
                <c:pt idx="2">
                  <c:v>4.29</c:v>
                </c:pt>
                <c:pt idx="3">
                  <c:v>5.78</c:v>
                </c:pt>
                <c:pt idx="4">
                  <c:v>2.52</c:v>
                </c:pt>
                <c:pt idx="5">
                  <c:v>2.91</c:v>
                </c:pt>
                <c:pt idx="6">
                  <c:v>2.47</c:v>
                </c:pt>
                <c:pt idx="7">
                  <c:v>4.27</c:v>
                </c:pt>
                <c:pt idx="8">
                  <c:v>3.02</c:v>
                </c:pt>
                <c:pt idx="9">
                  <c:v>2.84</c:v>
                </c:pt>
                <c:pt idx="10">
                  <c:v>1.64</c:v>
                </c:pt>
                <c:pt idx="11">
                  <c:v>3.49</c:v>
                </c:pt>
                <c:pt idx="12">
                  <c:v>3.57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TIENDAS</c:v>
                </c:pt>
              </c:strCache>
            </c:strRef>
          </c:tx>
          <c:spPr>
            <a:solidFill>
              <a:srgbClr val="1F4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4.65</c:v>
                </c:pt>
                <c:pt idx="1">
                  <c:v>3.12</c:v>
                </c:pt>
                <c:pt idx="2">
                  <c:v>2.85</c:v>
                </c:pt>
                <c:pt idx="3">
                  <c:v>4.51</c:v>
                </c:pt>
                <c:pt idx="4">
                  <c:v>5.41</c:v>
                </c:pt>
                <c:pt idx="5">
                  <c:v>7.42</c:v>
                </c:pt>
                <c:pt idx="6">
                  <c:v>4.38</c:v>
                </c:pt>
                <c:pt idx="7">
                  <c:v>9.13</c:v>
                </c:pt>
                <c:pt idx="8">
                  <c:v>8.11</c:v>
                </c:pt>
                <c:pt idx="9">
                  <c:v>5.24</c:v>
                </c:pt>
                <c:pt idx="10">
                  <c:v>6.76</c:v>
                </c:pt>
                <c:pt idx="11">
                  <c:v>10.15</c:v>
                </c:pt>
                <c:pt idx="12">
                  <c:v>11.57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TLV</c:v>
                </c:pt>
              </c:strCache>
            </c:strRef>
          </c:tx>
          <c:spPr>
            <a:solidFill>
              <a:srgbClr val="00B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0.85</c:v>
                </c:pt>
                <c:pt idx="1">
                  <c:v>1.4</c:v>
                </c:pt>
                <c:pt idx="2">
                  <c:v>2.21</c:v>
                </c:pt>
                <c:pt idx="3">
                  <c:v>2.4</c:v>
                </c:pt>
                <c:pt idx="4">
                  <c:v>3.29</c:v>
                </c:pt>
                <c:pt idx="5">
                  <c:v>4.27</c:v>
                </c:pt>
                <c:pt idx="6">
                  <c:v>5.21</c:v>
                </c:pt>
                <c:pt idx="7">
                  <c:v>5.33</c:v>
                </c:pt>
                <c:pt idx="8">
                  <c:v>6.86</c:v>
                </c:pt>
                <c:pt idx="9">
                  <c:v>5.84</c:v>
                </c:pt>
                <c:pt idx="10">
                  <c:v>5.75</c:v>
                </c:pt>
                <c:pt idx="11">
                  <c:v>5.61</c:v>
                </c:pt>
                <c:pt idx="12">
                  <c:v>6.66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TIENDAS VIRTUALES</c:v>
                </c:pt>
              </c:strCache>
            </c:strRef>
          </c:tx>
          <c:spPr>
            <a:solidFill>
              <a:srgbClr val="005F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0.58</c:v>
                </c:pt>
                <c:pt idx="5">
                  <c:v>0.34</c:v>
                </c:pt>
                <c:pt idx="6">
                  <c:v>0.22</c:v>
                </c:pt>
                <c:pt idx="7">
                  <c:v>1.06</c:v>
                </c:pt>
                <c:pt idx="8">
                  <c:v>1.54</c:v>
                </c:pt>
                <c:pt idx="9">
                  <c:v>0.95</c:v>
                </c:pt>
                <c:pt idx="10">
                  <c:v>1.73</c:v>
                </c:pt>
                <c:pt idx="11">
                  <c:v>1.31</c:v>
                </c:pt>
                <c:pt idx="12">
                  <c:v>0.58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VENDORS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0.53</c:v>
                </c:pt>
                <c:pt idx="2">
                  <c:v>0.41</c:v>
                </c:pt>
                <c:pt idx="3">
                  <c:v>0.85</c:v>
                </c:pt>
                <c:pt idx="4">
                  <c:v>0.32</c:v>
                </c:pt>
                <c:pt idx="5">
                  <c:v>0.37</c:v>
                </c:pt>
                <c:pt idx="6">
                  <c:v>0.34</c:v>
                </c:pt>
                <c:pt idx="7">
                  <c:v>1.67</c:v>
                </c:pt>
                <c:pt idx="8">
                  <c:v>1.21</c:v>
                </c:pt>
                <c:pt idx="9">
                  <c:v>3.52</c:v>
                </c:pt>
                <c:pt idx="10">
                  <c:v>1.66</c:v>
                </c:pt>
                <c:pt idx="11">
                  <c:v>1.73</c:v>
                </c:pt>
                <c:pt idx="12">
                  <c:v>2.27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ECOSISTEMAS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02-25</c:v>
                  </c:pt>
                  <c:pt idx="1">
                    <c:v>03-25</c:v>
                  </c:pt>
                  <c:pt idx="2">
                    <c:v>04-25</c:v>
                  </c:pt>
                  <c:pt idx="3">
                    <c:v>05-25</c:v>
                  </c:pt>
                  <c:pt idx="4">
                    <c:v>06-25</c:v>
                  </c:pt>
                  <c:pt idx="5">
                    <c:v>07-25</c:v>
                  </c:pt>
                  <c:pt idx="6">
                    <c:v>08-25</c:v>
                  </c:pt>
                  <c:pt idx="7">
                    <c:v>09-25</c:v>
                  </c:pt>
                  <c:pt idx="8">
                    <c:v>10-25</c:v>
                  </c:pt>
                  <c:pt idx="9">
                    <c:v>11-25</c:v>
                  </c:pt>
                  <c:pt idx="10">
                    <c:v>12-25</c:v>
                  </c:pt>
                  <c:pt idx="11">
                    <c:v>01-26</c:v>
                  </c:pt>
                  <c:pt idx="12">
                    <c:v>02-26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37D92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6203A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05F1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00BE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NBC EMPRESAS · BANCA NEGOCIO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de Fuga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comprados por otra entidad financiera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Periodo de compra: feb-2025 a feb-2026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 créditos · S/ 116.8 MM de saldo fugado · Fuente: DATA_FUGA.xlsx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teníamos identificados; a la mayoría no los gestionamos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1,357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116.8 MM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02152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364224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estaba en el funnel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34856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26296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431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437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226296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carterizados sin gestión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6118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no es un problema de detección, es de ejecución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416052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de cada 10 créditos fugados estaban en el funnel comercial al momento de la compra, pero solo el 43% recibió gestión.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saldo se concentra en pocos créditos grandes: el 47% del volumen (S/100k–500k) explica ~70% del saldo perdido.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 (de 57 a 151 créditos/mes).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de la mitad del saldo fugado eran clientes carterizados — nuestros, con ejecutivo asignado.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HALLAZGOS PRIORIZADOS POR IMPACTO EN RETENCIÓN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lecturas que ordenan el plan de acción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gestionamos al 43% de los que estaban en el funnel; 437 carterizados se fugaron sin contacto.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85232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47% de los créditos (S/100k–500k) concentra ~70% del saldo fugado.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45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1901952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61704" y="19385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TENDENCIA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48472" y="25603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mensual se multiplicó por 2.6 en un año; tendencia sostenida.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Casi 1 de cada 5 se fugó con tasa ≥20%: sensibles a recompra por precio.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232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TIEMPO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relojes: Tiendas/TLV ~9 meses; Vendors/T. Virtuales ~2–5 meses.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630168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0184" y="3886200"/>
            <a:ext cx="566928" cy="566928"/>
          </a:xfrm>
          <a:prstGeom prst="ellipse">
            <a:avLst/>
          </a:prstGeom>
          <a:solidFill>
            <a:srgbClr val="1F4592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61704" y="39227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48472" y="45445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mayoría de fugados en funnel eran P1: el modelo ya los marcaba.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fuga crece mes a mes en volumen y en saldo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fugados por mes de compra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459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mes (S/ MM)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2286000"/>
          <a:ext cx="5257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1 · PERFIL DE LA COLOCACIÓN FUGADA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 de desembolso y antigüedad del crédito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Distribución por canal de desembolso (CANAL_FINAL)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40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459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Antigüedad promedio por canal (meses)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Meses entre el desembolso original y la compra por la competencia</a:t>
            </a:r>
            <a:endParaRPr lang="en-US" sz="9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2514600"/>
          <a:ext cx="5257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RANGOS DE MONTO Y TASA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valor se concentra en montos altos y tasas elevadas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monto desembolsado (S/)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459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rango de tasa de desembolso (%)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2286000"/>
          <a:ext cx="5257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2 · PERFIL EN EL FUNNEL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¿Hasta dónde llegamos antes de que se fugaran?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Embudo de oportunidad perdida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459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de los fugados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224028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COMPOSICIÓN POR PERIODO · BARRAS APILADAS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cambia la fuga mes a 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por canal de desembolso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40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459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de gestión en el funnel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224028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DE FUGA · CANAL DE GESTIÓN Y CARTERA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Dónde se pierde el saldo (SALDO_CANCELADO)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 por canal de gestión — ID_CANAL (S/ MM)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402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459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Saldo fugado: cartera vs no carterizado (S/ MM)</a:t>
            </a:r>
            <a:endParaRPr lang="en-US" sz="12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224028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DESEMBOLSADO POR CANAL Y PERIODO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colocado que terminó fugándose, por canal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680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desembolsado por canal de desembolso — CANAL_FINAL (S/ MM)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40280"/>
          <a:ext cx="7498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64592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7FAFC"/>
          </a:solidFill>
          <a:ln w="12700">
            <a:solidFill>
              <a:srgbClr val="E7EA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4108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F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Concentración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41080" y="2331720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83.3 MM</a:t>
            </a:r>
            <a:endParaRPr lang="en-US" sz="17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</a:t>
            </a:r>
            <a:endParaRPr lang="en-US" sz="17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55.7 MM</a:t>
            </a:r>
            <a:endParaRPr lang="en-US" sz="17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TLV</a:t>
            </a:r>
            <a:endParaRPr lang="en-US" sz="17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14.9 MM</a:t>
            </a:r>
            <a:endParaRPr lang="en-US" sz="17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</a:t>
            </a:r>
            <a:endParaRPr lang="en-US" sz="17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S/ 8.3 MM</a:t>
            </a:r>
            <a:endParaRPr lang="en-US" sz="1700" dirty="0"/>
          </a:p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Tiendas Virtuales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pPr indent="0" marL="0">
              <a:buNone/>
            </a:pPr>
            <a:r>
              <a:rPr lang="en-US" sz="900" dirty="0">
                <a:solidFill>
                  <a:srgbClr val="737D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·   Documento de trabajo interno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5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5F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HALLAZGOS A LA ACCIÓN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movimientos que atacan el 70% del saldo en riesgo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Activar gestión sobre lo identificado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7157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obligatorio y trazable sobre P1 carterizado en el funnel — es el 72% del universo y hoy la mayoría no se gestiona.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30168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5844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Priorizar por saldo, no por volumen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401421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Alertas tempranas en créditos de S/100k–500k y en la cola de tasa ≥20%, donde se concentra el valor perdido.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928616"/>
            <a:ext cx="640080" cy="64008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28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8828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Diferenciar por canal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00200" y="53126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Contacto temprano en Vendors y Tiendas Virtuales; seguimiento sostenido en Tiendas y TLV, que concentran el 84% del saldo.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Interbank · NBC Empresas — Advanced Analytics &amp; 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Fuga</dc:title>
  <dc:subject>PptxGenJS Presentation</dc:subject>
  <dc:creator>NBC Empresas</dc:creator>
  <cp:lastModifiedBy>NBC Empresas</cp:lastModifiedBy>
  <cp:revision>1</cp:revision>
  <dcterms:created xsi:type="dcterms:W3CDTF">2026-06-10T19:40:53Z</dcterms:created>
  <dcterms:modified xsi:type="dcterms:W3CDTF">2026-06-10T19:40:53Z</dcterms:modified>
</cp:coreProperties>
</file>